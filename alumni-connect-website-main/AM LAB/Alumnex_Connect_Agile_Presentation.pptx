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Welcome to our engineering project review for Alumnex Connect. Today, we will demonstrate how we transformed a complex software product into a visible, traceable, and continuously improvable Agile system using Jira.
Viva Q: Why did you choose Agile for this project?
Viva A: Because Alumnex Connect has multiple complex, interconnected modules, making incremental delivery and continuous feedback essential.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Alumnex Connect is not a simple website; it is an integrated ecosystem containing mentorship, career management, developer analytics, and AI. Building this requires managing multiple interconnected product capabilities simultaneously.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Traditional sequential development hides risks and integration issues until late. Because Alumnex Connect relies on external APIs, mobile integration, and AI, we chose Agile to ensure incremental delivery and adaptive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Agile is our delivery philosophy. We apply Scrum for governance, Kanban for flow, XP for quality, and Lean for waste reduction. We operationalize this using Jira as our execution layer, and Confluence as our knowledge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Q: What is the difference between an Epic and a Story?
Viva A: An Epic is a large product capability (like User Management). A Story is a specific, testable user value increment within that Epic (like Registration).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We organized the entire ecosystem into 10 manageable Epics. This ranges from Authentication to KAN-10, which specifically holds our Scrum and Project Governance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A Story describes user value. It is not complete just because code exists. It requires Acceptance Criteria, which form a contract between development and testing to ensure observable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Q: Why are these points "documented" rather than in a native Jira field?
Viva A: The current project uses a simple team-managed board which lacks custom field metadata for story points, so we maintained academic rigor by documenting the baseline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This is our execution workflow. Work moves from Idea, into active In Progress execution, through validation In Review, and finally to Done. The board makes this state instantly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Q: Does this mean you completed 38 items in Sprint 1?
Viva A: No. As clearly stated, this is a current management snapshot of the board’s state, because the current configuration does not track historical Sprints.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In Agile, bugs are not hidden failures; they are visible, traceable items within the backlog. Likewise, documenting dependencies exposes sequencing risk early so we do not start blocked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Q: What is the Definition of Done?
Viva A: The universal quality gate determining that work is fully complete, tested, and meets all project standards for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Q: Does the current board have actual Scrum Sprints?
Viva A: No. The KAN project is a simple team-managed board without native sprint history. Scrum is our documented operating model for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While Scrum manages planning, XP influences our engineering quality through testing pipelines, and Lean optimizes our system by reducing waste and tracking dependencies.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For academic transparency, we acknowledge our current limitations: we operate on a team-managed board without native Sprint history. In a future state, we would migrate to a Scrum-capable project configuration to execute native Sprints.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To conclude: Alumnex Connect is the Product. Jira is the Execution platform. Agile is our Delivery System. This project proves how theoretical Agile principles translate into traceable, professional project-management 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TITLE">
    <p:bg>
      <p:bgPr>
        <a:solidFill>
          <a:srgbClr val="172B4D"/>
        </a:solidFill>
      </p:bgPr>
    </p:bg>
    <p:spTree>
      <p:nvGrpSpPr>
        <p:cNvPr id="1" name=""/>
        <p:cNvGrpSpPr/>
        <p:nvPr/>
      </p:nvGrpSpPr>
      <p:grpSpPr>
        <a:xfrm>
          <a:off x="0" y="0"/>
          <a:ext cx="0" cy="0"/>
          <a:chOff x="0" y="0"/>
          <a:chExt cx="0" cy="0"/>
        </a:xfrm>
      </p:grpSpPr>
      <p:sp>
        <p:nvSpPr>
          <p:cNvPr id="2" name="Shape 0"/>
          <p:cNvSpPr/>
          <p:nvPr/>
        </p:nvSpPr>
        <p:spPr>
          <a:xfrm>
            <a:off x="0" y="4886325"/>
            <a:ext cx="9144000" cy="257175"/>
          </a:xfrm>
          <a:prstGeom prst="rect">
            <a:avLst/>
          </a:prstGeom>
          <a:solidFill>
            <a:srgbClr val="0052CC"/>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ASTER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72B4D"/>
          </a:solidFill>
          <a:ln/>
        </p:spPr>
      </p:sp>
      <p:sp>
        <p:nvSpPr>
          <p:cNvPr id="3" name="Text 1"/>
          <p:cNvSpPr/>
          <p:nvPr/>
        </p:nvSpPr>
        <p:spPr>
          <a:xfrm>
            <a:off x="457200" y="182880"/>
            <a:ext cx="457200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ALUMNEX CONNECT | Agile Project Execution</a:t>
            </a:r>
            <a:endParaRPr lang="en-US" sz="1200" dirty="0"/>
          </a:p>
        </p:txBody>
      </p:sp>
      <p:sp>
        <p:nvSpPr>
          <p:cNvPr id="4" name="Text 2"/>
          <p:cNvSpPr/>
          <p:nvPr/>
        </p:nvSpPr>
        <p:spPr>
          <a:xfrm>
            <a:off x="7315200" y="182880"/>
            <a:ext cx="1371600" cy="365760"/>
          </a:xfrm>
          <a:prstGeom prst="rect">
            <a:avLst/>
          </a:prstGeom>
          <a:noFill/>
          <a:ln/>
        </p:spPr>
        <p:txBody>
          <a:bodyPr wrap="square" rtlCol="0" anchor="ctr"/>
          <a:lstStyle/>
          <a:p>
            <a:pPr algn="r" indent="0" marL="0">
              <a:buNone/>
            </a:pPr>
            <a:r>
              <a:rPr lang="en-US" sz="1200" b="1" dirty="0">
                <a:solidFill>
                  <a:srgbClr val="00B8D9"/>
                </a:solidFill>
                <a:latin typeface="Arial" pitchFamily="34" charset="0"/>
                <a:ea typeface="Arial" pitchFamily="34" charset="-122"/>
                <a:cs typeface="Arial" pitchFamily="34" charset="-120"/>
              </a:rPr>
              <a:t>Project KAN</a:t>
            </a:r>
            <a:endParaRPr lang="en-US" sz="1200" dirty="0"/>
          </a:p>
        </p:txBody>
      </p:sp>
      <p:sp>
        <p:nvSpPr>
          <p:cNvPr id="5" name="Shape 3"/>
          <p:cNvSpPr/>
          <p:nvPr/>
        </p:nvSpPr>
        <p:spPr>
          <a:xfrm>
            <a:off x="457200" y="1463040"/>
            <a:ext cx="731520" cy="45720"/>
          </a:xfrm>
          <a:prstGeom prst="rect">
            <a:avLst/>
          </a:prstGeom>
          <a:solidFill>
            <a:srgbClr val="0052CC"/>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1828800"/>
            <a:ext cx="7315200" cy="457200"/>
          </a:xfrm>
          <a:prstGeom prst="rect">
            <a:avLst/>
          </a:prstGeom>
          <a:noFill/>
          <a:ln/>
        </p:spPr>
        <p:txBody>
          <a:bodyPr wrap="square" rtlCol="0" anchor="ctr"/>
          <a:lstStyle/>
          <a:p>
            <a:pPr indent="0" marL="0">
              <a:buNone/>
            </a:pPr>
            <a:r>
              <a:rPr lang="en-US" sz="1800" b="1" dirty="0">
                <a:solidFill>
                  <a:srgbClr val="00B8D9"/>
                </a:solidFill>
              </a:rPr>
              <a:t>Academic Project Review</a:t>
            </a:r>
            <a:endParaRPr lang="en-US" sz="1800" dirty="0"/>
          </a:p>
        </p:txBody>
      </p:sp>
      <p:sp>
        <p:nvSpPr>
          <p:cNvPr id="3" name="Text 1"/>
          <p:cNvSpPr/>
          <p:nvPr/>
        </p:nvSpPr>
        <p:spPr>
          <a:xfrm>
            <a:off x="914400" y="2286000"/>
            <a:ext cx="7315200" cy="914400"/>
          </a:xfrm>
          <a:prstGeom prst="rect">
            <a:avLst/>
          </a:prstGeom>
          <a:noFill/>
          <a:ln/>
        </p:spPr>
        <p:txBody>
          <a:bodyPr wrap="square" rtlCol="0" anchor="ctr"/>
          <a:lstStyle/>
          <a:p>
            <a:pPr indent="0" marL="0">
              <a:buNone/>
            </a:pPr>
            <a:r>
              <a:rPr lang="en-US" sz="5400" b="1" dirty="0">
                <a:solidFill>
                  <a:srgbClr val="FFFFFF"/>
                </a:solidFill>
              </a:rPr>
              <a:t>ALUMNEX CONNECT</a:t>
            </a:r>
            <a:endParaRPr lang="en-US" sz="5400" dirty="0"/>
          </a:p>
        </p:txBody>
      </p:sp>
      <p:sp>
        <p:nvSpPr>
          <p:cNvPr id="4" name="Shape 2"/>
          <p:cNvSpPr/>
          <p:nvPr/>
        </p:nvSpPr>
        <p:spPr>
          <a:xfrm>
            <a:off x="914400" y="3291840"/>
            <a:ext cx="1371600" cy="45720"/>
          </a:xfrm>
          <a:prstGeom prst="rect">
            <a:avLst/>
          </a:prstGeom>
          <a:solidFill>
            <a:srgbClr val="0052CC"/>
          </a:solidFill>
          <a:ln/>
        </p:spPr>
      </p:sp>
      <p:sp>
        <p:nvSpPr>
          <p:cNvPr id="5" name="Text 3"/>
          <p:cNvSpPr/>
          <p:nvPr/>
        </p:nvSpPr>
        <p:spPr>
          <a:xfrm>
            <a:off x="914400" y="3474720"/>
            <a:ext cx="7315200" cy="914400"/>
          </a:xfrm>
          <a:prstGeom prst="rect">
            <a:avLst/>
          </a:prstGeom>
          <a:noFill/>
          <a:ln/>
        </p:spPr>
        <p:txBody>
          <a:bodyPr wrap="square" rtlCol="0" anchor="ctr"/>
          <a:lstStyle/>
          <a:p>
            <a:pPr indent="0" marL="0">
              <a:buNone/>
            </a:pPr>
            <a:r>
              <a:rPr lang="en-US" sz="2800" dirty="0">
                <a:solidFill>
                  <a:srgbClr val="DEEBFF"/>
                </a:solidFill>
              </a:rPr>
              <a:t>Agile Project Management &amp;</a:t>
            </a:r>
            <a:endParaRPr lang="en-US" sz="2800" dirty="0"/>
          </a:p>
          <a:p>
            <a:pPr indent="0" marL="0">
              <a:buNone/>
            </a:pPr>
            <a:r>
              <a:rPr lang="en-US" sz="2800" dirty="0">
                <a:solidFill>
                  <a:srgbClr val="DEEBFF"/>
                </a:solidFill>
              </a:rPr>
              <a:t>Jira-Based Software Development</a:t>
            </a:r>
            <a:endParaRPr lang="en-US" sz="2800" dirty="0"/>
          </a:p>
        </p:txBody>
      </p:sp>
      <p:sp>
        <p:nvSpPr>
          <p:cNvPr id="6" name="Text 4"/>
          <p:cNvSpPr/>
          <p:nvPr/>
        </p:nvSpPr>
        <p:spPr>
          <a:xfrm>
            <a:off x="914400" y="5029200"/>
            <a:ext cx="3657600" cy="914400"/>
          </a:xfrm>
          <a:prstGeom prst="rect">
            <a:avLst/>
          </a:prstGeom>
          <a:noFill/>
          <a:ln/>
        </p:spPr>
        <p:txBody>
          <a:bodyPr wrap="square" rtlCol="0" anchor="ctr"/>
          <a:lstStyle/>
          <a:p>
            <a:pPr indent="0" marL="0">
              <a:buNone/>
            </a:pPr>
            <a:r>
              <a:rPr lang="en-US" sz="1600" dirty="0">
                <a:solidFill>
                  <a:srgbClr val="FFFFFF"/>
                </a:solidFill>
              </a:rPr>
              <a:t>Project: KAN</a:t>
            </a:r>
            <a:endParaRPr lang="en-US" sz="1600" dirty="0"/>
          </a:p>
          <a:p>
            <a:pPr indent="0" marL="0">
              <a:buNone/>
            </a:pPr>
            <a:r>
              <a:rPr lang="en-US" sz="1600" dirty="0">
                <a:solidFill>
                  <a:srgbClr val="FFFFFF"/>
                </a:solidFill>
              </a:rPr>
              <a:t>Institution: [Placeholder]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914400"/>
            <a:ext cx="8229600" cy="548640"/>
          </a:xfrm>
          <a:prstGeom prst="rect">
            <a:avLst/>
          </a:prstGeom>
          <a:noFill/>
          <a:ln/>
        </p:spPr>
        <p:txBody>
          <a:bodyPr wrap="square" rtlCol="0" anchor="ctr"/>
          <a:lstStyle/>
          <a:p>
            <a:pPr indent="0" marL="0">
              <a:buNone/>
            </a:pPr>
            <a:r>
              <a:rPr lang="en-US" sz="3200" b="1" dirty="0">
                <a:solidFill>
                  <a:srgbClr val="172B4D"/>
                </a:solidFill>
                <a:latin typeface="Arial" pitchFamily="34" charset="0"/>
                <a:ea typeface="Arial" pitchFamily="34" charset="-122"/>
                <a:cs typeface="Arial" pitchFamily="34" charset="-120"/>
              </a:rPr>
              <a:t>What is Alumnex Connect?</a:t>
            </a:r>
            <a:endParaRPr lang="en-US" sz="3200" dirty="0"/>
          </a:p>
        </p:txBody>
      </p:sp>
      <p:sp>
        <p:nvSpPr>
          <p:cNvPr id="3" name="Shape 1"/>
          <p:cNvSpPr/>
          <p:nvPr/>
        </p:nvSpPr>
        <p:spPr>
          <a:xfrm>
            <a:off x="3657600" y="2286000"/>
            <a:ext cx="1828800" cy="1828800"/>
          </a:xfrm>
          <a:prstGeom prst="ellipse">
            <a:avLst/>
          </a:prstGeom>
          <a:solidFill>
            <a:srgbClr val="0052CC"/>
          </a:solidFill>
          <a:ln/>
        </p:spPr>
      </p:sp>
      <p:sp>
        <p:nvSpPr>
          <p:cNvPr id="4" name="Text 2"/>
          <p:cNvSpPr/>
          <p:nvPr/>
        </p:nvSpPr>
        <p:spPr>
          <a:xfrm>
            <a:off x="3657600" y="2286000"/>
            <a:ext cx="1828800" cy="1828800"/>
          </a:xfrm>
          <a:prstGeom prst="rect">
            <a:avLst/>
          </a:prstGeom>
          <a:noFill/>
          <a:ln/>
        </p:spPr>
        <p:txBody>
          <a:bodyPr wrap="square" rtlCol="0" anchor="ctr"/>
          <a:lstStyle/>
          <a:p>
            <a:pPr algn="ctr" indent="0" marL="0">
              <a:buNone/>
            </a:pPr>
            <a:r>
              <a:rPr lang="en-US" sz="1800" b="1" dirty="0">
                <a:solidFill>
                  <a:srgbClr val="FFFFFF"/>
                </a:solidFill>
              </a:rPr>
              <a:t>ALUMNEX</a:t>
            </a:r>
            <a:endParaRPr lang="en-US" sz="1800" dirty="0"/>
          </a:p>
          <a:p>
            <a:pPr algn="ctr" indent="0" marL="0">
              <a:buNone/>
            </a:pPr>
            <a:r>
              <a:rPr lang="en-US" sz="1800" b="1" dirty="0">
                <a:solidFill>
                  <a:srgbClr val="FFFFFF"/>
                </a:solidFill>
              </a:rPr>
              <a:t>CONNECT</a:t>
            </a:r>
            <a:endParaRPr lang="en-US" sz="1800" dirty="0"/>
          </a:p>
        </p:txBody>
      </p:sp>
      <p:sp>
        <p:nvSpPr>
          <p:cNvPr id="5" name="Shape 3"/>
          <p:cNvSpPr/>
          <p:nvPr/>
        </p:nvSpPr>
        <p:spPr>
          <a:xfrm>
            <a:off x="6400800" y="2286000"/>
            <a:ext cx="1828800" cy="731520"/>
          </a:xfrm>
          <a:prstGeom prst="rect">
            <a:avLst/>
          </a:prstGeom>
          <a:solidFill>
            <a:srgbClr val="F4F5F7"/>
          </a:solidFill>
          <a:ln w="25400">
            <a:solidFill>
              <a:srgbClr val="0052CC"/>
            </a:solidFill>
            <a:prstDash val="solid"/>
          </a:ln>
        </p:spPr>
      </p:sp>
      <p:sp>
        <p:nvSpPr>
          <p:cNvPr id="6" name="Text 4"/>
          <p:cNvSpPr/>
          <p:nvPr/>
        </p:nvSpPr>
        <p:spPr>
          <a:xfrm>
            <a:off x="6400800" y="2286000"/>
            <a:ext cx="1828800" cy="731520"/>
          </a:xfrm>
          <a:prstGeom prst="rect">
            <a:avLst/>
          </a:prstGeom>
          <a:noFill/>
          <a:ln/>
        </p:spPr>
        <p:txBody>
          <a:bodyPr wrap="square" rtlCol="0" anchor="ctr"/>
          <a:lstStyle/>
          <a:p>
            <a:pPr algn="ctr" indent="0" marL="0">
              <a:buNone/>
            </a:pPr>
            <a:r>
              <a:rPr lang="en-US" sz="1200" b="1" dirty="0">
                <a:solidFill>
                  <a:srgbClr val="172B4D"/>
                </a:solidFill>
              </a:rPr>
              <a:t>Mentorship</a:t>
            </a:r>
            <a:endParaRPr lang="en-US" sz="1200" dirty="0"/>
          </a:p>
        </p:txBody>
      </p:sp>
      <p:sp>
        <p:nvSpPr>
          <p:cNvPr id="7" name="Shape 5"/>
          <p:cNvSpPr/>
          <p:nvPr/>
        </p:nvSpPr>
        <p:spPr>
          <a:xfrm>
            <a:off x="5029200" y="3473840"/>
            <a:ext cx="1828800" cy="731520"/>
          </a:xfrm>
          <a:prstGeom prst="rect">
            <a:avLst/>
          </a:prstGeom>
          <a:solidFill>
            <a:srgbClr val="F4F5F7"/>
          </a:solidFill>
          <a:ln w="25400">
            <a:solidFill>
              <a:srgbClr val="0052CC"/>
            </a:solidFill>
            <a:prstDash val="solid"/>
          </a:ln>
        </p:spPr>
      </p:sp>
      <p:sp>
        <p:nvSpPr>
          <p:cNvPr id="8" name="Text 6"/>
          <p:cNvSpPr/>
          <p:nvPr/>
        </p:nvSpPr>
        <p:spPr>
          <a:xfrm>
            <a:off x="5029200" y="3473840"/>
            <a:ext cx="1828800" cy="731520"/>
          </a:xfrm>
          <a:prstGeom prst="rect">
            <a:avLst/>
          </a:prstGeom>
          <a:noFill/>
          <a:ln/>
        </p:spPr>
        <p:txBody>
          <a:bodyPr wrap="square" rtlCol="0" anchor="ctr"/>
          <a:lstStyle/>
          <a:p>
            <a:pPr algn="ctr" indent="0" marL="0">
              <a:buNone/>
            </a:pPr>
            <a:r>
              <a:rPr lang="en-US" sz="1200" b="1" dirty="0">
                <a:solidFill>
                  <a:srgbClr val="172B4D"/>
                </a:solidFill>
              </a:rPr>
              <a:t>Career &amp; Jobs</a:t>
            </a:r>
            <a:endParaRPr lang="en-US" sz="1200" dirty="0"/>
          </a:p>
        </p:txBody>
      </p:sp>
      <p:sp>
        <p:nvSpPr>
          <p:cNvPr id="9" name="Shape 7"/>
          <p:cNvSpPr/>
          <p:nvPr/>
        </p:nvSpPr>
        <p:spPr>
          <a:xfrm>
            <a:off x="2286000" y="3473840"/>
            <a:ext cx="1828800" cy="731520"/>
          </a:xfrm>
          <a:prstGeom prst="rect">
            <a:avLst/>
          </a:prstGeom>
          <a:solidFill>
            <a:srgbClr val="F4F5F7"/>
          </a:solidFill>
          <a:ln w="25400">
            <a:solidFill>
              <a:srgbClr val="0052CC"/>
            </a:solidFill>
            <a:prstDash val="solid"/>
          </a:ln>
        </p:spPr>
      </p:sp>
      <p:sp>
        <p:nvSpPr>
          <p:cNvPr id="10" name="Text 8"/>
          <p:cNvSpPr/>
          <p:nvPr/>
        </p:nvSpPr>
        <p:spPr>
          <a:xfrm>
            <a:off x="2286000" y="3473840"/>
            <a:ext cx="1828800" cy="731520"/>
          </a:xfrm>
          <a:prstGeom prst="rect">
            <a:avLst/>
          </a:prstGeom>
          <a:noFill/>
          <a:ln/>
        </p:spPr>
        <p:txBody>
          <a:bodyPr wrap="square" rtlCol="0" anchor="ctr"/>
          <a:lstStyle/>
          <a:p>
            <a:pPr algn="ctr" indent="0" marL="0">
              <a:buNone/>
            </a:pPr>
            <a:r>
              <a:rPr lang="en-US" sz="1200" b="1" dirty="0">
                <a:solidFill>
                  <a:srgbClr val="172B4D"/>
                </a:solidFill>
              </a:rPr>
              <a:t>DevPulse Analytics</a:t>
            </a:r>
            <a:endParaRPr lang="en-US" sz="1200" dirty="0"/>
          </a:p>
        </p:txBody>
      </p:sp>
      <p:sp>
        <p:nvSpPr>
          <p:cNvPr id="11" name="Shape 9"/>
          <p:cNvSpPr/>
          <p:nvPr/>
        </p:nvSpPr>
        <p:spPr>
          <a:xfrm>
            <a:off x="914400" y="2286000"/>
            <a:ext cx="1828800" cy="731520"/>
          </a:xfrm>
          <a:prstGeom prst="rect">
            <a:avLst/>
          </a:prstGeom>
          <a:solidFill>
            <a:srgbClr val="F4F5F7"/>
          </a:solidFill>
          <a:ln w="25400">
            <a:solidFill>
              <a:srgbClr val="0052CC"/>
            </a:solidFill>
            <a:prstDash val="solid"/>
          </a:ln>
        </p:spPr>
      </p:sp>
      <p:sp>
        <p:nvSpPr>
          <p:cNvPr id="12" name="Text 10"/>
          <p:cNvSpPr/>
          <p:nvPr/>
        </p:nvSpPr>
        <p:spPr>
          <a:xfrm>
            <a:off x="914400" y="2286000"/>
            <a:ext cx="1828800" cy="731520"/>
          </a:xfrm>
          <a:prstGeom prst="rect">
            <a:avLst/>
          </a:prstGeom>
          <a:noFill/>
          <a:ln/>
        </p:spPr>
        <p:txBody>
          <a:bodyPr wrap="square" rtlCol="0" anchor="ctr"/>
          <a:lstStyle/>
          <a:p>
            <a:pPr algn="ctr" indent="0" marL="0">
              <a:buNone/>
            </a:pPr>
            <a:r>
              <a:rPr lang="en-US" sz="1200" b="1" dirty="0">
                <a:solidFill>
                  <a:srgbClr val="172B4D"/>
                </a:solidFill>
              </a:rPr>
              <a:t>AI Assistant</a:t>
            </a:r>
            <a:endParaRPr lang="en-US" sz="1200" dirty="0"/>
          </a:p>
        </p:txBody>
      </p:sp>
      <p:sp>
        <p:nvSpPr>
          <p:cNvPr id="13" name="Shape 11"/>
          <p:cNvSpPr/>
          <p:nvPr/>
        </p:nvSpPr>
        <p:spPr>
          <a:xfrm>
            <a:off x="2286000" y="1098160"/>
            <a:ext cx="1828800" cy="731520"/>
          </a:xfrm>
          <a:prstGeom prst="rect">
            <a:avLst/>
          </a:prstGeom>
          <a:solidFill>
            <a:srgbClr val="F4F5F7"/>
          </a:solidFill>
          <a:ln w="25400">
            <a:solidFill>
              <a:srgbClr val="0052CC"/>
            </a:solidFill>
            <a:prstDash val="solid"/>
          </a:ln>
        </p:spPr>
      </p:sp>
      <p:sp>
        <p:nvSpPr>
          <p:cNvPr id="14" name="Text 12"/>
          <p:cNvSpPr/>
          <p:nvPr/>
        </p:nvSpPr>
        <p:spPr>
          <a:xfrm>
            <a:off x="2286000" y="1098160"/>
            <a:ext cx="1828800" cy="731520"/>
          </a:xfrm>
          <a:prstGeom prst="rect">
            <a:avLst/>
          </a:prstGeom>
          <a:noFill/>
          <a:ln/>
        </p:spPr>
        <p:txBody>
          <a:bodyPr wrap="square" rtlCol="0" anchor="ctr"/>
          <a:lstStyle/>
          <a:p>
            <a:pPr algn="ctr" indent="0" marL="0">
              <a:buNone/>
            </a:pPr>
            <a:r>
              <a:rPr lang="en-US" sz="1200" b="1" dirty="0">
                <a:solidFill>
                  <a:srgbClr val="172B4D"/>
                </a:solidFill>
              </a:rPr>
              <a:t>Communication</a:t>
            </a:r>
            <a:endParaRPr lang="en-US" sz="1200" dirty="0"/>
          </a:p>
        </p:txBody>
      </p:sp>
      <p:sp>
        <p:nvSpPr>
          <p:cNvPr id="15" name="Shape 13"/>
          <p:cNvSpPr/>
          <p:nvPr/>
        </p:nvSpPr>
        <p:spPr>
          <a:xfrm>
            <a:off x="5029200" y="1098160"/>
            <a:ext cx="1828800" cy="731520"/>
          </a:xfrm>
          <a:prstGeom prst="rect">
            <a:avLst/>
          </a:prstGeom>
          <a:solidFill>
            <a:srgbClr val="F4F5F7"/>
          </a:solidFill>
          <a:ln w="25400">
            <a:solidFill>
              <a:srgbClr val="0052CC"/>
            </a:solidFill>
            <a:prstDash val="solid"/>
          </a:ln>
        </p:spPr>
      </p:sp>
      <p:sp>
        <p:nvSpPr>
          <p:cNvPr id="16" name="Text 14"/>
          <p:cNvSpPr/>
          <p:nvPr/>
        </p:nvSpPr>
        <p:spPr>
          <a:xfrm>
            <a:off x="5029200" y="1098160"/>
            <a:ext cx="1828800" cy="731520"/>
          </a:xfrm>
          <a:prstGeom prst="rect">
            <a:avLst/>
          </a:prstGeom>
          <a:noFill/>
          <a:ln/>
        </p:spPr>
        <p:txBody>
          <a:bodyPr wrap="square" rtlCol="0" anchor="ctr"/>
          <a:lstStyle/>
          <a:p>
            <a:pPr algn="ctr" indent="0" marL="0">
              <a:buNone/>
            </a:pPr>
            <a:r>
              <a:rPr lang="en-US" sz="1200" b="1" dirty="0">
                <a:solidFill>
                  <a:srgbClr val="172B4D"/>
                </a:solidFill>
              </a:rPr>
              <a:t>Mobile App</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914400"/>
            <a:ext cx="8229600" cy="548640"/>
          </a:xfrm>
          <a:prstGeom prst="rect">
            <a:avLst/>
          </a:prstGeom>
          <a:noFill/>
          <a:ln/>
        </p:spPr>
        <p:txBody>
          <a:bodyPr wrap="square" rtlCol="0" anchor="ctr"/>
          <a:lstStyle/>
          <a:p>
            <a:pPr indent="0" marL="0">
              <a:buNone/>
            </a:pPr>
            <a:r>
              <a:rPr lang="en-US" sz="3200" b="1" dirty="0">
                <a:solidFill>
                  <a:srgbClr val="172B4D"/>
                </a:solidFill>
                <a:latin typeface="Arial" pitchFamily="34" charset="0"/>
                <a:ea typeface="Arial" pitchFamily="34" charset="-122"/>
                <a:cs typeface="Arial" pitchFamily="34" charset="-120"/>
              </a:rPr>
              <a:t>Why Agile for Alumnex Connect?</a:t>
            </a:r>
            <a:endParaRPr lang="en-US" sz="3200" dirty="0"/>
          </a:p>
        </p:txBody>
      </p:sp>
      <p:sp>
        <p:nvSpPr>
          <p:cNvPr id="3" name="Shape 1"/>
          <p:cNvSpPr/>
          <p:nvPr/>
        </p:nvSpPr>
        <p:spPr>
          <a:xfrm>
            <a:off x="457200" y="1828800"/>
            <a:ext cx="3840480" cy="2743200"/>
          </a:xfrm>
          <a:prstGeom prst="rect">
            <a:avLst/>
          </a:prstGeom>
          <a:solidFill>
            <a:srgbClr val="FFEBE6"/>
          </a:solidFill>
          <a:ln w="25400">
            <a:solidFill>
              <a:srgbClr val="FF5630"/>
            </a:solidFill>
            <a:prstDash val="solid"/>
          </a:ln>
        </p:spPr>
      </p:sp>
      <p:sp>
        <p:nvSpPr>
          <p:cNvPr id="4" name="Text 2"/>
          <p:cNvSpPr/>
          <p:nvPr/>
        </p:nvSpPr>
        <p:spPr>
          <a:xfrm>
            <a:off x="731520" y="2011680"/>
            <a:ext cx="3291840" cy="457200"/>
          </a:xfrm>
          <a:prstGeom prst="rect">
            <a:avLst/>
          </a:prstGeom>
          <a:noFill/>
          <a:ln/>
        </p:spPr>
        <p:txBody>
          <a:bodyPr wrap="square" rtlCol="0" anchor="ctr"/>
          <a:lstStyle/>
          <a:p>
            <a:pPr indent="0" marL="0">
              <a:buNone/>
            </a:pPr>
            <a:r>
              <a:rPr lang="en-US" sz="2000" b="1" dirty="0">
                <a:solidFill>
                  <a:srgbClr val="FF5630"/>
                </a:solidFill>
              </a:rPr>
              <a:t>Traditional Sequential</a:t>
            </a:r>
            <a:endParaRPr lang="en-US" sz="2000" dirty="0"/>
          </a:p>
        </p:txBody>
      </p:sp>
      <p:sp>
        <p:nvSpPr>
          <p:cNvPr id="5" name="Text 3"/>
          <p:cNvSpPr/>
          <p:nvPr/>
        </p:nvSpPr>
        <p:spPr>
          <a:xfrm>
            <a:off x="731520" y="2560320"/>
            <a:ext cx="3291840" cy="1828800"/>
          </a:xfrm>
          <a:prstGeom prst="rect">
            <a:avLst/>
          </a:prstGeom>
          <a:noFill/>
          <a:ln/>
        </p:spPr>
        <p:txBody>
          <a:bodyPr wrap="square" rtlCol="0" anchor="ctr"/>
          <a:lstStyle/>
          <a:p>
            <a:pPr marL="342900" indent="-342900">
              <a:buSzPct val="100000"/>
              <a:buChar char="•"/>
            </a:pPr>
            <a:r>
              <a:rPr lang="en-US" sz="1600" dirty="0">
                <a:solidFill>
                  <a:srgbClr val="172B4D"/>
                </a:solidFill>
              </a:rPr>
              <a:t>• Rigid upfront planning</a:t>
            </a:r>
            <a:endParaRPr lang="en-US" sz="1600" dirty="0"/>
          </a:p>
          <a:p>
            <a:pPr marL="342900" indent="-342900">
              <a:buSzPct val="100000"/>
              <a:buChar char="•"/>
            </a:pPr>
            <a:r>
              <a:rPr lang="en-US" sz="1600" dirty="0">
                <a:solidFill>
                  <a:srgbClr val="172B4D"/>
                </a:solidFill>
              </a:rPr>
              <a:t>• Late feedback loops</a:t>
            </a:r>
            <a:endParaRPr lang="en-US" sz="1600" dirty="0"/>
          </a:p>
          <a:p>
            <a:pPr marL="342900" indent="-342900">
              <a:buSzPct val="100000"/>
              <a:buChar char="•"/>
            </a:pPr>
            <a:r>
              <a:rPr lang="en-US" sz="1600" dirty="0">
                <a:solidFill>
                  <a:srgbClr val="172B4D"/>
                </a:solidFill>
              </a:rPr>
              <a:t>• Late defect discovery</a:t>
            </a:r>
            <a:endParaRPr lang="en-US" sz="1600" dirty="0"/>
          </a:p>
          <a:p>
            <a:pPr marL="342900" indent="-342900">
              <a:buSzPct val="100000"/>
              <a:buChar char="•"/>
            </a:pPr>
            <a:r>
              <a:rPr lang="en-US" sz="1600" dirty="0">
                <a:solidFill>
                  <a:srgbClr val="172B4D"/>
                </a:solidFill>
              </a:rPr>
              <a:t>• Hidden dependencies</a:t>
            </a:r>
            <a:endParaRPr lang="en-US" sz="1600" dirty="0"/>
          </a:p>
          <a:p>
            <a:pPr marL="342900" indent="-342900">
              <a:buSzPct val="100000"/>
              <a:buChar char="•"/>
            </a:pPr>
            <a:r>
              <a:rPr lang="en-US" sz="1600" dirty="0">
                <a:solidFill>
                  <a:srgbClr val="172B4D"/>
                </a:solidFill>
              </a:rPr>
              <a:t>• High release risk</a:t>
            </a:r>
            <a:endParaRPr lang="en-US" sz="1600" dirty="0"/>
          </a:p>
        </p:txBody>
      </p:sp>
      <p:sp>
        <p:nvSpPr>
          <p:cNvPr id="6" name="Shape 4"/>
          <p:cNvSpPr/>
          <p:nvPr/>
        </p:nvSpPr>
        <p:spPr>
          <a:xfrm>
            <a:off x="4846320" y="1828800"/>
            <a:ext cx="3840480" cy="2743200"/>
          </a:xfrm>
          <a:prstGeom prst="rect">
            <a:avLst/>
          </a:prstGeom>
          <a:solidFill>
            <a:srgbClr val="E3FCEF"/>
          </a:solidFill>
          <a:ln w="25400">
            <a:solidFill>
              <a:srgbClr val="36B37E"/>
            </a:solidFill>
            <a:prstDash val="solid"/>
          </a:ln>
        </p:spPr>
      </p:sp>
      <p:sp>
        <p:nvSpPr>
          <p:cNvPr id="7" name="Text 5"/>
          <p:cNvSpPr/>
          <p:nvPr/>
        </p:nvSpPr>
        <p:spPr>
          <a:xfrm>
            <a:off x="5120640" y="2011680"/>
            <a:ext cx="3291840" cy="457200"/>
          </a:xfrm>
          <a:prstGeom prst="rect">
            <a:avLst/>
          </a:prstGeom>
          <a:noFill/>
          <a:ln/>
        </p:spPr>
        <p:txBody>
          <a:bodyPr wrap="square" rtlCol="0" anchor="ctr"/>
          <a:lstStyle/>
          <a:p>
            <a:pPr indent="0" marL="0">
              <a:buNone/>
            </a:pPr>
            <a:r>
              <a:rPr lang="en-US" sz="2000" b="1" dirty="0">
                <a:solidFill>
                  <a:srgbClr val="36B37E"/>
                </a:solidFill>
              </a:rPr>
              <a:t>Agile Development</a:t>
            </a:r>
            <a:endParaRPr lang="en-US" sz="2000" dirty="0"/>
          </a:p>
        </p:txBody>
      </p:sp>
      <p:sp>
        <p:nvSpPr>
          <p:cNvPr id="8" name="Text 6"/>
          <p:cNvSpPr/>
          <p:nvPr/>
        </p:nvSpPr>
        <p:spPr>
          <a:xfrm>
            <a:off x="5120640" y="2560320"/>
            <a:ext cx="3291840" cy="1828800"/>
          </a:xfrm>
          <a:prstGeom prst="rect">
            <a:avLst/>
          </a:prstGeom>
          <a:noFill/>
          <a:ln/>
        </p:spPr>
        <p:txBody>
          <a:bodyPr wrap="square" rtlCol="0" anchor="ctr"/>
          <a:lstStyle/>
          <a:p>
            <a:pPr marL="342900" indent="-342900">
              <a:buSzPct val="100000"/>
              <a:buChar char="•"/>
            </a:pPr>
            <a:r>
              <a:rPr lang="en-US" sz="1600" dirty="0">
                <a:solidFill>
                  <a:srgbClr val="172B4D"/>
                </a:solidFill>
              </a:rPr>
              <a:t>• Incremental delivery</a:t>
            </a:r>
            <a:endParaRPr lang="en-US" sz="1600" dirty="0"/>
          </a:p>
          <a:p>
            <a:pPr marL="342900" indent="-342900">
              <a:buSzPct val="100000"/>
              <a:buChar char="•"/>
            </a:pPr>
            <a:r>
              <a:rPr lang="en-US" sz="1600" dirty="0">
                <a:solidFill>
                  <a:srgbClr val="172B4D"/>
                </a:solidFill>
              </a:rPr>
              <a:t>• Continuous early feedback</a:t>
            </a:r>
            <a:endParaRPr lang="en-US" sz="1600" dirty="0"/>
          </a:p>
          <a:p>
            <a:pPr marL="342900" indent="-342900">
              <a:buSzPct val="100000"/>
              <a:buChar char="•"/>
            </a:pPr>
            <a:r>
              <a:rPr lang="en-US" sz="1600" dirty="0">
                <a:solidFill>
                  <a:srgbClr val="172B4D"/>
                </a:solidFill>
              </a:rPr>
              <a:t>• Visible work states</a:t>
            </a:r>
            <a:endParaRPr lang="en-US" sz="1600" dirty="0"/>
          </a:p>
          <a:p>
            <a:pPr marL="342900" indent="-342900">
              <a:buSzPct val="100000"/>
              <a:buChar char="•"/>
            </a:pPr>
            <a:r>
              <a:rPr lang="en-US" sz="1600" dirty="0">
                <a:solidFill>
                  <a:srgbClr val="172B4D"/>
                </a:solidFill>
              </a:rPr>
              <a:t>• Early defect discovery</a:t>
            </a:r>
            <a:endParaRPr lang="en-US" sz="1600" dirty="0"/>
          </a:p>
          <a:p>
            <a:pPr marL="342900" indent="-342900">
              <a:buSzPct val="100000"/>
              <a:buChar char="•"/>
            </a:pPr>
            <a:r>
              <a:rPr lang="en-US" sz="1600" dirty="0">
                <a:solidFill>
                  <a:srgbClr val="172B4D"/>
                </a:solidFill>
              </a:rPr>
              <a:t>• Adaptive planning</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914400"/>
            <a:ext cx="8229600" cy="548640"/>
          </a:xfrm>
          <a:prstGeom prst="rect">
            <a:avLst/>
          </a:prstGeom>
          <a:noFill/>
          <a:ln/>
        </p:spPr>
        <p:txBody>
          <a:bodyPr wrap="square" rtlCol="0" anchor="ctr"/>
          <a:lstStyle/>
          <a:p>
            <a:pPr indent="0" marL="0">
              <a:buNone/>
            </a:pPr>
            <a:r>
              <a:rPr lang="en-US" sz="3200" b="1" dirty="0">
                <a:solidFill>
                  <a:srgbClr val="172B4D"/>
                </a:solidFill>
                <a:latin typeface="Arial" pitchFamily="34" charset="0"/>
                <a:ea typeface="Arial" pitchFamily="34" charset="-122"/>
                <a:cs typeface="Arial" pitchFamily="34" charset="-120"/>
              </a:rPr>
              <a:t>The Agile Delivery System</a:t>
            </a:r>
            <a:endParaRPr lang="en-US" sz="3200" dirty="0"/>
          </a:p>
        </p:txBody>
      </p:sp>
      <p:sp>
        <p:nvSpPr>
          <p:cNvPr id="3" name="Shape 1"/>
          <p:cNvSpPr/>
          <p:nvPr/>
        </p:nvSpPr>
        <p:spPr>
          <a:xfrm>
            <a:off x="2743200" y="1828800"/>
            <a:ext cx="3657600" cy="1371600"/>
          </a:xfrm>
          <a:prstGeom prst="rect">
            <a:avLst/>
          </a:prstGeom>
          <a:solidFill>
            <a:srgbClr val="172B4D"/>
          </a:solidFill>
          <a:ln/>
        </p:spPr>
      </p:sp>
      <p:sp>
        <p:nvSpPr>
          <p:cNvPr id="4" name="Text 2"/>
          <p:cNvSpPr/>
          <p:nvPr/>
        </p:nvSpPr>
        <p:spPr>
          <a:xfrm>
            <a:off x="2743200" y="1828800"/>
            <a:ext cx="3657600" cy="1371600"/>
          </a:xfrm>
          <a:prstGeom prst="rect">
            <a:avLst/>
          </a:prstGeom>
          <a:noFill/>
          <a:ln/>
        </p:spPr>
        <p:txBody>
          <a:bodyPr wrap="square" rtlCol="0" anchor="ctr"/>
          <a:lstStyle/>
          <a:p>
            <a:pPr algn="ctr" indent="0" marL="0">
              <a:buNone/>
            </a:pPr>
            <a:r>
              <a:rPr lang="en-US" sz="2000" b="1" dirty="0">
                <a:solidFill>
                  <a:srgbClr val="FFFFFF"/>
                </a:solidFill>
              </a:rPr>
              <a:t>ALUMNEX CONNECT</a:t>
            </a:r>
            <a:endParaRPr lang="en-US" sz="2000" dirty="0"/>
          </a:p>
          <a:p>
            <a:pPr algn="ctr" indent="0" marL="0">
              <a:buNone/>
            </a:pPr>
            <a:r>
              <a:rPr lang="en-US" sz="2000" b="1" dirty="0">
                <a:solidFill>
                  <a:srgbClr val="FFFFFF"/>
                </a:solidFill>
              </a:rPr>
              <a:t>Product Delivery</a:t>
            </a:r>
            <a:endParaRPr lang="en-US" sz="2000" dirty="0"/>
          </a:p>
        </p:txBody>
      </p:sp>
      <p:sp>
        <p:nvSpPr>
          <p:cNvPr id="5" name="Text 3"/>
          <p:cNvSpPr/>
          <p:nvPr/>
        </p:nvSpPr>
        <p:spPr>
          <a:xfrm>
            <a:off x="2743200" y="1188720"/>
            <a:ext cx="3657600" cy="457200"/>
          </a:xfrm>
          <a:prstGeom prst="rect">
            <a:avLst/>
          </a:prstGeom>
          <a:noFill/>
          <a:ln/>
        </p:spPr>
        <p:txBody>
          <a:bodyPr wrap="square" rtlCol="0" anchor="ctr"/>
          <a:lstStyle/>
          <a:p>
            <a:pPr algn="ctr" indent="0" marL="0">
              <a:buNone/>
            </a:pPr>
            <a:r>
              <a:rPr lang="en-US" sz="1600" b="1" dirty="0">
                <a:solidFill>
                  <a:srgbClr val="0052CC"/>
                </a:solidFill>
              </a:rPr>
              <a:t>SCRUM (Governance)</a:t>
            </a:r>
            <a:endParaRPr lang="en-US" sz="1600" dirty="0"/>
          </a:p>
        </p:txBody>
      </p:sp>
      <p:sp>
        <p:nvSpPr>
          <p:cNvPr id="6" name="Text 4"/>
          <p:cNvSpPr/>
          <p:nvPr/>
        </p:nvSpPr>
        <p:spPr>
          <a:xfrm>
            <a:off x="2743200" y="3383280"/>
            <a:ext cx="3657600" cy="457200"/>
          </a:xfrm>
          <a:prstGeom prst="rect">
            <a:avLst/>
          </a:prstGeom>
          <a:noFill/>
          <a:ln/>
        </p:spPr>
        <p:txBody>
          <a:bodyPr wrap="square" rtlCol="0" anchor="ctr"/>
          <a:lstStyle/>
          <a:p>
            <a:pPr algn="ctr" indent="0" marL="0">
              <a:buNone/>
            </a:pPr>
            <a:r>
              <a:rPr lang="en-US" sz="1600" b="1" dirty="0">
                <a:solidFill>
                  <a:srgbClr val="00B8D9"/>
                </a:solidFill>
              </a:rPr>
              <a:t>KANBAN (Flow)</a:t>
            </a:r>
            <a:endParaRPr lang="en-US" sz="1600" dirty="0"/>
          </a:p>
        </p:txBody>
      </p:sp>
      <p:sp>
        <p:nvSpPr>
          <p:cNvPr id="7" name="Text 5"/>
          <p:cNvSpPr/>
          <p:nvPr/>
        </p:nvSpPr>
        <p:spPr>
          <a:xfrm>
            <a:off x="457200" y="2286000"/>
            <a:ext cx="2103120" cy="457200"/>
          </a:xfrm>
          <a:prstGeom prst="rect">
            <a:avLst/>
          </a:prstGeom>
          <a:noFill/>
          <a:ln/>
        </p:spPr>
        <p:txBody>
          <a:bodyPr wrap="square" rtlCol="0" anchor="ctr"/>
          <a:lstStyle/>
          <a:p>
            <a:pPr algn="ctr" indent="0" marL="0">
              <a:buNone/>
            </a:pPr>
            <a:r>
              <a:rPr lang="en-US" sz="1600" b="1" dirty="0">
                <a:solidFill>
                  <a:srgbClr val="5243AA"/>
                </a:solidFill>
              </a:rPr>
              <a:t>XP (Quality)</a:t>
            </a:r>
            <a:endParaRPr lang="en-US" sz="1600" dirty="0"/>
          </a:p>
        </p:txBody>
      </p:sp>
      <p:sp>
        <p:nvSpPr>
          <p:cNvPr id="8" name="Text 6"/>
          <p:cNvSpPr/>
          <p:nvPr/>
        </p:nvSpPr>
        <p:spPr>
          <a:xfrm>
            <a:off x="6583680" y="2286000"/>
            <a:ext cx="2103120" cy="457200"/>
          </a:xfrm>
          <a:prstGeom prst="rect">
            <a:avLst/>
          </a:prstGeom>
          <a:noFill/>
          <a:ln/>
        </p:spPr>
        <p:txBody>
          <a:bodyPr wrap="square" rtlCol="0" anchor="ctr"/>
          <a:lstStyle/>
          <a:p>
            <a:pPr algn="ctr" indent="0" marL="0">
              <a:buNone/>
            </a:pPr>
            <a:r>
              <a:rPr lang="en-US" sz="1600" b="1" dirty="0">
                <a:solidFill>
                  <a:srgbClr val="FF8B00"/>
                </a:solidFill>
              </a:rPr>
              <a:t>LEAN (Improvement)</a:t>
            </a:r>
            <a:endParaRPr lang="en-US" sz="1600" dirty="0"/>
          </a:p>
        </p:txBody>
      </p:sp>
      <p:sp>
        <p:nvSpPr>
          <p:cNvPr id="9" name="Shape 7"/>
          <p:cNvSpPr/>
          <p:nvPr/>
        </p:nvSpPr>
        <p:spPr>
          <a:xfrm>
            <a:off x="1371600" y="4114800"/>
            <a:ext cx="2926080" cy="731520"/>
          </a:xfrm>
          <a:prstGeom prst="rect">
            <a:avLst/>
          </a:prstGeom>
          <a:solidFill>
            <a:srgbClr val="0052CC"/>
          </a:solidFill>
          <a:ln/>
        </p:spPr>
      </p:sp>
      <p:sp>
        <p:nvSpPr>
          <p:cNvPr id="10" name="Text 8"/>
          <p:cNvSpPr/>
          <p:nvPr/>
        </p:nvSpPr>
        <p:spPr>
          <a:xfrm>
            <a:off x="1371600" y="4114800"/>
            <a:ext cx="2926080" cy="731520"/>
          </a:xfrm>
          <a:prstGeom prst="rect">
            <a:avLst/>
          </a:prstGeom>
          <a:noFill/>
          <a:ln/>
        </p:spPr>
        <p:txBody>
          <a:bodyPr wrap="square" rtlCol="0" anchor="ctr"/>
          <a:lstStyle/>
          <a:p>
            <a:pPr algn="ctr" indent="0" marL="0">
              <a:buNone/>
            </a:pPr>
            <a:r>
              <a:rPr lang="en-US" b="1" dirty="0">
                <a:solidFill>
                  <a:srgbClr val="FFFFFF"/>
                </a:solidFill>
              </a:rPr>
              <a:t>JIRA = EXECUTION</a:t>
            </a:r>
            <a:endParaRPr lang="en-US" dirty="0"/>
          </a:p>
        </p:txBody>
      </p:sp>
      <p:sp>
        <p:nvSpPr>
          <p:cNvPr id="11" name="Shape 9"/>
          <p:cNvSpPr/>
          <p:nvPr/>
        </p:nvSpPr>
        <p:spPr>
          <a:xfrm>
            <a:off x="4846320" y="4114800"/>
            <a:ext cx="2926080" cy="731520"/>
          </a:xfrm>
          <a:prstGeom prst="rect">
            <a:avLst/>
          </a:prstGeom>
          <a:solidFill>
            <a:srgbClr val="5243AA"/>
          </a:solidFill>
          <a:ln/>
        </p:spPr>
      </p:sp>
      <p:sp>
        <p:nvSpPr>
          <p:cNvPr id="12" name="Text 10"/>
          <p:cNvSpPr/>
          <p:nvPr/>
        </p:nvSpPr>
        <p:spPr>
          <a:xfrm>
            <a:off x="4846320" y="4114800"/>
            <a:ext cx="2926080" cy="731520"/>
          </a:xfrm>
          <a:prstGeom prst="rect">
            <a:avLst/>
          </a:prstGeom>
          <a:noFill/>
          <a:ln/>
        </p:spPr>
        <p:txBody>
          <a:bodyPr wrap="square" rtlCol="0" anchor="ctr"/>
          <a:lstStyle/>
          <a:p>
            <a:pPr algn="ctr" indent="0" marL="0">
              <a:buNone/>
            </a:pPr>
            <a:r>
              <a:rPr lang="en-US" b="1" dirty="0">
                <a:solidFill>
                  <a:srgbClr val="FFFFFF"/>
                </a:solidFill>
              </a:rPr>
              <a:t>CONFLUENCE = KNOWLEDGE</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914400"/>
            <a:ext cx="8229600" cy="548640"/>
          </a:xfrm>
          <a:prstGeom prst="rect">
            <a:avLst/>
          </a:prstGeom>
          <a:noFill/>
          <a:ln/>
        </p:spPr>
        <p:txBody>
          <a:bodyPr wrap="square" rtlCol="0" anchor="ctr"/>
          <a:lstStyle/>
          <a:p>
            <a:pPr indent="0" marL="0">
              <a:buNone/>
            </a:pPr>
            <a:r>
              <a:rPr lang="en-US" sz="3200" b="1" dirty="0">
                <a:solidFill>
                  <a:srgbClr val="172B4D"/>
                </a:solidFill>
                <a:latin typeface="Arial" pitchFamily="34" charset="0"/>
                <a:ea typeface="Arial" pitchFamily="34" charset="-122"/>
                <a:cs typeface="Arial" pitchFamily="34" charset="-120"/>
              </a:rPr>
              <a:t>The Jira Data Model &amp; Hierarchy</a:t>
            </a:r>
            <a:endParaRPr lang="en-US" sz="3200" dirty="0"/>
          </a:p>
        </p:txBody>
      </p:sp>
      <p:sp>
        <p:nvSpPr>
          <p:cNvPr id="3" name="Shape 1"/>
          <p:cNvSpPr/>
          <p:nvPr/>
        </p:nvSpPr>
        <p:spPr>
          <a:xfrm>
            <a:off x="914400" y="1828800"/>
            <a:ext cx="2743200" cy="914400"/>
          </a:xfrm>
          <a:prstGeom prst="rect">
            <a:avLst/>
          </a:prstGeom>
          <a:solidFill>
            <a:srgbClr val="EAE6FF"/>
          </a:solidFill>
          <a:ln w="25400">
            <a:solidFill>
              <a:srgbClr val="5243AA"/>
            </a:solidFill>
            <a:prstDash val="solid"/>
          </a:ln>
        </p:spPr>
      </p:sp>
      <p:sp>
        <p:nvSpPr>
          <p:cNvPr id="4" name="Text 2"/>
          <p:cNvSpPr/>
          <p:nvPr/>
        </p:nvSpPr>
        <p:spPr>
          <a:xfrm>
            <a:off x="914400" y="1828800"/>
            <a:ext cx="2743200" cy="914400"/>
          </a:xfrm>
          <a:prstGeom prst="rect">
            <a:avLst/>
          </a:prstGeom>
          <a:noFill/>
          <a:ln/>
        </p:spPr>
        <p:txBody>
          <a:bodyPr wrap="square" rtlCol="0" anchor="ctr"/>
          <a:lstStyle/>
          <a:p>
            <a:pPr algn="ctr" indent="0" marL="0">
              <a:buNone/>
            </a:pPr>
            <a:r>
              <a:rPr lang="en-US" sz="1800" b="1" dirty="0">
                <a:solidFill>
                  <a:srgbClr val="5243AA"/>
                </a:solidFill>
              </a:rPr>
              <a:t>EPIC</a:t>
            </a:r>
            <a:endParaRPr lang="en-US" sz="1800" dirty="0"/>
          </a:p>
          <a:p>
            <a:pPr algn="ctr" indent="0" marL="0">
              <a:buNone/>
            </a:pPr>
            <a:r>
              <a:rPr lang="en-US" sz="1800" b="1" dirty="0">
                <a:solidFill>
                  <a:srgbClr val="5243AA"/>
                </a:solidFill>
              </a:rPr>
              <a:t>(Large Capability)</a:t>
            </a:r>
            <a:endParaRPr lang="en-US" sz="1800" dirty="0"/>
          </a:p>
        </p:txBody>
      </p:sp>
      <p:sp>
        <p:nvSpPr>
          <p:cNvPr id="5" name="Shape 3"/>
          <p:cNvSpPr/>
          <p:nvPr/>
        </p:nvSpPr>
        <p:spPr>
          <a:xfrm>
            <a:off x="2103120" y="2834640"/>
            <a:ext cx="365760" cy="365760"/>
          </a:xfrm>
          <a:prstGeom prst="downArrow">
            <a:avLst/>
          </a:prstGeom>
          <a:solidFill>
            <a:srgbClr val="F4F5F7"/>
          </a:solidFill>
          <a:ln/>
        </p:spPr>
      </p:sp>
      <p:sp>
        <p:nvSpPr>
          <p:cNvPr id="6" name="Shape 4"/>
          <p:cNvSpPr/>
          <p:nvPr/>
        </p:nvSpPr>
        <p:spPr>
          <a:xfrm>
            <a:off x="914400" y="3291840"/>
            <a:ext cx="2743200" cy="914400"/>
          </a:xfrm>
          <a:prstGeom prst="rect">
            <a:avLst/>
          </a:prstGeom>
          <a:solidFill>
            <a:srgbClr val="E3FCEF"/>
          </a:solidFill>
          <a:ln w="25400">
            <a:solidFill>
              <a:srgbClr val="00875A"/>
            </a:solidFill>
            <a:prstDash val="solid"/>
          </a:ln>
        </p:spPr>
      </p:sp>
      <p:sp>
        <p:nvSpPr>
          <p:cNvPr id="7" name="Text 5"/>
          <p:cNvSpPr/>
          <p:nvPr/>
        </p:nvSpPr>
        <p:spPr>
          <a:xfrm>
            <a:off x="914400" y="3291840"/>
            <a:ext cx="2743200" cy="914400"/>
          </a:xfrm>
          <a:prstGeom prst="rect">
            <a:avLst/>
          </a:prstGeom>
          <a:noFill/>
          <a:ln/>
        </p:spPr>
        <p:txBody>
          <a:bodyPr wrap="square" rtlCol="0" anchor="ctr"/>
          <a:lstStyle/>
          <a:p>
            <a:pPr algn="ctr" indent="0" marL="0">
              <a:buNone/>
            </a:pPr>
            <a:r>
              <a:rPr lang="en-US" sz="1800" b="1" dirty="0">
                <a:solidFill>
                  <a:srgbClr val="00875A"/>
                </a:solidFill>
              </a:rPr>
              <a:t>STORY</a:t>
            </a:r>
            <a:endParaRPr lang="en-US" sz="1800" dirty="0"/>
          </a:p>
          <a:p>
            <a:pPr algn="ctr" indent="0" marL="0">
              <a:buNone/>
            </a:pPr>
            <a:r>
              <a:rPr lang="en-US" sz="1800" b="1" dirty="0">
                <a:solidFill>
                  <a:srgbClr val="00875A"/>
                </a:solidFill>
              </a:rPr>
              <a:t>(User Value Increment)</a:t>
            </a:r>
            <a:endParaRPr lang="en-US" sz="1800" dirty="0"/>
          </a:p>
        </p:txBody>
      </p:sp>
      <p:sp>
        <p:nvSpPr>
          <p:cNvPr id="8" name="Shape 6"/>
          <p:cNvSpPr/>
          <p:nvPr/>
        </p:nvSpPr>
        <p:spPr>
          <a:xfrm>
            <a:off x="2103120" y="4297680"/>
            <a:ext cx="365760" cy="365760"/>
          </a:xfrm>
          <a:prstGeom prst="downArrow">
            <a:avLst/>
          </a:prstGeom>
          <a:solidFill>
            <a:srgbClr val="F4F5F7"/>
          </a:solidFill>
          <a:ln/>
        </p:spPr>
      </p:sp>
      <p:sp>
        <p:nvSpPr>
          <p:cNvPr id="9" name="Shape 7"/>
          <p:cNvSpPr/>
          <p:nvPr/>
        </p:nvSpPr>
        <p:spPr>
          <a:xfrm>
            <a:off x="914400" y="4754880"/>
            <a:ext cx="2743200" cy="914400"/>
          </a:xfrm>
          <a:prstGeom prst="rect">
            <a:avLst/>
          </a:prstGeom>
          <a:solidFill>
            <a:srgbClr val="DEEBFF"/>
          </a:solidFill>
          <a:ln w="25400">
            <a:solidFill>
              <a:srgbClr val="0052CC"/>
            </a:solidFill>
            <a:prstDash val="solid"/>
          </a:ln>
        </p:spPr>
      </p:sp>
      <p:sp>
        <p:nvSpPr>
          <p:cNvPr id="10" name="Text 8"/>
          <p:cNvSpPr/>
          <p:nvPr/>
        </p:nvSpPr>
        <p:spPr>
          <a:xfrm>
            <a:off x="914400" y="4754880"/>
            <a:ext cx="2743200" cy="914400"/>
          </a:xfrm>
          <a:prstGeom prst="rect">
            <a:avLst/>
          </a:prstGeom>
          <a:noFill/>
          <a:ln/>
        </p:spPr>
        <p:txBody>
          <a:bodyPr wrap="square" rtlCol="0" anchor="ctr"/>
          <a:lstStyle/>
          <a:p>
            <a:pPr algn="ctr" indent="0" marL="0">
              <a:buNone/>
            </a:pPr>
            <a:r>
              <a:rPr lang="en-US" sz="1800" b="1" dirty="0">
                <a:solidFill>
                  <a:srgbClr val="0052CC"/>
                </a:solidFill>
              </a:rPr>
              <a:t>SUBTASK</a:t>
            </a:r>
            <a:endParaRPr lang="en-US" sz="1800" dirty="0"/>
          </a:p>
          <a:p>
            <a:pPr algn="ctr" indent="0" marL="0">
              <a:buNone/>
            </a:pPr>
            <a:r>
              <a:rPr lang="en-US" sz="1800" b="1" dirty="0">
                <a:solidFill>
                  <a:srgbClr val="0052CC"/>
                </a:solidFill>
              </a:rPr>
              <a:t>(Implementation)</a:t>
            </a:r>
            <a:endParaRPr lang="en-US" sz="1800" dirty="0"/>
          </a:p>
        </p:txBody>
      </p:sp>
      <p:sp>
        <p:nvSpPr>
          <p:cNvPr id="11" name="Shape 9"/>
          <p:cNvSpPr/>
          <p:nvPr/>
        </p:nvSpPr>
        <p:spPr>
          <a:xfrm>
            <a:off x="5029200" y="1828800"/>
            <a:ext cx="2743200" cy="914400"/>
          </a:xfrm>
          <a:prstGeom prst="rect">
            <a:avLst/>
          </a:prstGeom>
          <a:solidFill>
            <a:srgbClr val="FFEBE6"/>
          </a:solidFill>
          <a:ln w="25400">
            <a:solidFill>
              <a:srgbClr val="FF5630"/>
            </a:solidFill>
            <a:prstDash val="solid"/>
          </a:ln>
        </p:spPr>
      </p:sp>
      <p:sp>
        <p:nvSpPr>
          <p:cNvPr id="12" name="Text 10"/>
          <p:cNvSpPr/>
          <p:nvPr/>
        </p:nvSpPr>
        <p:spPr>
          <a:xfrm>
            <a:off x="5029200" y="1828800"/>
            <a:ext cx="2743200" cy="914400"/>
          </a:xfrm>
          <a:prstGeom prst="rect">
            <a:avLst/>
          </a:prstGeom>
          <a:noFill/>
          <a:ln/>
        </p:spPr>
        <p:txBody>
          <a:bodyPr wrap="square" rtlCol="0" anchor="ctr"/>
          <a:lstStyle/>
          <a:p>
            <a:pPr algn="ctr" indent="0" marL="0">
              <a:buNone/>
            </a:pPr>
            <a:r>
              <a:rPr lang="en-US" sz="1800" b="1" dirty="0">
                <a:solidFill>
                  <a:srgbClr val="FF5630"/>
                </a:solidFill>
              </a:rPr>
              <a:t>BUG (Defect)</a:t>
            </a:r>
            <a:endParaRPr lang="en-US" sz="1800" dirty="0"/>
          </a:p>
        </p:txBody>
      </p:sp>
      <p:sp>
        <p:nvSpPr>
          <p:cNvPr id="13" name="Text 11"/>
          <p:cNvSpPr/>
          <p:nvPr/>
        </p:nvSpPr>
        <p:spPr>
          <a:xfrm>
            <a:off x="5943600" y="2011680"/>
            <a:ext cx="2743200" cy="457200"/>
          </a:xfrm>
          <a:prstGeom prst="rect">
            <a:avLst/>
          </a:prstGeom>
          <a:noFill/>
          <a:ln/>
        </p:spPr>
        <p:txBody>
          <a:bodyPr wrap="square" rtlCol="0" anchor="ctr"/>
          <a:lstStyle/>
          <a:p>
            <a:pPr indent="0" marL="0">
              <a:buNone/>
            </a:pPr>
            <a:r>
              <a:rPr lang="en-US" b="1" dirty="0">
                <a:solidFill>
                  <a:srgbClr val="172B4D"/>
                </a:solidFill>
              </a:rPr>
              <a:t>→ QUALITY TRACKING</a:t>
            </a:r>
            <a:endParaRPr lang="en-US" dirty="0"/>
          </a:p>
        </p:txBody>
      </p:sp>
      <p:sp>
        <p:nvSpPr>
          <p:cNvPr id="14" name="Shape 12"/>
          <p:cNvSpPr/>
          <p:nvPr/>
        </p:nvSpPr>
        <p:spPr>
          <a:xfrm>
            <a:off x="5029200" y="3291840"/>
            <a:ext cx="2743200" cy="914400"/>
          </a:xfrm>
          <a:prstGeom prst="rect">
            <a:avLst/>
          </a:prstGeom>
          <a:solidFill>
            <a:srgbClr val="E6FCFF"/>
          </a:solidFill>
          <a:ln w="25400">
            <a:solidFill>
              <a:srgbClr val="00B8D9"/>
            </a:solidFill>
            <a:prstDash val="solid"/>
          </a:ln>
        </p:spPr>
      </p:sp>
      <p:sp>
        <p:nvSpPr>
          <p:cNvPr id="15" name="Text 13"/>
          <p:cNvSpPr/>
          <p:nvPr/>
        </p:nvSpPr>
        <p:spPr>
          <a:xfrm>
            <a:off x="5029200" y="3291840"/>
            <a:ext cx="2743200" cy="914400"/>
          </a:xfrm>
          <a:prstGeom prst="rect">
            <a:avLst/>
          </a:prstGeom>
          <a:noFill/>
          <a:ln/>
        </p:spPr>
        <p:txBody>
          <a:bodyPr wrap="square" rtlCol="0" anchor="ctr"/>
          <a:lstStyle/>
          <a:p>
            <a:pPr algn="ctr" indent="0" marL="0">
              <a:buNone/>
            </a:pPr>
            <a:r>
              <a:rPr lang="en-US" sz="1800" b="1" dirty="0">
                <a:solidFill>
                  <a:srgbClr val="00B8D9"/>
                </a:solidFill>
              </a:rPr>
              <a:t>VERSION (Phase)</a:t>
            </a:r>
            <a:endParaRPr lang="en-US" sz="1800" dirty="0"/>
          </a:p>
        </p:txBody>
      </p:sp>
      <p:sp>
        <p:nvSpPr>
          <p:cNvPr id="16" name="Text 14"/>
          <p:cNvSpPr/>
          <p:nvPr/>
        </p:nvSpPr>
        <p:spPr>
          <a:xfrm>
            <a:off x="5943600" y="3474720"/>
            <a:ext cx="2743200" cy="457200"/>
          </a:xfrm>
          <a:prstGeom prst="rect">
            <a:avLst/>
          </a:prstGeom>
          <a:noFill/>
          <a:ln/>
        </p:spPr>
        <p:txBody>
          <a:bodyPr wrap="square" rtlCol="0" anchor="ctr"/>
          <a:lstStyle/>
          <a:p>
            <a:pPr indent="0" marL="0">
              <a:buNone/>
            </a:pPr>
            <a:r>
              <a:rPr lang="en-US" b="1" dirty="0">
                <a:solidFill>
                  <a:srgbClr val="172B4D"/>
                </a:solidFill>
              </a:rPr>
              <a:t>→ RELEASE TRACKING</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914400"/>
            <a:ext cx="8229600" cy="548640"/>
          </a:xfrm>
          <a:prstGeom prst="rect">
            <a:avLst/>
          </a:prstGeom>
          <a:noFill/>
          <a:ln/>
        </p:spPr>
        <p:txBody>
          <a:bodyPr wrap="square" rtlCol="0" anchor="ctr"/>
          <a:lstStyle/>
          <a:p>
            <a:pPr indent="0" marL="0">
              <a:buNone/>
            </a:pPr>
            <a:r>
              <a:rPr lang="en-US" sz="3200" b="1" dirty="0">
                <a:solidFill>
                  <a:srgbClr val="172B4D"/>
                </a:solidFill>
                <a:latin typeface="Arial" pitchFamily="34" charset="0"/>
                <a:ea typeface="Arial" pitchFamily="34" charset="-122"/>
                <a:cs typeface="Arial" pitchFamily="34" charset="-120"/>
              </a:rPr>
              <a:t>10 Epics = Product Structure</a:t>
            </a:r>
            <a:endParaRPr lang="en-US" sz="3200" dirty="0"/>
          </a:p>
        </p:txBody>
      </p:sp>
      <p:sp>
        <p:nvSpPr>
          <p:cNvPr id="3" name="Shape 1"/>
          <p:cNvSpPr/>
          <p:nvPr/>
        </p:nvSpPr>
        <p:spPr>
          <a:xfrm>
            <a:off x="457200" y="1828800"/>
            <a:ext cx="3931920" cy="457200"/>
          </a:xfrm>
          <a:prstGeom prst="rect">
            <a:avLst/>
          </a:prstGeom>
          <a:solidFill>
            <a:srgbClr val="F4F5F7"/>
          </a:solidFill>
          <a:ln/>
        </p:spPr>
      </p:sp>
      <p:sp>
        <p:nvSpPr>
          <p:cNvPr id="4" name="Text 2"/>
          <p:cNvSpPr/>
          <p:nvPr/>
        </p:nvSpPr>
        <p:spPr>
          <a:xfrm>
            <a:off x="457200" y="1828800"/>
            <a:ext cx="3931920" cy="457200"/>
          </a:xfrm>
          <a:prstGeom prst="rect">
            <a:avLst/>
          </a:prstGeom>
          <a:noFill/>
          <a:ln/>
        </p:spPr>
        <p:txBody>
          <a:bodyPr wrap="square" lIns="0" tIns="127000" rIns="0" bIns="0" rtlCol="0" anchor="ctr"/>
          <a:lstStyle/>
          <a:p>
            <a:pPr indent="0" marL="0">
              <a:buNone/>
            </a:pPr>
            <a:r>
              <a:rPr lang="en-US" sz="1400" b="1" dirty="0">
                <a:solidFill>
                  <a:srgbClr val="172B4D"/>
                </a:solidFill>
              </a:rPr>
              <a:t>KAN-1: Auth &amp; User Mgmt</a:t>
            </a:r>
            <a:endParaRPr lang="en-US" sz="1400" dirty="0"/>
          </a:p>
        </p:txBody>
      </p:sp>
      <p:sp>
        <p:nvSpPr>
          <p:cNvPr id="5" name="Shape 3"/>
          <p:cNvSpPr/>
          <p:nvPr/>
        </p:nvSpPr>
        <p:spPr>
          <a:xfrm>
            <a:off x="4754880" y="1828800"/>
            <a:ext cx="3931920" cy="457200"/>
          </a:xfrm>
          <a:prstGeom prst="rect">
            <a:avLst/>
          </a:prstGeom>
          <a:solidFill>
            <a:srgbClr val="F4F5F7"/>
          </a:solidFill>
          <a:ln/>
        </p:spPr>
      </p:sp>
      <p:sp>
        <p:nvSpPr>
          <p:cNvPr id="6" name="Text 4"/>
          <p:cNvSpPr/>
          <p:nvPr/>
        </p:nvSpPr>
        <p:spPr>
          <a:xfrm>
            <a:off x="4754880" y="1828800"/>
            <a:ext cx="3931920" cy="457200"/>
          </a:xfrm>
          <a:prstGeom prst="rect">
            <a:avLst/>
          </a:prstGeom>
          <a:noFill/>
          <a:ln/>
        </p:spPr>
        <p:txBody>
          <a:bodyPr wrap="square" lIns="0" tIns="127000" rIns="0" bIns="0" rtlCol="0" anchor="ctr"/>
          <a:lstStyle/>
          <a:p>
            <a:pPr indent="0" marL="0">
              <a:buNone/>
            </a:pPr>
            <a:r>
              <a:rPr lang="en-US" sz="1400" b="1" dirty="0">
                <a:solidFill>
                  <a:srgbClr val="172B4D"/>
                </a:solidFill>
              </a:rPr>
              <a:t>KAN-6: Real-Time Comms</a:t>
            </a:r>
            <a:endParaRPr lang="en-US" sz="1400" dirty="0"/>
          </a:p>
        </p:txBody>
      </p:sp>
      <p:sp>
        <p:nvSpPr>
          <p:cNvPr id="7" name="Shape 5"/>
          <p:cNvSpPr/>
          <p:nvPr/>
        </p:nvSpPr>
        <p:spPr>
          <a:xfrm>
            <a:off x="457200" y="2468880"/>
            <a:ext cx="3931920" cy="457200"/>
          </a:xfrm>
          <a:prstGeom prst="rect">
            <a:avLst/>
          </a:prstGeom>
          <a:solidFill>
            <a:srgbClr val="F4F5F7"/>
          </a:solidFill>
          <a:ln/>
        </p:spPr>
      </p:sp>
      <p:sp>
        <p:nvSpPr>
          <p:cNvPr id="8" name="Text 6"/>
          <p:cNvSpPr/>
          <p:nvPr/>
        </p:nvSpPr>
        <p:spPr>
          <a:xfrm>
            <a:off x="457200" y="2468880"/>
            <a:ext cx="3931920" cy="457200"/>
          </a:xfrm>
          <a:prstGeom prst="rect">
            <a:avLst/>
          </a:prstGeom>
          <a:noFill/>
          <a:ln/>
        </p:spPr>
        <p:txBody>
          <a:bodyPr wrap="square" lIns="0" tIns="127000" rIns="0" bIns="0" rtlCol="0" anchor="ctr"/>
          <a:lstStyle/>
          <a:p>
            <a:pPr indent="0" marL="0">
              <a:buNone/>
            </a:pPr>
            <a:r>
              <a:rPr lang="en-US" sz="1400" b="1" dirty="0">
                <a:solidFill>
                  <a:srgbClr val="172B4D"/>
                </a:solidFill>
              </a:rPr>
              <a:t>KAN-2: Alumni Mentorship</a:t>
            </a:r>
            <a:endParaRPr lang="en-US" sz="1400" dirty="0"/>
          </a:p>
        </p:txBody>
      </p:sp>
      <p:sp>
        <p:nvSpPr>
          <p:cNvPr id="9" name="Shape 7"/>
          <p:cNvSpPr/>
          <p:nvPr/>
        </p:nvSpPr>
        <p:spPr>
          <a:xfrm>
            <a:off x="4754880" y="2468880"/>
            <a:ext cx="3931920" cy="457200"/>
          </a:xfrm>
          <a:prstGeom prst="rect">
            <a:avLst/>
          </a:prstGeom>
          <a:solidFill>
            <a:srgbClr val="F4F5F7"/>
          </a:solidFill>
          <a:ln/>
        </p:spPr>
      </p:sp>
      <p:sp>
        <p:nvSpPr>
          <p:cNvPr id="10" name="Text 8"/>
          <p:cNvSpPr/>
          <p:nvPr/>
        </p:nvSpPr>
        <p:spPr>
          <a:xfrm>
            <a:off x="4754880" y="2468880"/>
            <a:ext cx="3931920" cy="457200"/>
          </a:xfrm>
          <a:prstGeom prst="rect">
            <a:avLst/>
          </a:prstGeom>
          <a:noFill/>
          <a:ln/>
        </p:spPr>
        <p:txBody>
          <a:bodyPr wrap="square" lIns="0" tIns="127000" rIns="0" bIns="0" rtlCol="0" anchor="ctr"/>
          <a:lstStyle/>
          <a:p>
            <a:pPr indent="0" marL="0">
              <a:buNone/>
            </a:pPr>
            <a:r>
              <a:rPr lang="en-US" sz="1400" b="1" dirty="0">
                <a:solidFill>
                  <a:srgbClr val="172B4D"/>
                </a:solidFill>
              </a:rPr>
              <a:t>KAN-7: Community &amp; Events</a:t>
            </a:r>
            <a:endParaRPr lang="en-US" sz="1400" dirty="0"/>
          </a:p>
        </p:txBody>
      </p:sp>
      <p:sp>
        <p:nvSpPr>
          <p:cNvPr id="11" name="Shape 9"/>
          <p:cNvSpPr/>
          <p:nvPr/>
        </p:nvSpPr>
        <p:spPr>
          <a:xfrm>
            <a:off x="457200" y="3108960"/>
            <a:ext cx="3931920" cy="457200"/>
          </a:xfrm>
          <a:prstGeom prst="rect">
            <a:avLst/>
          </a:prstGeom>
          <a:solidFill>
            <a:srgbClr val="F4F5F7"/>
          </a:solidFill>
          <a:ln/>
        </p:spPr>
      </p:sp>
      <p:sp>
        <p:nvSpPr>
          <p:cNvPr id="12" name="Text 10"/>
          <p:cNvSpPr/>
          <p:nvPr/>
        </p:nvSpPr>
        <p:spPr>
          <a:xfrm>
            <a:off x="457200" y="3108960"/>
            <a:ext cx="3931920" cy="457200"/>
          </a:xfrm>
          <a:prstGeom prst="rect">
            <a:avLst/>
          </a:prstGeom>
          <a:noFill/>
          <a:ln/>
        </p:spPr>
        <p:txBody>
          <a:bodyPr wrap="square" lIns="0" tIns="127000" rIns="0" bIns="0" rtlCol="0" anchor="ctr"/>
          <a:lstStyle/>
          <a:p>
            <a:pPr indent="0" marL="0">
              <a:buNone/>
            </a:pPr>
            <a:r>
              <a:rPr lang="en-US" sz="1400" b="1" dirty="0">
                <a:solidFill>
                  <a:srgbClr val="172B4D"/>
                </a:solidFill>
              </a:rPr>
              <a:t>KAN-3: DevPulse Analytics</a:t>
            </a:r>
            <a:endParaRPr lang="en-US" sz="1400" dirty="0"/>
          </a:p>
        </p:txBody>
      </p:sp>
      <p:sp>
        <p:nvSpPr>
          <p:cNvPr id="13" name="Shape 11"/>
          <p:cNvSpPr/>
          <p:nvPr/>
        </p:nvSpPr>
        <p:spPr>
          <a:xfrm>
            <a:off x="4754880" y="3108960"/>
            <a:ext cx="3931920" cy="457200"/>
          </a:xfrm>
          <a:prstGeom prst="rect">
            <a:avLst/>
          </a:prstGeom>
          <a:solidFill>
            <a:srgbClr val="F4F5F7"/>
          </a:solidFill>
          <a:ln/>
        </p:spPr>
      </p:sp>
      <p:sp>
        <p:nvSpPr>
          <p:cNvPr id="14" name="Text 12"/>
          <p:cNvSpPr/>
          <p:nvPr/>
        </p:nvSpPr>
        <p:spPr>
          <a:xfrm>
            <a:off x="4754880" y="3108960"/>
            <a:ext cx="3931920" cy="457200"/>
          </a:xfrm>
          <a:prstGeom prst="rect">
            <a:avLst/>
          </a:prstGeom>
          <a:noFill/>
          <a:ln/>
        </p:spPr>
        <p:txBody>
          <a:bodyPr wrap="square" lIns="0" tIns="127000" rIns="0" bIns="0" rtlCol="0" anchor="ctr"/>
          <a:lstStyle/>
          <a:p>
            <a:pPr indent="0" marL="0">
              <a:buNone/>
            </a:pPr>
            <a:r>
              <a:rPr lang="en-US" sz="1400" b="1" dirty="0">
                <a:solidFill>
                  <a:srgbClr val="172B4D"/>
                </a:solidFill>
              </a:rPr>
              <a:t>KAN-8: Mobile Application</a:t>
            </a:r>
            <a:endParaRPr lang="en-US" sz="1400" dirty="0"/>
          </a:p>
        </p:txBody>
      </p:sp>
      <p:sp>
        <p:nvSpPr>
          <p:cNvPr id="15" name="Shape 13"/>
          <p:cNvSpPr/>
          <p:nvPr/>
        </p:nvSpPr>
        <p:spPr>
          <a:xfrm>
            <a:off x="457200" y="3749040"/>
            <a:ext cx="3931920" cy="457200"/>
          </a:xfrm>
          <a:prstGeom prst="rect">
            <a:avLst/>
          </a:prstGeom>
          <a:solidFill>
            <a:srgbClr val="F4F5F7"/>
          </a:solidFill>
          <a:ln/>
        </p:spPr>
      </p:sp>
      <p:sp>
        <p:nvSpPr>
          <p:cNvPr id="16" name="Text 14"/>
          <p:cNvSpPr/>
          <p:nvPr/>
        </p:nvSpPr>
        <p:spPr>
          <a:xfrm>
            <a:off x="457200" y="3749040"/>
            <a:ext cx="3931920" cy="457200"/>
          </a:xfrm>
          <a:prstGeom prst="rect">
            <a:avLst/>
          </a:prstGeom>
          <a:noFill/>
          <a:ln/>
        </p:spPr>
        <p:txBody>
          <a:bodyPr wrap="square" lIns="0" tIns="127000" rIns="0" bIns="0" rtlCol="0" anchor="ctr"/>
          <a:lstStyle/>
          <a:p>
            <a:pPr indent="0" marL="0">
              <a:buNone/>
            </a:pPr>
            <a:r>
              <a:rPr lang="en-US" sz="1400" b="1" dirty="0">
                <a:solidFill>
                  <a:srgbClr val="172B4D"/>
                </a:solidFill>
              </a:rPr>
              <a:t>KAN-4: Career &amp; Job Mgmt</a:t>
            </a:r>
            <a:endParaRPr lang="en-US" sz="1400" dirty="0"/>
          </a:p>
        </p:txBody>
      </p:sp>
      <p:sp>
        <p:nvSpPr>
          <p:cNvPr id="17" name="Shape 15"/>
          <p:cNvSpPr/>
          <p:nvPr/>
        </p:nvSpPr>
        <p:spPr>
          <a:xfrm>
            <a:off x="4754880" y="3749040"/>
            <a:ext cx="3931920" cy="457200"/>
          </a:xfrm>
          <a:prstGeom prst="rect">
            <a:avLst/>
          </a:prstGeom>
          <a:solidFill>
            <a:srgbClr val="F4F5F7"/>
          </a:solidFill>
          <a:ln/>
        </p:spPr>
      </p:sp>
      <p:sp>
        <p:nvSpPr>
          <p:cNvPr id="18" name="Text 16"/>
          <p:cNvSpPr/>
          <p:nvPr/>
        </p:nvSpPr>
        <p:spPr>
          <a:xfrm>
            <a:off x="4754880" y="3749040"/>
            <a:ext cx="3931920" cy="457200"/>
          </a:xfrm>
          <a:prstGeom prst="rect">
            <a:avLst/>
          </a:prstGeom>
          <a:noFill/>
          <a:ln/>
        </p:spPr>
        <p:txBody>
          <a:bodyPr wrap="square" lIns="0" tIns="127000" rIns="0" bIns="0" rtlCol="0" anchor="ctr"/>
          <a:lstStyle/>
          <a:p>
            <a:pPr indent="0" marL="0">
              <a:buNone/>
            </a:pPr>
            <a:r>
              <a:rPr lang="en-US" sz="1400" b="1" dirty="0">
                <a:solidFill>
                  <a:srgbClr val="172B4D"/>
                </a:solidFill>
              </a:rPr>
              <a:t>KAN-9: Security &amp; DevOps</a:t>
            </a:r>
            <a:endParaRPr lang="en-US" sz="1400" dirty="0"/>
          </a:p>
        </p:txBody>
      </p:sp>
      <p:sp>
        <p:nvSpPr>
          <p:cNvPr id="19" name="Shape 17"/>
          <p:cNvSpPr/>
          <p:nvPr/>
        </p:nvSpPr>
        <p:spPr>
          <a:xfrm>
            <a:off x="457200" y="4389120"/>
            <a:ext cx="3931920" cy="457200"/>
          </a:xfrm>
          <a:prstGeom prst="rect">
            <a:avLst/>
          </a:prstGeom>
          <a:solidFill>
            <a:srgbClr val="F4F5F7"/>
          </a:solidFill>
          <a:ln/>
        </p:spPr>
      </p:sp>
      <p:sp>
        <p:nvSpPr>
          <p:cNvPr id="20" name="Text 18"/>
          <p:cNvSpPr/>
          <p:nvPr/>
        </p:nvSpPr>
        <p:spPr>
          <a:xfrm>
            <a:off x="457200" y="4389120"/>
            <a:ext cx="3931920" cy="457200"/>
          </a:xfrm>
          <a:prstGeom prst="rect">
            <a:avLst/>
          </a:prstGeom>
          <a:noFill/>
          <a:ln/>
        </p:spPr>
        <p:txBody>
          <a:bodyPr wrap="square" lIns="0" tIns="127000" rIns="0" bIns="0" rtlCol="0" anchor="ctr"/>
          <a:lstStyle/>
          <a:p>
            <a:pPr indent="0" marL="0">
              <a:buNone/>
            </a:pPr>
            <a:r>
              <a:rPr lang="en-US" sz="1400" b="1" dirty="0">
                <a:solidFill>
                  <a:srgbClr val="172B4D"/>
                </a:solidFill>
              </a:rPr>
              <a:t>KAN-5: AI Career Assistant</a:t>
            </a:r>
            <a:endParaRPr lang="en-US" sz="1400" dirty="0"/>
          </a:p>
        </p:txBody>
      </p:sp>
      <p:sp>
        <p:nvSpPr>
          <p:cNvPr id="21" name="Shape 19"/>
          <p:cNvSpPr/>
          <p:nvPr/>
        </p:nvSpPr>
        <p:spPr>
          <a:xfrm>
            <a:off x="4754880" y="4389120"/>
            <a:ext cx="3931920" cy="457200"/>
          </a:xfrm>
          <a:prstGeom prst="rect">
            <a:avLst/>
          </a:prstGeom>
          <a:solidFill>
            <a:srgbClr val="DEEBFF"/>
          </a:solidFill>
          <a:ln/>
        </p:spPr>
      </p:sp>
      <p:sp>
        <p:nvSpPr>
          <p:cNvPr id="22" name="Text 20"/>
          <p:cNvSpPr/>
          <p:nvPr/>
        </p:nvSpPr>
        <p:spPr>
          <a:xfrm>
            <a:off x="4754880" y="4389120"/>
            <a:ext cx="3931920" cy="457200"/>
          </a:xfrm>
          <a:prstGeom prst="rect">
            <a:avLst/>
          </a:prstGeom>
          <a:noFill/>
          <a:ln/>
        </p:spPr>
        <p:txBody>
          <a:bodyPr wrap="square" lIns="0" tIns="127000" rIns="0" bIns="0" rtlCol="0" anchor="ctr"/>
          <a:lstStyle/>
          <a:p>
            <a:pPr indent="0" marL="0">
              <a:buNone/>
            </a:pPr>
            <a:r>
              <a:rPr lang="en-US" sz="1400" b="1" dirty="0">
                <a:solidFill>
                  <a:srgbClr val="0052CC"/>
                </a:solidFill>
              </a:rPr>
              <a:t>KAN-10: Scrum Governance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914400"/>
            <a:ext cx="8229600" cy="548640"/>
          </a:xfrm>
          <a:prstGeom prst="rect">
            <a:avLst/>
          </a:prstGeom>
          <a:noFill/>
          <a:ln/>
        </p:spPr>
        <p:txBody>
          <a:bodyPr wrap="square" rtlCol="0" anchor="ctr"/>
          <a:lstStyle/>
          <a:p>
            <a:pPr indent="0" marL="0">
              <a:buNone/>
            </a:pPr>
            <a:r>
              <a:rPr lang="en-US" sz="3200" b="1" dirty="0">
                <a:solidFill>
                  <a:srgbClr val="172B4D"/>
                </a:solidFill>
                <a:latin typeface="Arial" pitchFamily="34" charset="0"/>
                <a:ea typeface="Arial" pitchFamily="34" charset="-122"/>
                <a:cs typeface="Arial" pitchFamily="34" charset="-120"/>
              </a:rPr>
              <a:t>From Epic to User Story &amp; Acceptance Criteria</a:t>
            </a:r>
            <a:endParaRPr lang="en-US" sz="3200" dirty="0"/>
          </a:p>
        </p:txBody>
      </p:sp>
      <p:sp>
        <p:nvSpPr>
          <p:cNvPr id="3" name="Shape 1"/>
          <p:cNvSpPr/>
          <p:nvPr/>
        </p:nvSpPr>
        <p:spPr>
          <a:xfrm>
            <a:off x="457200" y="1828800"/>
            <a:ext cx="8229600" cy="1371600"/>
          </a:xfrm>
          <a:prstGeom prst="rect">
            <a:avLst/>
          </a:prstGeom>
          <a:solidFill>
            <a:srgbClr val="E3FCEF"/>
          </a:solidFill>
          <a:ln w="25400">
            <a:solidFill>
              <a:srgbClr val="36B37E"/>
            </a:solidFill>
            <a:prstDash val="solid"/>
          </a:ln>
        </p:spPr>
      </p:sp>
      <p:sp>
        <p:nvSpPr>
          <p:cNvPr id="4" name="Text 2"/>
          <p:cNvSpPr/>
          <p:nvPr/>
        </p:nvSpPr>
        <p:spPr>
          <a:xfrm>
            <a:off x="914400" y="2011680"/>
            <a:ext cx="7315200" cy="914400"/>
          </a:xfrm>
          <a:prstGeom prst="rect">
            <a:avLst/>
          </a:prstGeom>
          <a:noFill/>
          <a:ln/>
        </p:spPr>
        <p:txBody>
          <a:bodyPr wrap="square" rtlCol="0" anchor="ctr"/>
          <a:lstStyle/>
          <a:p>
            <a:pPr indent="0" marL="0">
              <a:buNone/>
            </a:pPr>
            <a:r>
              <a:rPr lang="en-US" sz="1800" b="1" dirty="0">
                <a:solidFill>
                  <a:srgbClr val="172B4D"/>
                </a:solidFill>
              </a:rPr>
              <a:t>STORY KAN-11: Student Registration</a:t>
            </a:r>
            <a:endParaRPr lang="en-US" sz="1800" dirty="0"/>
          </a:p>
          <a:p>
            <a:pPr indent="0" marL="0">
              <a:buNone/>
            </a:pPr>
            <a:endParaRPr lang="en-US" sz="1800" dirty="0"/>
          </a:p>
          <a:p>
            <a:pPr indent="0" marL="0">
              <a:buNone/>
            </a:pPr>
            <a:r>
              <a:rPr lang="en-US" sz="1800" b="1" dirty="0">
                <a:solidFill>
                  <a:srgbClr val="172B4D"/>
                </a:solidFill>
              </a:rPr>
              <a:t>"As a student, I want to register, so that I can create my account."</a:t>
            </a:r>
            <a:endParaRPr lang="en-US" sz="1800" dirty="0"/>
          </a:p>
        </p:txBody>
      </p:sp>
      <p:sp>
        <p:nvSpPr>
          <p:cNvPr id="5" name="Text 3"/>
          <p:cNvSpPr/>
          <p:nvPr/>
        </p:nvSpPr>
        <p:spPr>
          <a:xfrm>
            <a:off x="457200" y="3657600"/>
            <a:ext cx="8229600" cy="457200"/>
          </a:xfrm>
          <a:prstGeom prst="rect">
            <a:avLst/>
          </a:prstGeom>
          <a:noFill/>
          <a:ln/>
        </p:spPr>
        <p:txBody>
          <a:bodyPr wrap="square" rtlCol="0" anchor="ctr"/>
          <a:lstStyle/>
          <a:p>
            <a:pPr indent="0" marL="0">
              <a:buNone/>
            </a:pPr>
            <a:r>
              <a:rPr lang="en-US" sz="2000" b="1" dirty="0">
                <a:solidFill>
                  <a:srgbClr val="0052CC"/>
                </a:solidFill>
              </a:rPr>
              <a:t>Acceptance Criteria = Quality Contract</a:t>
            </a:r>
            <a:endParaRPr lang="en-US" sz="2000" dirty="0"/>
          </a:p>
        </p:txBody>
      </p:sp>
      <p:sp>
        <p:nvSpPr>
          <p:cNvPr id="6" name="Text 4"/>
          <p:cNvSpPr/>
          <p:nvPr/>
        </p:nvSpPr>
        <p:spPr>
          <a:xfrm>
            <a:off x="457200" y="4114800"/>
            <a:ext cx="8229600" cy="1371600"/>
          </a:xfrm>
          <a:prstGeom prst="rect">
            <a:avLst/>
          </a:prstGeom>
          <a:noFill/>
          <a:ln/>
        </p:spPr>
        <p:txBody>
          <a:bodyPr wrap="square" rtlCol="0" anchor="ctr"/>
          <a:lstStyle/>
          <a:p>
            <a:pPr marL="342900" indent="-342900">
              <a:buSzPct val="100000"/>
              <a:buChar char="•"/>
            </a:pPr>
            <a:r>
              <a:rPr lang="en-US" sz="1600" dirty="0">
                <a:solidFill>
                  <a:srgbClr val="5E6C84"/>
                </a:solidFill>
              </a:rPr>
              <a:t>Example (KAN-14 OTP):</a:t>
            </a:r>
            <a:endParaRPr lang="en-US" sz="1600" dirty="0"/>
          </a:p>
          <a:p>
            <a:pPr marL="342900" indent="-342900">
              <a:buSzPct val="100000"/>
              <a:buChar char="•"/>
            </a:pPr>
            <a:r>
              <a:rPr lang="en-US" sz="1600" dirty="0">
                <a:solidFill>
                  <a:srgbClr val="5E6C84"/>
                </a:solidFill>
              </a:rPr>
              <a:t>• OTP is generated and delivered successfully.</a:t>
            </a:r>
            <a:endParaRPr lang="en-US" sz="1600" dirty="0"/>
          </a:p>
          <a:p>
            <a:pPr marL="342900" indent="-342900">
              <a:buSzPct val="100000"/>
              <a:buChar char="•"/>
            </a:pPr>
            <a:r>
              <a:rPr lang="en-US" sz="1600" dirty="0">
                <a:solidFill>
                  <a:srgbClr val="5E6C84"/>
                </a:solidFill>
              </a:rPr>
              <a:t>• Verification succeeds ONLY with a valid, unexpired OTP.</a:t>
            </a:r>
            <a:endParaRPr lang="en-US" sz="1600" dirty="0"/>
          </a:p>
          <a:p>
            <a:pPr marL="342900" indent="-342900">
              <a:buSzPct val="100000"/>
              <a:buChar char="•"/>
            </a:pPr>
            <a:r>
              <a:rPr lang="en-US" sz="1600" dirty="0">
                <a:solidFill>
                  <a:srgbClr val="5E6C84"/>
                </a:solidFill>
              </a:rPr>
              <a:t>• Retry and expiry flows are handled correctly.</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914400"/>
            <a:ext cx="8229600" cy="548640"/>
          </a:xfrm>
          <a:prstGeom prst="rect">
            <a:avLst/>
          </a:prstGeom>
          <a:noFill/>
          <a:ln/>
        </p:spPr>
        <p:txBody>
          <a:bodyPr wrap="square" rtlCol="0" anchor="ctr"/>
          <a:lstStyle/>
          <a:p>
            <a:pPr indent="0" marL="0">
              <a:buNone/>
            </a:pPr>
            <a:r>
              <a:rPr lang="en-US" sz="3200" b="1" dirty="0">
                <a:solidFill>
                  <a:srgbClr val="172B4D"/>
                </a:solidFill>
                <a:latin typeface="Arial" pitchFamily="34" charset="0"/>
                <a:ea typeface="Arial" pitchFamily="34" charset="-122"/>
                <a:cs typeface="Arial" pitchFamily="34" charset="-120"/>
              </a:rPr>
              <a:t>Prioritization &amp; Estimation Baseline</a:t>
            </a:r>
            <a:endParaRPr lang="en-US" sz="3200" dirty="0"/>
          </a:p>
        </p:txBody>
      </p:sp>
      <p:sp>
        <p:nvSpPr>
          <p:cNvPr id="3" name="Shape 1"/>
          <p:cNvSpPr/>
          <p:nvPr/>
        </p:nvSpPr>
        <p:spPr>
          <a:xfrm>
            <a:off x="914400" y="1828800"/>
            <a:ext cx="3200400" cy="2286000"/>
          </a:xfrm>
          <a:prstGeom prst="rect">
            <a:avLst/>
          </a:prstGeom>
          <a:solidFill>
            <a:srgbClr val="0052CC"/>
          </a:solidFill>
          <a:ln/>
        </p:spPr>
      </p:sp>
      <p:sp>
        <p:nvSpPr>
          <p:cNvPr id="4" name="Text 2"/>
          <p:cNvSpPr/>
          <p:nvPr/>
        </p:nvSpPr>
        <p:spPr>
          <a:xfrm>
            <a:off x="914400" y="1828800"/>
            <a:ext cx="3200400" cy="2286000"/>
          </a:xfrm>
          <a:prstGeom prst="rect">
            <a:avLst/>
          </a:prstGeom>
          <a:noFill/>
          <a:ln/>
        </p:spPr>
        <p:txBody>
          <a:bodyPr wrap="square" rtlCol="0" anchor="ctr"/>
          <a:lstStyle/>
          <a:p>
            <a:pPr algn="ctr" indent="0" marL="0">
              <a:buNone/>
            </a:pPr>
            <a:r>
              <a:rPr lang="en-US" sz="3600" b="1" dirty="0">
                <a:solidFill>
                  <a:srgbClr val="FFFFFF"/>
                </a:solidFill>
              </a:rPr>
              <a:t>53</a:t>
            </a:r>
            <a:endParaRPr lang="en-US" sz="3600" dirty="0"/>
          </a:p>
          <a:p>
            <a:pPr algn="ctr" indent="0" marL="0">
              <a:buNone/>
            </a:pPr>
            <a:r>
              <a:rPr lang="en-US" sz="3600" b="1" dirty="0">
                <a:solidFill>
                  <a:srgbClr val="FFFFFF"/>
                </a:solidFill>
              </a:rPr>
              <a:t>STORIES</a:t>
            </a:r>
            <a:endParaRPr lang="en-US" sz="3600" dirty="0"/>
          </a:p>
        </p:txBody>
      </p:sp>
      <p:sp>
        <p:nvSpPr>
          <p:cNvPr id="5" name="Shape 3"/>
          <p:cNvSpPr/>
          <p:nvPr/>
        </p:nvSpPr>
        <p:spPr>
          <a:xfrm>
            <a:off x="5029200" y="1828800"/>
            <a:ext cx="3200400" cy="2286000"/>
          </a:xfrm>
          <a:prstGeom prst="rect">
            <a:avLst/>
          </a:prstGeom>
          <a:solidFill>
            <a:srgbClr val="5243AA"/>
          </a:solidFill>
          <a:ln/>
        </p:spPr>
      </p:sp>
      <p:sp>
        <p:nvSpPr>
          <p:cNvPr id="6" name="Text 4"/>
          <p:cNvSpPr/>
          <p:nvPr/>
        </p:nvSpPr>
        <p:spPr>
          <a:xfrm>
            <a:off x="5029200" y="1828800"/>
            <a:ext cx="3200400" cy="2286000"/>
          </a:xfrm>
          <a:prstGeom prst="rect">
            <a:avLst/>
          </a:prstGeom>
          <a:noFill/>
          <a:ln/>
        </p:spPr>
        <p:txBody>
          <a:bodyPr wrap="square" rtlCol="0" anchor="ctr"/>
          <a:lstStyle/>
          <a:p>
            <a:pPr algn="ctr" indent="0" marL="0">
              <a:buNone/>
            </a:pPr>
            <a:r>
              <a:rPr lang="en-US" sz="3600" b="1" dirty="0">
                <a:solidFill>
                  <a:srgbClr val="FFFFFF"/>
                </a:solidFill>
              </a:rPr>
              <a:t>256</a:t>
            </a:r>
            <a:endParaRPr lang="en-US" sz="3600" dirty="0"/>
          </a:p>
          <a:p>
            <a:pPr algn="ctr" indent="0" marL="0">
              <a:buNone/>
            </a:pPr>
            <a:r>
              <a:rPr lang="en-US" sz="3600" b="1" dirty="0">
                <a:solidFill>
                  <a:srgbClr val="FFFFFF"/>
                </a:solidFill>
              </a:rPr>
              <a:t>POINTS</a:t>
            </a:r>
            <a:endParaRPr lang="en-US" sz="3600" dirty="0"/>
          </a:p>
        </p:txBody>
      </p:sp>
      <p:sp>
        <p:nvSpPr>
          <p:cNvPr id="7" name="Text 5"/>
          <p:cNvSpPr/>
          <p:nvPr/>
        </p:nvSpPr>
        <p:spPr>
          <a:xfrm>
            <a:off x="914400" y="4572000"/>
            <a:ext cx="7315200" cy="914400"/>
          </a:xfrm>
          <a:prstGeom prst="rect">
            <a:avLst/>
          </a:prstGeom>
          <a:solidFill>
            <a:srgbClr val="FFEBE6"/>
          </a:solidFill>
          <a:ln/>
        </p:spPr>
        <p:txBody>
          <a:bodyPr wrap="square" rtlCol="0" anchor="ctr"/>
          <a:lstStyle/>
          <a:p>
            <a:pPr algn="ctr" indent="0" marL="0">
              <a:buNone/>
            </a:pPr>
            <a:r>
              <a:rPr lang="en-US" b="1" dirty="0">
                <a:solidFill>
                  <a:srgbClr val="FF5630"/>
                </a:solidFill>
              </a:rPr>
              <a:t>Important Note:</a:t>
            </a:r>
            <a:endParaRPr lang="en-US" dirty="0"/>
          </a:p>
          <a:p>
            <a:pPr algn="ctr" indent="0" marL="0">
              <a:buNone/>
            </a:pPr>
            <a:r>
              <a:rPr lang="en-US" b="1" dirty="0">
                <a:solidFill>
                  <a:srgbClr val="FF5630"/>
                </a:solidFill>
              </a:rPr>
              <a:t>The current KAN team-managed project does not expose a native Story Points field. These values are documented estimates serving as a planning baseline.</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914400"/>
            <a:ext cx="8229600" cy="548640"/>
          </a:xfrm>
          <a:prstGeom prst="rect">
            <a:avLst/>
          </a:prstGeom>
          <a:noFill/>
          <a:ln/>
        </p:spPr>
        <p:txBody>
          <a:bodyPr wrap="square" rtlCol="0" anchor="ctr"/>
          <a:lstStyle/>
          <a:p>
            <a:pPr indent="0" marL="0">
              <a:buNone/>
            </a:pPr>
            <a:r>
              <a:rPr lang="en-US" sz="3200" b="1" dirty="0">
                <a:solidFill>
                  <a:srgbClr val="172B4D"/>
                </a:solidFill>
                <a:latin typeface="Arial" pitchFamily="34" charset="0"/>
                <a:ea typeface="Arial" pitchFamily="34" charset="-122"/>
                <a:cs typeface="Arial" pitchFamily="34" charset="-120"/>
              </a:rPr>
              <a:t>The Jira Board Flow</a:t>
            </a:r>
            <a:endParaRPr lang="en-US" sz="3200" dirty="0"/>
          </a:p>
        </p:txBody>
      </p:sp>
      <p:sp>
        <p:nvSpPr>
          <p:cNvPr id="3" name="Shape 1"/>
          <p:cNvSpPr/>
          <p:nvPr/>
        </p:nvSpPr>
        <p:spPr>
          <a:xfrm>
            <a:off x="457200" y="2286000"/>
            <a:ext cx="1554480" cy="914400"/>
          </a:xfrm>
          <a:prstGeom prst="rightArrow">
            <a:avLst/>
          </a:prstGeom>
          <a:solidFill>
            <a:srgbClr val="F4F5F7"/>
          </a:solidFill>
          <a:ln w="12700">
            <a:solidFill>
              <a:srgbClr val="0052CC"/>
            </a:solidFill>
            <a:prstDash val="solid"/>
          </a:ln>
        </p:spPr>
      </p:sp>
      <p:sp>
        <p:nvSpPr>
          <p:cNvPr id="4" name="Text 2"/>
          <p:cNvSpPr/>
          <p:nvPr/>
        </p:nvSpPr>
        <p:spPr>
          <a:xfrm>
            <a:off x="457200" y="2286000"/>
            <a:ext cx="1371600" cy="914400"/>
          </a:xfrm>
          <a:prstGeom prst="rect">
            <a:avLst/>
          </a:prstGeom>
          <a:noFill/>
          <a:ln/>
        </p:spPr>
        <p:txBody>
          <a:bodyPr wrap="square" rtlCol="0" anchor="ctr"/>
          <a:lstStyle/>
          <a:p>
            <a:pPr algn="ctr" indent="0" marL="0">
              <a:buNone/>
            </a:pPr>
            <a:r>
              <a:rPr lang="en-US" sz="1200" b="1" dirty="0">
                <a:solidFill>
                  <a:srgbClr val="172B4D"/>
                </a:solidFill>
              </a:rPr>
              <a:t>IDEA</a:t>
            </a:r>
            <a:endParaRPr lang="en-US" sz="1200" dirty="0"/>
          </a:p>
        </p:txBody>
      </p:sp>
      <p:sp>
        <p:nvSpPr>
          <p:cNvPr id="5" name="Text 3"/>
          <p:cNvSpPr/>
          <p:nvPr/>
        </p:nvSpPr>
        <p:spPr>
          <a:xfrm>
            <a:off x="457200" y="3474720"/>
            <a:ext cx="1371600" cy="914400"/>
          </a:xfrm>
          <a:prstGeom prst="rect">
            <a:avLst/>
          </a:prstGeom>
          <a:noFill/>
          <a:ln/>
        </p:spPr>
        <p:txBody>
          <a:bodyPr wrap="square" rtlCol="0" anchor="ctr"/>
          <a:lstStyle/>
          <a:p>
            <a:pPr algn="ctr" indent="0" marL="0">
              <a:buNone/>
            </a:pPr>
            <a:r>
              <a:rPr lang="en-US" sz="1200" dirty="0">
                <a:solidFill>
                  <a:srgbClr val="5E6C84"/>
                </a:solidFill>
              </a:rPr>
              <a:t>Potential work</a:t>
            </a:r>
            <a:endParaRPr lang="en-US" sz="1200" dirty="0"/>
          </a:p>
        </p:txBody>
      </p:sp>
      <p:sp>
        <p:nvSpPr>
          <p:cNvPr id="6" name="Shape 4"/>
          <p:cNvSpPr/>
          <p:nvPr/>
        </p:nvSpPr>
        <p:spPr>
          <a:xfrm>
            <a:off x="2103120" y="2286000"/>
            <a:ext cx="1554480" cy="914400"/>
          </a:xfrm>
          <a:prstGeom prst="rightArrow">
            <a:avLst/>
          </a:prstGeom>
          <a:solidFill>
            <a:srgbClr val="F4F5F7"/>
          </a:solidFill>
          <a:ln w="12700">
            <a:solidFill>
              <a:srgbClr val="0052CC"/>
            </a:solidFill>
            <a:prstDash val="solid"/>
          </a:ln>
        </p:spPr>
      </p:sp>
      <p:sp>
        <p:nvSpPr>
          <p:cNvPr id="7" name="Text 5"/>
          <p:cNvSpPr/>
          <p:nvPr/>
        </p:nvSpPr>
        <p:spPr>
          <a:xfrm>
            <a:off x="2103120" y="2286000"/>
            <a:ext cx="1371600" cy="914400"/>
          </a:xfrm>
          <a:prstGeom prst="rect">
            <a:avLst/>
          </a:prstGeom>
          <a:noFill/>
          <a:ln/>
        </p:spPr>
        <p:txBody>
          <a:bodyPr wrap="square" rtlCol="0" anchor="ctr"/>
          <a:lstStyle/>
          <a:p>
            <a:pPr algn="ctr" indent="0" marL="0">
              <a:buNone/>
            </a:pPr>
            <a:r>
              <a:rPr lang="en-US" sz="1200" b="1" dirty="0">
                <a:solidFill>
                  <a:srgbClr val="172B4D"/>
                </a:solidFill>
              </a:rPr>
              <a:t>TO DO</a:t>
            </a:r>
            <a:endParaRPr lang="en-US" sz="1200" dirty="0"/>
          </a:p>
        </p:txBody>
      </p:sp>
      <p:sp>
        <p:nvSpPr>
          <p:cNvPr id="8" name="Text 6"/>
          <p:cNvSpPr/>
          <p:nvPr/>
        </p:nvSpPr>
        <p:spPr>
          <a:xfrm>
            <a:off x="2103120" y="3474720"/>
            <a:ext cx="1371600" cy="914400"/>
          </a:xfrm>
          <a:prstGeom prst="rect">
            <a:avLst/>
          </a:prstGeom>
          <a:noFill/>
          <a:ln/>
        </p:spPr>
        <p:txBody>
          <a:bodyPr wrap="square" rtlCol="0" anchor="ctr"/>
          <a:lstStyle/>
          <a:p>
            <a:pPr algn="ctr" indent="0" marL="0">
              <a:buNone/>
            </a:pPr>
            <a:r>
              <a:rPr lang="en-US" sz="1200" dirty="0">
                <a:solidFill>
                  <a:srgbClr val="5E6C84"/>
                </a:solidFill>
              </a:rPr>
              <a:t>Refined &amp; Queued</a:t>
            </a:r>
            <a:endParaRPr lang="en-US" sz="1200" dirty="0"/>
          </a:p>
        </p:txBody>
      </p:sp>
      <p:sp>
        <p:nvSpPr>
          <p:cNvPr id="9" name="Shape 7"/>
          <p:cNvSpPr/>
          <p:nvPr/>
        </p:nvSpPr>
        <p:spPr>
          <a:xfrm>
            <a:off x="3749040" y="2286000"/>
            <a:ext cx="1554480" cy="914400"/>
          </a:xfrm>
          <a:prstGeom prst="rightArrow">
            <a:avLst/>
          </a:prstGeom>
          <a:solidFill>
            <a:srgbClr val="F4F5F7"/>
          </a:solidFill>
          <a:ln w="12700">
            <a:solidFill>
              <a:srgbClr val="0052CC"/>
            </a:solidFill>
            <a:prstDash val="solid"/>
          </a:ln>
        </p:spPr>
      </p:sp>
      <p:sp>
        <p:nvSpPr>
          <p:cNvPr id="10" name="Text 8"/>
          <p:cNvSpPr/>
          <p:nvPr/>
        </p:nvSpPr>
        <p:spPr>
          <a:xfrm>
            <a:off x="3749040" y="2286000"/>
            <a:ext cx="1371600" cy="914400"/>
          </a:xfrm>
          <a:prstGeom prst="rect">
            <a:avLst/>
          </a:prstGeom>
          <a:noFill/>
          <a:ln/>
        </p:spPr>
        <p:txBody>
          <a:bodyPr wrap="square" rtlCol="0" anchor="ctr"/>
          <a:lstStyle/>
          <a:p>
            <a:pPr algn="ctr" indent="0" marL="0">
              <a:buNone/>
            </a:pPr>
            <a:r>
              <a:rPr lang="en-US" sz="1200" b="1" dirty="0">
                <a:solidFill>
                  <a:srgbClr val="172B4D"/>
                </a:solidFill>
              </a:rPr>
              <a:t>IN PROGRESS</a:t>
            </a:r>
            <a:endParaRPr lang="en-US" sz="1200" dirty="0"/>
          </a:p>
        </p:txBody>
      </p:sp>
      <p:sp>
        <p:nvSpPr>
          <p:cNvPr id="11" name="Text 9"/>
          <p:cNvSpPr/>
          <p:nvPr/>
        </p:nvSpPr>
        <p:spPr>
          <a:xfrm>
            <a:off x="3749040" y="3474720"/>
            <a:ext cx="1371600" cy="914400"/>
          </a:xfrm>
          <a:prstGeom prst="rect">
            <a:avLst/>
          </a:prstGeom>
          <a:noFill/>
          <a:ln/>
        </p:spPr>
        <p:txBody>
          <a:bodyPr wrap="square" rtlCol="0" anchor="ctr"/>
          <a:lstStyle/>
          <a:p>
            <a:pPr algn="ctr" indent="0" marL="0">
              <a:buNone/>
            </a:pPr>
            <a:r>
              <a:rPr lang="en-US" sz="1200" dirty="0">
                <a:solidFill>
                  <a:srgbClr val="5E6C84"/>
                </a:solidFill>
              </a:rPr>
              <a:t>Active execution</a:t>
            </a:r>
            <a:endParaRPr lang="en-US" sz="1200" dirty="0"/>
          </a:p>
        </p:txBody>
      </p:sp>
      <p:sp>
        <p:nvSpPr>
          <p:cNvPr id="12" name="Shape 10"/>
          <p:cNvSpPr/>
          <p:nvPr/>
        </p:nvSpPr>
        <p:spPr>
          <a:xfrm>
            <a:off x="5394960" y="2286000"/>
            <a:ext cx="1554480" cy="914400"/>
          </a:xfrm>
          <a:prstGeom prst="rightArrow">
            <a:avLst/>
          </a:prstGeom>
          <a:solidFill>
            <a:srgbClr val="F4F5F7"/>
          </a:solidFill>
          <a:ln w="12700">
            <a:solidFill>
              <a:srgbClr val="0052CC"/>
            </a:solidFill>
            <a:prstDash val="solid"/>
          </a:ln>
        </p:spPr>
      </p:sp>
      <p:sp>
        <p:nvSpPr>
          <p:cNvPr id="13" name="Text 11"/>
          <p:cNvSpPr/>
          <p:nvPr/>
        </p:nvSpPr>
        <p:spPr>
          <a:xfrm>
            <a:off x="5394960" y="2286000"/>
            <a:ext cx="1371600" cy="914400"/>
          </a:xfrm>
          <a:prstGeom prst="rect">
            <a:avLst/>
          </a:prstGeom>
          <a:noFill/>
          <a:ln/>
        </p:spPr>
        <p:txBody>
          <a:bodyPr wrap="square" rtlCol="0" anchor="ctr"/>
          <a:lstStyle/>
          <a:p>
            <a:pPr algn="ctr" indent="0" marL="0">
              <a:buNone/>
            </a:pPr>
            <a:r>
              <a:rPr lang="en-US" sz="1200" b="1" dirty="0">
                <a:solidFill>
                  <a:srgbClr val="172B4D"/>
                </a:solidFill>
              </a:rPr>
              <a:t>IN REVIEW</a:t>
            </a:r>
            <a:endParaRPr lang="en-US" sz="1200" dirty="0"/>
          </a:p>
        </p:txBody>
      </p:sp>
      <p:sp>
        <p:nvSpPr>
          <p:cNvPr id="14" name="Text 12"/>
          <p:cNvSpPr/>
          <p:nvPr/>
        </p:nvSpPr>
        <p:spPr>
          <a:xfrm>
            <a:off x="5394960" y="3474720"/>
            <a:ext cx="1371600" cy="914400"/>
          </a:xfrm>
          <a:prstGeom prst="rect">
            <a:avLst/>
          </a:prstGeom>
          <a:noFill/>
          <a:ln/>
        </p:spPr>
        <p:txBody>
          <a:bodyPr wrap="square" rtlCol="0" anchor="ctr"/>
          <a:lstStyle/>
          <a:p>
            <a:pPr algn="ctr" indent="0" marL="0">
              <a:buNone/>
            </a:pPr>
            <a:r>
              <a:rPr lang="en-US" sz="1200" dirty="0">
                <a:solidFill>
                  <a:srgbClr val="5E6C84"/>
                </a:solidFill>
              </a:rPr>
              <a:t>Validation</a:t>
            </a:r>
            <a:endParaRPr lang="en-US" sz="1200" dirty="0"/>
          </a:p>
        </p:txBody>
      </p:sp>
      <p:sp>
        <p:nvSpPr>
          <p:cNvPr id="15" name="Shape 13"/>
          <p:cNvSpPr/>
          <p:nvPr/>
        </p:nvSpPr>
        <p:spPr>
          <a:xfrm>
            <a:off x="7040880" y="2286000"/>
            <a:ext cx="1554480" cy="914400"/>
          </a:xfrm>
          <a:prstGeom prst="rightArrow">
            <a:avLst/>
          </a:prstGeom>
          <a:solidFill>
            <a:srgbClr val="F4F5F7"/>
          </a:solidFill>
          <a:ln w="12700">
            <a:solidFill>
              <a:srgbClr val="0052CC"/>
            </a:solidFill>
            <a:prstDash val="solid"/>
          </a:ln>
        </p:spPr>
      </p:sp>
      <p:sp>
        <p:nvSpPr>
          <p:cNvPr id="16" name="Text 14"/>
          <p:cNvSpPr/>
          <p:nvPr/>
        </p:nvSpPr>
        <p:spPr>
          <a:xfrm>
            <a:off x="7040880" y="2286000"/>
            <a:ext cx="1371600" cy="914400"/>
          </a:xfrm>
          <a:prstGeom prst="rect">
            <a:avLst/>
          </a:prstGeom>
          <a:noFill/>
          <a:ln/>
        </p:spPr>
        <p:txBody>
          <a:bodyPr wrap="square" rtlCol="0" anchor="ctr"/>
          <a:lstStyle/>
          <a:p>
            <a:pPr algn="ctr" indent="0" marL="0">
              <a:buNone/>
            </a:pPr>
            <a:r>
              <a:rPr lang="en-US" sz="1200" b="1" dirty="0">
                <a:solidFill>
                  <a:srgbClr val="172B4D"/>
                </a:solidFill>
              </a:rPr>
              <a:t>DONE</a:t>
            </a:r>
            <a:endParaRPr lang="en-US" sz="1200" dirty="0"/>
          </a:p>
        </p:txBody>
      </p:sp>
      <p:sp>
        <p:nvSpPr>
          <p:cNvPr id="17" name="Text 15"/>
          <p:cNvSpPr/>
          <p:nvPr/>
        </p:nvSpPr>
        <p:spPr>
          <a:xfrm>
            <a:off x="7040880" y="3474720"/>
            <a:ext cx="1371600" cy="914400"/>
          </a:xfrm>
          <a:prstGeom prst="rect">
            <a:avLst/>
          </a:prstGeom>
          <a:noFill/>
          <a:ln/>
        </p:spPr>
        <p:txBody>
          <a:bodyPr wrap="square" rtlCol="0" anchor="ctr"/>
          <a:lstStyle/>
          <a:p>
            <a:pPr algn="ctr" indent="0" marL="0">
              <a:buNone/>
            </a:pPr>
            <a:r>
              <a:rPr lang="en-US" sz="1200" dirty="0">
                <a:solidFill>
                  <a:srgbClr val="5E6C84"/>
                </a:solidFill>
              </a:rPr>
              <a:t>Quality gate passed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914400"/>
            <a:ext cx="8229600" cy="548640"/>
          </a:xfrm>
          <a:prstGeom prst="rect">
            <a:avLst/>
          </a:prstGeom>
          <a:noFill/>
          <a:ln/>
        </p:spPr>
        <p:txBody>
          <a:bodyPr wrap="square" rtlCol="0" anchor="ctr"/>
          <a:lstStyle/>
          <a:p>
            <a:pPr indent="0" marL="0">
              <a:buNone/>
            </a:pPr>
            <a:r>
              <a:rPr lang="en-US" sz="3200" b="1" dirty="0">
                <a:solidFill>
                  <a:srgbClr val="172B4D"/>
                </a:solidFill>
                <a:latin typeface="Arial" pitchFamily="34" charset="0"/>
                <a:ea typeface="Arial" pitchFamily="34" charset="-122"/>
                <a:cs typeface="Arial" pitchFamily="34" charset="-120"/>
              </a:rPr>
              <a:t>Current Project Status Snapshot</a:t>
            </a:r>
            <a:endParaRPr lang="en-US" sz="3200" dirty="0"/>
          </a:p>
        </p:txBody>
      </p:sp>
      <p:sp>
        <p:nvSpPr>
          <p:cNvPr id="3" name="Text 1"/>
          <p:cNvSpPr/>
          <p:nvPr/>
        </p:nvSpPr>
        <p:spPr>
          <a:xfrm>
            <a:off x="2743200" y="1645920"/>
            <a:ext cx="3657600" cy="731520"/>
          </a:xfrm>
          <a:prstGeom prst="rect">
            <a:avLst/>
          </a:prstGeom>
          <a:noFill/>
          <a:ln/>
        </p:spPr>
        <p:txBody>
          <a:bodyPr wrap="square" rtlCol="0" anchor="ctr"/>
          <a:lstStyle/>
          <a:p>
            <a:pPr algn="ctr" indent="0" marL="0">
              <a:buNone/>
            </a:pPr>
            <a:r>
              <a:rPr lang="en-US" sz="2400" b="1" dirty="0">
                <a:solidFill>
                  <a:srgbClr val="172B4D"/>
                </a:solidFill>
              </a:rPr>
              <a:t>88 Total Issues</a:t>
            </a:r>
            <a:endParaRPr lang="en-US" sz="2400" dirty="0"/>
          </a:p>
        </p:txBody>
      </p:sp>
      <p:sp>
        <p:nvSpPr>
          <p:cNvPr id="4" name="Shape 2"/>
          <p:cNvSpPr/>
          <p:nvPr/>
        </p:nvSpPr>
        <p:spPr>
          <a:xfrm>
            <a:off x="2743200" y="2560320"/>
            <a:ext cx="3657600" cy="457200"/>
          </a:xfrm>
          <a:prstGeom prst="rect">
            <a:avLst/>
          </a:prstGeom>
          <a:solidFill>
            <a:srgbClr val="36B37E"/>
          </a:solidFill>
          <a:ln/>
        </p:spPr>
      </p:sp>
      <p:sp>
        <p:nvSpPr>
          <p:cNvPr id="5" name="Text 3"/>
          <p:cNvSpPr/>
          <p:nvPr/>
        </p:nvSpPr>
        <p:spPr>
          <a:xfrm>
            <a:off x="2743200" y="2560320"/>
            <a:ext cx="3657600" cy="457200"/>
          </a:xfrm>
          <a:prstGeom prst="rect">
            <a:avLst/>
          </a:prstGeom>
          <a:noFill/>
          <a:ln/>
        </p:spPr>
        <p:txBody>
          <a:bodyPr wrap="square" rtlCol="0" anchor="ctr"/>
          <a:lstStyle/>
          <a:p>
            <a:pPr algn="ctr" indent="0" marL="0">
              <a:buNone/>
            </a:pPr>
            <a:r>
              <a:rPr lang="en-US" b="1" dirty="0">
                <a:solidFill>
                  <a:srgbClr val="FFFFFF"/>
                </a:solidFill>
              </a:rPr>
              <a:t>38 DONE</a:t>
            </a:r>
            <a:endParaRPr lang="en-US" dirty="0"/>
          </a:p>
        </p:txBody>
      </p:sp>
      <p:sp>
        <p:nvSpPr>
          <p:cNvPr id="6" name="Shape 4"/>
          <p:cNvSpPr/>
          <p:nvPr/>
        </p:nvSpPr>
        <p:spPr>
          <a:xfrm>
            <a:off x="2743200" y="3108960"/>
            <a:ext cx="3657600" cy="457200"/>
          </a:xfrm>
          <a:prstGeom prst="rect">
            <a:avLst/>
          </a:prstGeom>
          <a:solidFill>
            <a:srgbClr val="0052CC"/>
          </a:solidFill>
          <a:ln/>
        </p:spPr>
      </p:sp>
      <p:sp>
        <p:nvSpPr>
          <p:cNvPr id="7" name="Text 5"/>
          <p:cNvSpPr/>
          <p:nvPr/>
        </p:nvSpPr>
        <p:spPr>
          <a:xfrm>
            <a:off x="2743200" y="3108960"/>
            <a:ext cx="3657600" cy="457200"/>
          </a:xfrm>
          <a:prstGeom prst="rect">
            <a:avLst/>
          </a:prstGeom>
          <a:noFill/>
          <a:ln/>
        </p:spPr>
        <p:txBody>
          <a:bodyPr wrap="square" rtlCol="0" anchor="ctr"/>
          <a:lstStyle/>
          <a:p>
            <a:pPr algn="ctr" indent="0" marL="0">
              <a:buNone/>
            </a:pPr>
            <a:r>
              <a:rPr lang="en-US" b="1" dirty="0">
                <a:solidFill>
                  <a:srgbClr val="FFFFFF"/>
                </a:solidFill>
              </a:rPr>
              <a:t>11 IN PROGRESS</a:t>
            </a:r>
            <a:endParaRPr lang="en-US" dirty="0"/>
          </a:p>
        </p:txBody>
      </p:sp>
      <p:sp>
        <p:nvSpPr>
          <p:cNvPr id="8" name="Shape 6"/>
          <p:cNvSpPr/>
          <p:nvPr/>
        </p:nvSpPr>
        <p:spPr>
          <a:xfrm>
            <a:off x="2743200" y="3657600"/>
            <a:ext cx="3657600" cy="457200"/>
          </a:xfrm>
          <a:prstGeom prst="rect">
            <a:avLst/>
          </a:prstGeom>
          <a:solidFill>
            <a:srgbClr val="FF991F"/>
          </a:solidFill>
          <a:ln/>
        </p:spPr>
      </p:sp>
      <p:sp>
        <p:nvSpPr>
          <p:cNvPr id="9" name="Text 7"/>
          <p:cNvSpPr/>
          <p:nvPr/>
        </p:nvSpPr>
        <p:spPr>
          <a:xfrm>
            <a:off x="2743200" y="3657600"/>
            <a:ext cx="3657600" cy="457200"/>
          </a:xfrm>
          <a:prstGeom prst="rect">
            <a:avLst/>
          </a:prstGeom>
          <a:noFill/>
          <a:ln/>
        </p:spPr>
        <p:txBody>
          <a:bodyPr wrap="square" rtlCol="0" anchor="ctr"/>
          <a:lstStyle/>
          <a:p>
            <a:pPr algn="ctr" indent="0" marL="0">
              <a:buNone/>
            </a:pPr>
            <a:r>
              <a:rPr lang="en-US" b="1" dirty="0">
                <a:solidFill>
                  <a:srgbClr val="FFFFFF"/>
                </a:solidFill>
              </a:rPr>
              <a:t>9 IN REVIEW</a:t>
            </a:r>
            <a:endParaRPr lang="en-US" dirty="0"/>
          </a:p>
        </p:txBody>
      </p:sp>
      <p:sp>
        <p:nvSpPr>
          <p:cNvPr id="10" name="Shape 8"/>
          <p:cNvSpPr/>
          <p:nvPr/>
        </p:nvSpPr>
        <p:spPr>
          <a:xfrm>
            <a:off x="2743200" y="4206240"/>
            <a:ext cx="3657600" cy="457200"/>
          </a:xfrm>
          <a:prstGeom prst="rect">
            <a:avLst/>
          </a:prstGeom>
          <a:solidFill>
            <a:srgbClr val="5E6C84"/>
          </a:solidFill>
          <a:ln/>
        </p:spPr>
      </p:sp>
      <p:sp>
        <p:nvSpPr>
          <p:cNvPr id="11" name="Text 9"/>
          <p:cNvSpPr/>
          <p:nvPr/>
        </p:nvSpPr>
        <p:spPr>
          <a:xfrm>
            <a:off x="2743200" y="4206240"/>
            <a:ext cx="3657600" cy="457200"/>
          </a:xfrm>
          <a:prstGeom prst="rect">
            <a:avLst/>
          </a:prstGeom>
          <a:noFill/>
          <a:ln/>
        </p:spPr>
        <p:txBody>
          <a:bodyPr wrap="square" rtlCol="0" anchor="ctr"/>
          <a:lstStyle/>
          <a:p>
            <a:pPr algn="ctr" indent="0" marL="0">
              <a:buNone/>
            </a:pPr>
            <a:r>
              <a:rPr lang="en-US" b="1" dirty="0">
                <a:solidFill>
                  <a:srgbClr val="172B4D"/>
                </a:solidFill>
              </a:rPr>
              <a:t>20 TO DO</a:t>
            </a:r>
            <a:endParaRPr lang="en-US" dirty="0"/>
          </a:p>
        </p:txBody>
      </p:sp>
      <p:sp>
        <p:nvSpPr>
          <p:cNvPr id="12" name="Shape 10"/>
          <p:cNvSpPr/>
          <p:nvPr/>
        </p:nvSpPr>
        <p:spPr>
          <a:xfrm>
            <a:off x="2743200" y="4754880"/>
            <a:ext cx="3657600" cy="457200"/>
          </a:xfrm>
          <a:prstGeom prst="rect">
            <a:avLst/>
          </a:prstGeom>
          <a:solidFill>
            <a:srgbClr val="F4F5F7"/>
          </a:solidFill>
          <a:ln/>
        </p:spPr>
      </p:sp>
      <p:sp>
        <p:nvSpPr>
          <p:cNvPr id="13" name="Text 11"/>
          <p:cNvSpPr/>
          <p:nvPr/>
        </p:nvSpPr>
        <p:spPr>
          <a:xfrm>
            <a:off x="2743200" y="4754880"/>
            <a:ext cx="3657600" cy="457200"/>
          </a:xfrm>
          <a:prstGeom prst="rect">
            <a:avLst/>
          </a:prstGeom>
          <a:noFill/>
          <a:ln/>
        </p:spPr>
        <p:txBody>
          <a:bodyPr wrap="square" rtlCol="0" anchor="ctr"/>
          <a:lstStyle/>
          <a:p>
            <a:pPr algn="ctr" indent="0" marL="0">
              <a:buNone/>
            </a:pPr>
            <a:r>
              <a:rPr lang="en-US" b="1" dirty="0">
                <a:solidFill>
                  <a:srgbClr val="172B4D"/>
                </a:solidFill>
              </a:rPr>
              <a:t>10 IDEA</a:t>
            </a:r>
            <a:endParaRPr lang="en-US" dirty="0"/>
          </a:p>
        </p:txBody>
      </p:sp>
      <p:sp>
        <p:nvSpPr>
          <p:cNvPr id="14" name="Text 12"/>
          <p:cNvSpPr/>
          <p:nvPr/>
        </p:nvSpPr>
        <p:spPr>
          <a:xfrm>
            <a:off x="914400" y="5669280"/>
            <a:ext cx="7315200" cy="457200"/>
          </a:xfrm>
          <a:prstGeom prst="rect">
            <a:avLst/>
          </a:prstGeom>
          <a:noFill/>
          <a:ln/>
        </p:spPr>
        <p:txBody>
          <a:bodyPr wrap="square" rtlCol="0" anchor="ctr"/>
          <a:lstStyle/>
          <a:p>
            <a:pPr algn="ctr" indent="0" marL="0">
              <a:buNone/>
            </a:pPr>
            <a:r>
              <a:rPr lang="en-US" sz="1200" b="1" dirty="0">
                <a:solidFill>
                  <a:srgbClr val="FF5630"/>
                </a:solidFill>
              </a:rPr>
              <a:t>* Current project-management snapshot; NOT historical Sprint completion evidence. *</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914400"/>
            <a:ext cx="8229600" cy="548640"/>
          </a:xfrm>
          <a:prstGeom prst="rect">
            <a:avLst/>
          </a:prstGeom>
          <a:noFill/>
          <a:ln/>
        </p:spPr>
        <p:txBody>
          <a:bodyPr wrap="square" rtlCol="0" anchor="ctr"/>
          <a:lstStyle/>
          <a:p>
            <a:pPr indent="0" marL="0">
              <a:buNone/>
            </a:pPr>
            <a:r>
              <a:rPr lang="en-US" sz="3200" b="1" dirty="0">
                <a:solidFill>
                  <a:srgbClr val="172B4D"/>
                </a:solidFill>
                <a:latin typeface="Arial" pitchFamily="34" charset="0"/>
                <a:ea typeface="Arial" pitchFamily="34" charset="-122"/>
                <a:cs typeface="Arial" pitchFamily="34" charset="-120"/>
              </a:rPr>
              <a:t>Dependency &amp; Defect Management</a:t>
            </a:r>
            <a:endParaRPr lang="en-US" sz="3200" dirty="0"/>
          </a:p>
        </p:txBody>
      </p:sp>
      <p:sp>
        <p:nvSpPr>
          <p:cNvPr id="3" name="Text 1"/>
          <p:cNvSpPr/>
          <p:nvPr/>
        </p:nvSpPr>
        <p:spPr>
          <a:xfrm>
            <a:off x="457200" y="1828800"/>
            <a:ext cx="3657600" cy="457200"/>
          </a:xfrm>
          <a:prstGeom prst="rect">
            <a:avLst/>
          </a:prstGeom>
          <a:noFill/>
          <a:ln/>
        </p:spPr>
        <p:txBody>
          <a:bodyPr wrap="square" rtlCol="0" anchor="ctr"/>
          <a:lstStyle/>
          <a:p>
            <a:pPr indent="0" marL="0">
              <a:buNone/>
            </a:pPr>
            <a:r>
              <a:rPr lang="en-US" sz="1800" b="1" dirty="0">
                <a:solidFill>
                  <a:srgbClr val="0052CC"/>
                </a:solidFill>
              </a:rPr>
              <a:t>Dependency Management (8 Blocks Links)</a:t>
            </a:r>
            <a:endParaRPr lang="en-US" sz="1800" dirty="0"/>
          </a:p>
        </p:txBody>
      </p:sp>
      <p:sp>
        <p:nvSpPr>
          <p:cNvPr id="4" name="Text 2"/>
          <p:cNvSpPr/>
          <p:nvPr/>
        </p:nvSpPr>
        <p:spPr>
          <a:xfrm>
            <a:off x="457200" y="2377440"/>
            <a:ext cx="3657600" cy="1371600"/>
          </a:xfrm>
          <a:prstGeom prst="rect">
            <a:avLst/>
          </a:prstGeom>
          <a:noFill/>
          <a:ln/>
        </p:spPr>
        <p:txBody>
          <a:bodyPr wrap="square" rtlCol="0" anchor="ctr"/>
          <a:lstStyle/>
          <a:p>
            <a:pPr indent="0" marL="0">
              <a:buNone/>
            </a:pPr>
            <a:r>
              <a:rPr lang="en-US" sz="1400" dirty="0">
                <a:solidFill>
                  <a:srgbClr val="172B4D"/>
                </a:solidFill>
              </a:rPr>
              <a:t>Exposes sequencing risk:</a:t>
            </a:r>
            <a:endParaRPr lang="en-US" sz="1400" dirty="0"/>
          </a:p>
          <a:p>
            <a:pPr indent="0" marL="0">
              <a:buNone/>
            </a:pPr>
            <a:r>
              <a:rPr lang="en-US" sz="1400" dirty="0">
                <a:solidFill>
                  <a:srgbClr val="172B4D"/>
                </a:solidFill>
              </a:rPr>
              <a:t>• KAN-45 (Wrapper) blocks KAN-46 (Auth)</a:t>
            </a:r>
            <a:endParaRPr lang="en-US" sz="1400" dirty="0"/>
          </a:p>
          <a:p>
            <a:pPr indent="0" marL="0">
              <a:buNone/>
            </a:pPr>
            <a:r>
              <a:rPr lang="en-US" sz="1400" dirty="0">
                <a:solidFill>
                  <a:srgbClr val="172B4D"/>
                </a:solidFill>
              </a:rPr>
              <a:t>• KAN-48 (Notifs) blocks KAN-66 (Failure)</a:t>
            </a:r>
            <a:endParaRPr lang="en-US" sz="1400" dirty="0"/>
          </a:p>
        </p:txBody>
      </p:sp>
      <p:sp>
        <p:nvSpPr>
          <p:cNvPr id="5" name="Text 3"/>
          <p:cNvSpPr/>
          <p:nvPr/>
        </p:nvSpPr>
        <p:spPr>
          <a:xfrm>
            <a:off x="5029200" y="1828800"/>
            <a:ext cx="3657600" cy="457200"/>
          </a:xfrm>
          <a:prstGeom prst="rect">
            <a:avLst/>
          </a:prstGeom>
          <a:noFill/>
          <a:ln/>
        </p:spPr>
        <p:txBody>
          <a:bodyPr wrap="square" rtlCol="0" anchor="ctr"/>
          <a:lstStyle/>
          <a:p>
            <a:pPr indent="0" marL="0">
              <a:buNone/>
            </a:pPr>
            <a:r>
              <a:rPr lang="en-US" sz="1800" b="1" dirty="0">
                <a:solidFill>
                  <a:srgbClr val="FF5630"/>
                </a:solidFill>
              </a:rPr>
              <a:t>Bug Management (5 Defects)</a:t>
            </a:r>
            <a:endParaRPr lang="en-US" sz="1800" dirty="0"/>
          </a:p>
        </p:txBody>
      </p:sp>
      <p:sp>
        <p:nvSpPr>
          <p:cNvPr id="6" name="Text 4"/>
          <p:cNvSpPr/>
          <p:nvPr/>
        </p:nvSpPr>
        <p:spPr>
          <a:xfrm>
            <a:off x="5029200" y="2377440"/>
            <a:ext cx="3657600" cy="1371600"/>
          </a:xfrm>
          <a:prstGeom prst="rect">
            <a:avLst/>
          </a:prstGeom>
          <a:noFill/>
          <a:ln/>
        </p:spPr>
        <p:txBody>
          <a:bodyPr wrap="square" rtlCol="0" anchor="ctr"/>
          <a:lstStyle/>
          <a:p>
            <a:pPr indent="0" marL="0">
              <a:buNone/>
            </a:pPr>
            <a:r>
              <a:rPr lang="en-US" sz="1400" dirty="0">
                <a:solidFill>
                  <a:srgbClr val="172B4D"/>
                </a:solidFill>
              </a:rPr>
              <a:t>Bugs are visible backlog items:</a:t>
            </a:r>
            <a:endParaRPr lang="en-US" sz="1400" dirty="0"/>
          </a:p>
          <a:p>
            <a:pPr indent="0" marL="0">
              <a:buNone/>
            </a:pPr>
            <a:r>
              <a:rPr lang="en-US" sz="1400" dirty="0">
                <a:solidFill>
                  <a:srgbClr val="172B4D"/>
                </a:solidFill>
              </a:rPr>
              <a:t>• KAN-64: Streak sync loss</a:t>
            </a:r>
            <a:endParaRPr lang="en-US" sz="1400" dirty="0"/>
          </a:p>
          <a:p>
            <a:pPr indent="0" marL="0">
              <a:buNone/>
            </a:pPr>
            <a:r>
              <a:rPr lang="en-US" sz="1400" dirty="0">
                <a:solidFill>
                  <a:srgbClr val="172B4D"/>
                </a:solidFill>
              </a:rPr>
              <a:t>• KAN-66: FCM delivery failure</a:t>
            </a:r>
            <a:endParaRPr lang="en-US" sz="1400" dirty="0"/>
          </a:p>
          <a:p>
            <a:pPr indent="0" marL="0">
              <a:buNone/>
            </a:pPr>
            <a:r>
              <a:rPr lang="en-US" sz="1400" dirty="0">
                <a:solidFill>
                  <a:srgbClr val="172B4D"/>
                </a:solidFill>
              </a:rPr>
              <a:t>• Flow: Report → Triage → Fix → Retest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914400"/>
            <a:ext cx="8229600" cy="548640"/>
          </a:xfrm>
          <a:prstGeom prst="rect">
            <a:avLst/>
          </a:prstGeom>
          <a:noFill/>
          <a:ln/>
        </p:spPr>
        <p:txBody>
          <a:bodyPr wrap="square" rtlCol="0" anchor="ctr"/>
          <a:lstStyle/>
          <a:p>
            <a:pPr indent="0" marL="0">
              <a:buNone/>
            </a:pPr>
            <a:r>
              <a:rPr lang="en-US" sz="3200" b="1" dirty="0">
                <a:solidFill>
                  <a:srgbClr val="172B4D"/>
                </a:solidFill>
                <a:latin typeface="Arial" pitchFamily="34" charset="0"/>
                <a:ea typeface="Arial" pitchFamily="34" charset="-122"/>
                <a:cs typeface="Arial" pitchFamily="34" charset="-120"/>
              </a:rPr>
              <a:t>Quality Gates: DoR &amp; DoD (KAN-60)</a:t>
            </a:r>
            <a:endParaRPr lang="en-US" sz="3200" dirty="0"/>
          </a:p>
        </p:txBody>
      </p:sp>
      <p:sp>
        <p:nvSpPr>
          <p:cNvPr id="3" name="Shape 1"/>
          <p:cNvSpPr/>
          <p:nvPr/>
        </p:nvSpPr>
        <p:spPr>
          <a:xfrm>
            <a:off x="457200" y="1828800"/>
            <a:ext cx="3840480" cy="3200400"/>
          </a:xfrm>
          <a:prstGeom prst="rect">
            <a:avLst/>
          </a:prstGeom>
          <a:solidFill>
            <a:srgbClr val="F4F5F7"/>
          </a:solidFill>
          <a:ln w="12700">
            <a:solidFill>
              <a:srgbClr val="0052CC"/>
            </a:solidFill>
            <a:prstDash val="solid"/>
          </a:ln>
        </p:spPr>
      </p:sp>
      <p:sp>
        <p:nvSpPr>
          <p:cNvPr id="4" name="Text 2"/>
          <p:cNvSpPr/>
          <p:nvPr/>
        </p:nvSpPr>
        <p:spPr>
          <a:xfrm>
            <a:off x="731520" y="2011680"/>
            <a:ext cx="3291840" cy="457200"/>
          </a:xfrm>
          <a:prstGeom prst="rect">
            <a:avLst/>
          </a:prstGeom>
          <a:noFill/>
          <a:ln/>
        </p:spPr>
        <p:txBody>
          <a:bodyPr wrap="square" rtlCol="0" anchor="ctr"/>
          <a:lstStyle/>
          <a:p>
            <a:pPr indent="0" marL="0">
              <a:buNone/>
            </a:pPr>
            <a:r>
              <a:rPr lang="en-US" sz="2000" b="1" dirty="0">
                <a:solidFill>
                  <a:srgbClr val="0052CC"/>
                </a:solidFill>
              </a:rPr>
              <a:t>Definition of Ready (DoR)</a:t>
            </a:r>
            <a:endParaRPr lang="en-US" sz="2000" dirty="0"/>
          </a:p>
        </p:txBody>
      </p:sp>
      <p:sp>
        <p:nvSpPr>
          <p:cNvPr id="5" name="Text 3"/>
          <p:cNvSpPr/>
          <p:nvPr/>
        </p:nvSpPr>
        <p:spPr>
          <a:xfrm>
            <a:off x="731520" y="2560320"/>
            <a:ext cx="3291840" cy="1828800"/>
          </a:xfrm>
          <a:prstGeom prst="rect">
            <a:avLst/>
          </a:prstGeom>
          <a:noFill/>
          <a:ln/>
        </p:spPr>
        <p:txBody>
          <a:bodyPr wrap="square" rtlCol="0" anchor="ctr"/>
          <a:lstStyle/>
          <a:p>
            <a:pPr indent="0" marL="0">
              <a:buNone/>
            </a:pPr>
            <a:r>
              <a:rPr lang="en-US" sz="1600" dirty="0">
                <a:solidFill>
                  <a:srgbClr val="172B4D"/>
                </a:solidFill>
              </a:rPr>
              <a:t>Protects what enters execution:</a:t>
            </a:r>
            <a:endParaRPr lang="en-US" sz="1600" dirty="0"/>
          </a:p>
          <a:p>
            <a:pPr indent="0" marL="0">
              <a:buNone/>
            </a:pPr>
            <a:r>
              <a:rPr lang="en-US" sz="1600" dirty="0">
                <a:solidFill>
                  <a:srgbClr val="172B4D"/>
                </a:solidFill>
              </a:rPr>
              <a:t>• Clear user outcome</a:t>
            </a:r>
            <a:endParaRPr lang="en-US" sz="1600" dirty="0"/>
          </a:p>
          <a:p>
            <a:pPr indent="0" marL="0">
              <a:buNone/>
            </a:pPr>
            <a:r>
              <a:rPr lang="en-US" sz="1600" dirty="0">
                <a:solidFill>
                  <a:srgbClr val="172B4D"/>
                </a:solidFill>
              </a:rPr>
              <a:t>• Testable criteria</a:t>
            </a:r>
            <a:endParaRPr lang="en-US" sz="1600" dirty="0"/>
          </a:p>
          <a:p>
            <a:pPr indent="0" marL="0">
              <a:buNone/>
            </a:pPr>
            <a:r>
              <a:rPr lang="en-US" sz="1600" dirty="0">
                <a:solidFill>
                  <a:srgbClr val="172B4D"/>
                </a:solidFill>
              </a:rPr>
              <a:t>• Known dependencies</a:t>
            </a:r>
            <a:endParaRPr lang="en-US" sz="1600" dirty="0"/>
          </a:p>
          <a:p>
            <a:pPr indent="0" marL="0">
              <a:buNone/>
            </a:pPr>
            <a:r>
              <a:rPr lang="en-US" sz="1600" dirty="0">
                <a:solidFill>
                  <a:srgbClr val="172B4D"/>
                </a:solidFill>
              </a:rPr>
              <a:t>• Scope sized</a:t>
            </a:r>
            <a:endParaRPr lang="en-US" sz="1600" dirty="0"/>
          </a:p>
        </p:txBody>
      </p:sp>
      <p:sp>
        <p:nvSpPr>
          <p:cNvPr id="6" name="Shape 4"/>
          <p:cNvSpPr/>
          <p:nvPr/>
        </p:nvSpPr>
        <p:spPr>
          <a:xfrm>
            <a:off x="4846320" y="1828800"/>
            <a:ext cx="3840480" cy="3200400"/>
          </a:xfrm>
          <a:prstGeom prst="rect">
            <a:avLst/>
          </a:prstGeom>
          <a:solidFill>
            <a:srgbClr val="E3FCEF"/>
          </a:solidFill>
          <a:ln w="12700">
            <a:solidFill>
              <a:srgbClr val="36B37E"/>
            </a:solidFill>
            <a:prstDash val="solid"/>
          </a:ln>
        </p:spPr>
      </p:sp>
      <p:sp>
        <p:nvSpPr>
          <p:cNvPr id="7" name="Text 5"/>
          <p:cNvSpPr/>
          <p:nvPr/>
        </p:nvSpPr>
        <p:spPr>
          <a:xfrm>
            <a:off x="5120640" y="2011680"/>
            <a:ext cx="3291840" cy="457200"/>
          </a:xfrm>
          <a:prstGeom prst="rect">
            <a:avLst/>
          </a:prstGeom>
          <a:noFill/>
          <a:ln/>
        </p:spPr>
        <p:txBody>
          <a:bodyPr wrap="square" rtlCol="0" anchor="ctr"/>
          <a:lstStyle/>
          <a:p>
            <a:pPr indent="0" marL="0">
              <a:buNone/>
            </a:pPr>
            <a:r>
              <a:rPr lang="en-US" sz="2000" b="1" dirty="0">
                <a:solidFill>
                  <a:srgbClr val="36B37E"/>
                </a:solidFill>
              </a:rPr>
              <a:t>Definition of Done (DoD)</a:t>
            </a:r>
            <a:endParaRPr lang="en-US" sz="2000" dirty="0"/>
          </a:p>
        </p:txBody>
      </p:sp>
      <p:sp>
        <p:nvSpPr>
          <p:cNvPr id="8" name="Text 6"/>
          <p:cNvSpPr/>
          <p:nvPr/>
        </p:nvSpPr>
        <p:spPr>
          <a:xfrm>
            <a:off x="5120640" y="2560320"/>
            <a:ext cx="3291840" cy="1828800"/>
          </a:xfrm>
          <a:prstGeom prst="rect">
            <a:avLst/>
          </a:prstGeom>
          <a:noFill/>
          <a:ln/>
        </p:spPr>
        <p:txBody>
          <a:bodyPr wrap="square" rtlCol="0" anchor="ctr"/>
          <a:lstStyle/>
          <a:p>
            <a:pPr indent="0" marL="0">
              <a:buNone/>
            </a:pPr>
            <a:r>
              <a:rPr lang="en-US" sz="1600" dirty="0">
                <a:solidFill>
                  <a:srgbClr val="172B4D"/>
                </a:solidFill>
              </a:rPr>
              <a:t>Protects what leaves execution:</a:t>
            </a:r>
            <a:endParaRPr lang="en-US" sz="1600" dirty="0"/>
          </a:p>
          <a:p>
            <a:pPr indent="0" marL="0">
              <a:buNone/>
            </a:pPr>
            <a:r>
              <a:rPr lang="en-US" sz="1600" dirty="0">
                <a:solidFill>
                  <a:srgbClr val="172B4D"/>
                </a:solidFill>
              </a:rPr>
              <a:t>• Implemented &amp; Tested</a:t>
            </a:r>
            <a:endParaRPr lang="en-US" sz="1600" dirty="0"/>
          </a:p>
          <a:p>
            <a:pPr indent="0" marL="0">
              <a:buNone/>
            </a:pPr>
            <a:r>
              <a:rPr lang="en-US" sz="1600" dirty="0">
                <a:solidFill>
                  <a:srgbClr val="172B4D"/>
                </a:solidFill>
              </a:rPr>
              <a:t>• Acceptance criteria met</a:t>
            </a:r>
            <a:endParaRPr lang="en-US" sz="1600" dirty="0"/>
          </a:p>
          <a:p>
            <a:pPr indent="0" marL="0">
              <a:buNone/>
            </a:pPr>
            <a:r>
              <a:rPr lang="en-US" sz="1600" dirty="0">
                <a:solidFill>
                  <a:srgbClr val="172B4D"/>
                </a:solidFill>
              </a:rPr>
              <a:t>• Peer reviewed</a:t>
            </a:r>
            <a:endParaRPr lang="en-US" sz="1600" dirty="0"/>
          </a:p>
          <a:p>
            <a:pPr indent="0" marL="0">
              <a:buNone/>
            </a:pPr>
            <a:r>
              <a:rPr lang="en-US" sz="1600" dirty="0">
                <a:solidFill>
                  <a:srgbClr val="172B4D"/>
                </a:solidFill>
              </a:rPr>
              <a:t>• Documented</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914400"/>
            <a:ext cx="8229600" cy="548640"/>
          </a:xfrm>
          <a:prstGeom prst="rect">
            <a:avLst/>
          </a:prstGeom>
          <a:noFill/>
          <a:ln/>
        </p:spPr>
        <p:txBody>
          <a:bodyPr wrap="square" rtlCol="0" anchor="ctr"/>
          <a:lstStyle/>
          <a:p>
            <a:pPr indent="0" marL="0">
              <a:buNone/>
            </a:pPr>
            <a:r>
              <a:rPr lang="en-US" sz="3200" b="1" dirty="0">
                <a:solidFill>
                  <a:srgbClr val="172B4D"/>
                </a:solidFill>
                <a:latin typeface="Arial" pitchFamily="34" charset="0"/>
                <a:ea typeface="Arial" pitchFamily="34" charset="-122"/>
                <a:cs typeface="Arial" pitchFamily="34" charset="-120"/>
              </a:rPr>
              <a:t>Methodology Lenses in Jira</a:t>
            </a:r>
            <a:endParaRPr lang="en-US" sz="3200" dirty="0"/>
          </a:p>
        </p:txBody>
      </p:sp>
      <p:sp>
        <p:nvSpPr>
          <p:cNvPr id="3" name="Text 1"/>
          <p:cNvSpPr/>
          <p:nvPr/>
        </p:nvSpPr>
        <p:spPr>
          <a:xfrm>
            <a:off x="457200" y="1828800"/>
            <a:ext cx="3657600" cy="457200"/>
          </a:xfrm>
          <a:prstGeom prst="rect">
            <a:avLst/>
          </a:prstGeom>
          <a:noFill/>
          <a:ln/>
        </p:spPr>
        <p:txBody>
          <a:bodyPr wrap="square" rtlCol="0" anchor="ctr"/>
          <a:lstStyle/>
          <a:p>
            <a:pPr indent="0" marL="0">
              <a:buNone/>
            </a:pPr>
            <a:r>
              <a:rPr lang="en-US" sz="1800" b="1" dirty="0">
                <a:solidFill>
                  <a:srgbClr val="0052CC"/>
                </a:solidFill>
              </a:rPr>
              <a:t>SCRUM = Governance &amp; Planning</a:t>
            </a:r>
            <a:endParaRPr lang="en-US" sz="1800" dirty="0"/>
          </a:p>
        </p:txBody>
      </p:sp>
      <p:sp>
        <p:nvSpPr>
          <p:cNvPr id="4" name="Text 2"/>
          <p:cNvSpPr/>
          <p:nvPr/>
        </p:nvSpPr>
        <p:spPr>
          <a:xfrm>
            <a:off x="457200" y="2377440"/>
            <a:ext cx="3657600" cy="1371600"/>
          </a:xfrm>
          <a:prstGeom prst="rect">
            <a:avLst/>
          </a:prstGeom>
          <a:noFill/>
          <a:ln/>
        </p:spPr>
        <p:txBody>
          <a:bodyPr wrap="square" rtlCol="0" anchor="ctr"/>
          <a:lstStyle/>
          <a:p>
            <a:pPr indent="0" marL="0">
              <a:buNone/>
            </a:pPr>
            <a:r>
              <a:rPr lang="en-US" sz="1400" dirty="0">
                <a:solidFill>
                  <a:srgbClr val="172B4D"/>
                </a:solidFill>
              </a:rPr>
              <a:t>Mapped to Jira Stories (KAN-55 to KAN-63):</a:t>
            </a:r>
            <a:endParaRPr lang="en-US" sz="1400" dirty="0"/>
          </a:p>
          <a:p>
            <a:pPr indent="0" marL="0">
              <a:buNone/>
            </a:pPr>
            <a:r>
              <a:rPr lang="en-US" sz="1400" dirty="0">
                <a:solidFill>
                  <a:srgbClr val="172B4D"/>
                </a:solidFill>
              </a:rPr>
              <a:t>• Backlog Refinement</a:t>
            </a:r>
            <a:endParaRPr lang="en-US" sz="1400" dirty="0"/>
          </a:p>
          <a:p>
            <a:pPr indent="0" marL="0">
              <a:buNone/>
            </a:pPr>
            <a:r>
              <a:rPr lang="en-US" sz="1400" dirty="0">
                <a:solidFill>
                  <a:srgbClr val="172B4D"/>
                </a:solidFill>
              </a:rPr>
              <a:t>• Sprint Planning &amp; Ceremonies</a:t>
            </a:r>
            <a:endParaRPr lang="en-US" sz="1400" dirty="0"/>
          </a:p>
          <a:p>
            <a:pPr indent="0" marL="0">
              <a:buNone/>
            </a:pPr>
            <a:r>
              <a:rPr lang="en-US" sz="1400" dirty="0">
                <a:solidFill>
                  <a:srgbClr val="172B4D"/>
                </a:solidFill>
              </a:rPr>
              <a:t>* Documents the intended operating model.</a:t>
            </a:r>
            <a:endParaRPr lang="en-US" sz="1400" dirty="0"/>
          </a:p>
        </p:txBody>
      </p:sp>
      <p:sp>
        <p:nvSpPr>
          <p:cNvPr id="5" name="Text 3"/>
          <p:cNvSpPr/>
          <p:nvPr/>
        </p:nvSpPr>
        <p:spPr>
          <a:xfrm>
            <a:off x="5029200" y="1828800"/>
            <a:ext cx="3657600" cy="457200"/>
          </a:xfrm>
          <a:prstGeom prst="rect">
            <a:avLst/>
          </a:prstGeom>
          <a:noFill/>
          <a:ln/>
        </p:spPr>
        <p:txBody>
          <a:bodyPr wrap="square" rtlCol="0" anchor="ctr"/>
          <a:lstStyle/>
          <a:p>
            <a:pPr indent="0" marL="0">
              <a:buNone/>
            </a:pPr>
            <a:r>
              <a:rPr lang="en-US" sz="1800" b="1" dirty="0">
                <a:solidFill>
                  <a:srgbClr val="00B8D9"/>
                </a:solidFill>
              </a:rPr>
              <a:t>KANBAN = Operational Flow</a:t>
            </a:r>
            <a:endParaRPr lang="en-US" sz="1800" dirty="0"/>
          </a:p>
        </p:txBody>
      </p:sp>
      <p:sp>
        <p:nvSpPr>
          <p:cNvPr id="6" name="Text 4"/>
          <p:cNvSpPr/>
          <p:nvPr/>
        </p:nvSpPr>
        <p:spPr>
          <a:xfrm>
            <a:off x="5029200" y="2377440"/>
            <a:ext cx="3657600" cy="1371600"/>
          </a:xfrm>
          <a:prstGeom prst="rect">
            <a:avLst/>
          </a:prstGeom>
          <a:noFill/>
          <a:ln/>
        </p:spPr>
        <p:txBody>
          <a:bodyPr wrap="square" rtlCol="0" anchor="ctr"/>
          <a:lstStyle/>
          <a:p>
            <a:pPr indent="0" marL="0">
              <a:buNone/>
            </a:pPr>
            <a:r>
              <a:rPr lang="en-US" sz="1400" dirty="0">
                <a:solidFill>
                  <a:srgbClr val="172B4D"/>
                </a:solidFill>
              </a:rPr>
              <a:t>The strongest direct fit for the board:</a:t>
            </a:r>
            <a:endParaRPr lang="en-US" sz="1400" dirty="0"/>
          </a:p>
          <a:p>
            <a:pPr indent="0" marL="0">
              <a:buNone/>
            </a:pPr>
            <a:r>
              <a:rPr lang="en-US" sz="1400" dirty="0">
                <a:solidFill>
                  <a:srgbClr val="172B4D"/>
                </a:solidFill>
              </a:rPr>
              <a:t>• Visible work states</a:t>
            </a:r>
            <a:endParaRPr lang="en-US" sz="1400" dirty="0"/>
          </a:p>
          <a:p>
            <a:pPr indent="0" marL="0">
              <a:buNone/>
            </a:pPr>
            <a:r>
              <a:rPr lang="en-US" sz="1400" dirty="0">
                <a:solidFill>
                  <a:srgbClr val="172B4D"/>
                </a:solidFill>
              </a:rPr>
              <a:t>• WIP Monitoring</a:t>
            </a:r>
            <a:endParaRPr lang="en-US" sz="1400" dirty="0"/>
          </a:p>
          <a:p>
            <a:pPr indent="0" marL="0">
              <a:buNone/>
            </a:pPr>
            <a:r>
              <a:rPr lang="en-US" sz="1400" dirty="0">
                <a:solidFill>
                  <a:srgbClr val="172B4D"/>
                </a:solidFill>
              </a:rPr>
              <a:t>• Continuous pull system</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914400"/>
            <a:ext cx="8229600" cy="548640"/>
          </a:xfrm>
          <a:prstGeom prst="rect">
            <a:avLst/>
          </a:prstGeom>
          <a:noFill/>
          <a:ln/>
        </p:spPr>
        <p:txBody>
          <a:bodyPr wrap="square" rtlCol="0" anchor="ctr"/>
          <a:lstStyle/>
          <a:p>
            <a:pPr indent="0" marL="0">
              <a:buNone/>
            </a:pPr>
            <a:r>
              <a:rPr lang="en-US" sz="3200" b="1" dirty="0">
                <a:solidFill>
                  <a:srgbClr val="172B4D"/>
                </a:solidFill>
                <a:latin typeface="Arial" pitchFamily="34" charset="0"/>
                <a:ea typeface="Arial" pitchFamily="34" charset="-122"/>
                <a:cs typeface="Arial" pitchFamily="34" charset="-120"/>
              </a:rPr>
              <a:t>Methodology Lenses: XP &amp; Lean</a:t>
            </a:r>
            <a:endParaRPr lang="en-US" sz="3200" dirty="0"/>
          </a:p>
        </p:txBody>
      </p:sp>
      <p:sp>
        <p:nvSpPr>
          <p:cNvPr id="3" name="Text 1"/>
          <p:cNvSpPr/>
          <p:nvPr/>
        </p:nvSpPr>
        <p:spPr>
          <a:xfrm>
            <a:off x="457200" y="1828800"/>
            <a:ext cx="3657600" cy="457200"/>
          </a:xfrm>
          <a:prstGeom prst="rect">
            <a:avLst/>
          </a:prstGeom>
          <a:noFill/>
          <a:ln/>
        </p:spPr>
        <p:txBody>
          <a:bodyPr wrap="square" rtlCol="0" anchor="ctr"/>
          <a:lstStyle/>
          <a:p>
            <a:pPr indent="0" marL="0">
              <a:buNone/>
            </a:pPr>
            <a:r>
              <a:rPr lang="en-US" sz="1800" b="1" dirty="0">
                <a:solidFill>
                  <a:srgbClr val="5243AA"/>
                </a:solidFill>
              </a:rPr>
              <a:t>EXTREME PROGRAMMING (XP)</a:t>
            </a:r>
            <a:endParaRPr lang="en-US" sz="1800" dirty="0"/>
          </a:p>
        </p:txBody>
      </p:sp>
      <p:sp>
        <p:nvSpPr>
          <p:cNvPr id="4" name="Text 2"/>
          <p:cNvSpPr/>
          <p:nvPr/>
        </p:nvSpPr>
        <p:spPr>
          <a:xfrm>
            <a:off x="457200" y="2377440"/>
            <a:ext cx="3657600" cy="1371600"/>
          </a:xfrm>
          <a:prstGeom prst="rect">
            <a:avLst/>
          </a:prstGeom>
          <a:noFill/>
          <a:ln/>
        </p:spPr>
        <p:txBody>
          <a:bodyPr wrap="square" rtlCol="0" anchor="ctr"/>
          <a:lstStyle/>
          <a:p>
            <a:pPr indent="0" marL="0">
              <a:buNone/>
            </a:pPr>
            <a:r>
              <a:rPr lang="en-US" sz="1400" dirty="0">
                <a:solidFill>
                  <a:srgbClr val="172B4D"/>
                </a:solidFill>
              </a:rPr>
              <a:t>Focuses on Engineering Quality:</a:t>
            </a:r>
            <a:endParaRPr lang="en-US" sz="1400" dirty="0"/>
          </a:p>
          <a:p>
            <a:pPr indent="0" marL="0">
              <a:buNone/>
            </a:pPr>
            <a:r>
              <a:rPr lang="en-US" sz="1400" dirty="0">
                <a:solidFill>
                  <a:srgbClr val="172B4D"/>
                </a:solidFill>
              </a:rPr>
              <a:t>• KAN-52: Automated Testing</a:t>
            </a:r>
            <a:endParaRPr lang="en-US" sz="1400" dirty="0"/>
          </a:p>
          <a:p>
            <a:pPr indent="0" marL="0">
              <a:buNone/>
            </a:pPr>
            <a:r>
              <a:rPr lang="en-US" sz="1400" dirty="0">
                <a:solidFill>
                  <a:srgbClr val="172B4D"/>
                </a:solidFill>
              </a:rPr>
              <a:t>• KAN-53: CI/CD Pipeline</a:t>
            </a:r>
            <a:endParaRPr lang="en-US" sz="1400" dirty="0"/>
          </a:p>
          <a:p>
            <a:pPr indent="0" marL="0">
              <a:buNone/>
            </a:pPr>
            <a:r>
              <a:rPr lang="en-US" sz="1400" dirty="0">
                <a:solidFill>
                  <a:srgbClr val="172B4D"/>
                </a:solidFill>
              </a:rPr>
              <a:t>• Small increments &amp; fast feedback</a:t>
            </a:r>
            <a:endParaRPr lang="en-US" sz="1400" dirty="0"/>
          </a:p>
        </p:txBody>
      </p:sp>
      <p:sp>
        <p:nvSpPr>
          <p:cNvPr id="5" name="Text 3"/>
          <p:cNvSpPr/>
          <p:nvPr/>
        </p:nvSpPr>
        <p:spPr>
          <a:xfrm>
            <a:off x="5029200" y="1828800"/>
            <a:ext cx="3657600" cy="457200"/>
          </a:xfrm>
          <a:prstGeom prst="rect">
            <a:avLst/>
          </a:prstGeom>
          <a:noFill/>
          <a:ln/>
        </p:spPr>
        <p:txBody>
          <a:bodyPr wrap="square" rtlCol="0" anchor="ctr"/>
          <a:lstStyle/>
          <a:p>
            <a:pPr indent="0" marL="0">
              <a:buNone/>
            </a:pPr>
            <a:r>
              <a:rPr lang="en-US" sz="1800" b="1" dirty="0">
                <a:solidFill>
                  <a:srgbClr val="FF8B00"/>
                </a:solidFill>
              </a:rPr>
              <a:t>LEAN PRINCIPLES</a:t>
            </a:r>
            <a:endParaRPr lang="en-US" sz="1800" dirty="0"/>
          </a:p>
        </p:txBody>
      </p:sp>
      <p:sp>
        <p:nvSpPr>
          <p:cNvPr id="6" name="Text 4"/>
          <p:cNvSpPr/>
          <p:nvPr/>
        </p:nvSpPr>
        <p:spPr>
          <a:xfrm>
            <a:off x="5029200" y="2377440"/>
            <a:ext cx="3657600" cy="1371600"/>
          </a:xfrm>
          <a:prstGeom prst="rect">
            <a:avLst/>
          </a:prstGeom>
          <a:noFill/>
          <a:ln/>
        </p:spPr>
        <p:txBody>
          <a:bodyPr wrap="square" rtlCol="0" anchor="ctr"/>
          <a:lstStyle/>
          <a:p>
            <a:pPr indent="0" marL="0">
              <a:buNone/>
            </a:pPr>
            <a:r>
              <a:rPr lang="en-US" sz="1400" dirty="0">
                <a:solidFill>
                  <a:srgbClr val="172B4D"/>
                </a:solidFill>
              </a:rPr>
              <a:t>Focuses on System Optimization:</a:t>
            </a:r>
            <a:endParaRPr lang="en-US" sz="1400" dirty="0"/>
          </a:p>
          <a:p>
            <a:pPr indent="0" marL="0">
              <a:buNone/>
            </a:pPr>
            <a:r>
              <a:rPr lang="en-US" sz="1400" dirty="0">
                <a:solidFill>
                  <a:srgbClr val="172B4D"/>
                </a:solidFill>
              </a:rPr>
              <a:t>• Waste Reduction (avoid blocked work)</a:t>
            </a:r>
            <a:endParaRPr lang="en-US" sz="1400" dirty="0"/>
          </a:p>
          <a:p>
            <a:pPr indent="0" marL="0">
              <a:buNone/>
            </a:pPr>
            <a:r>
              <a:rPr lang="en-US" sz="1400" dirty="0">
                <a:solidFill>
                  <a:srgbClr val="172B4D"/>
                </a:solidFill>
              </a:rPr>
              <a:t>• Visualizing flow bottlenecks</a:t>
            </a:r>
            <a:endParaRPr lang="en-US" sz="1400" dirty="0"/>
          </a:p>
          <a:p>
            <a:pPr indent="0" marL="0">
              <a:buNone/>
            </a:pPr>
            <a:r>
              <a:rPr lang="en-US" sz="1400" dirty="0">
                <a:solidFill>
                  <a:srgbClr val="172B4D"/>
                </a:solidFill>
              </a:rPr>
              <a:t>• KAN-63: Continuous Improvement Metrics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914400"/>
            <a:ext cx="8229600" cy="548640"/>
          </a:xfrm>
          <a:prstGeom prst="rect">
            <a:avLst/>
          </a:prstGeom>
          <a:noFill/>
          <a:ln/>
        </p:spPr>
        <p:txBody>
          <a:bodyPr wrap="square" rtlCol="0" anchor="ctr"/>
          <a:lstStyle/>
          <a:p>
            <a:pPr indent="0" marL="0">
              <a:buNone/>
            </a:pPr>
            <a:r>
              <a:rPr lang="en-US" sz="3200" b="1" dirty="0">
                <a:solidFill>
                  <a:srgbClr val="172B4D"/>
                </a:solidFill>
                <a:latin typeface="Arial" pitchFamily="34" charset="0"/>
                <a:ea typeface="Arial" pitchFamily="34" charset="-122"/>
                <a:cs typeface="Arial" pitchFamily="34" charset="-120"/>
              </a:rPr>
              <a:t>Limitations &amp; Future State</a:t>
            </a:r>
            <a:endParaRPr lang="en-US" sz="3200" dirty="0"/>
          </a:p>
        </p:txBody>
      </p:sp>
      <p:sp>
        <p:nvSpPr>
          <p:cNvPr id="3" name="Shape 1"/>
          <p:cNvSpPr/>
          <p:nvPr/>
        </p:nvSpPr>
        <p:spPr>
          <a:xfrm>
            <a:off x="457200" y="1828800"/>
            <a:ext cx="3657600" cy="2743200"/>
          </a:xfrm>
          <a:prstGeom prst="rect">
            <a:avLst/>
          </a:prstGeom>
          <a:solidFill>
            <a:srgbClr val="F4F5F7"/>
          </a:solidFill>
          <a:ln/>
        </p:spPr>
      </p:sp>
      <p:sp>
        <p:nvSpPr>
          <p:cNvPr id="4" name="Text 2"/>
          <p:cNvSpPr/>
          <p:nvPr/>
        </p:nvSpPr>
        <p:spPr>
          <a:xfrm>
            <a:off x="731520" y="2011680"/>
            <a:ext cx="3108960" cy="457200"/>
          </a:xfrm>
          <a:prstGeom prst="rect">
            <a:avLst/>
          </a:prstGeom>
          <a:noFill/>
          <a:ln/>
        </p:spPr>
        <p:txBody>
          <a:bodyPr wrap="square" rtlCol="0" anchor="ctr"/>
          <a:lstStyle/>
          <a:p>
            <a:pPr indent="0" marL="0">
              <a:buNone/>
            </a:pPr>
            <a:r>
              <a:rPr lang="en-US" sz="1600" b="1" dirty="0">
                <a:solidFill>
                  <a:srgbClr val="5E6C84"/>
                </a:solidFill>
              </a:rPr>
              <a:t>CURRENT STATE</a:t>
            </a:r>
            <a:endParaRPr lang="en-US" sz="1600" dirty="0"/>
          </a:p>
        </p:txBody>
      </p:sp>
      <p:sp>
        <p:nvSpPr>
          <p:cNvPr id="5" name="Text 3"/>
          <p:cNvSpPr/>
          <p:nvPr/>
        </p:nvSpPr>
        <p:spPr>
          <a:xfrm>
            <a:off x="731520" y="2560320"/>
            <a:ext cx="3108960" cy="1828800"/>
          </a:xfrm>
          <a:prstGeom prst="rect">
            <a:avLst/>
          </a:prstGeom>
          <a:noFill/>
          <a:ln/>
        </p:spPr>
        <p:txBody>
          <a:bodyPr wrap="square" rtlCol="0" anchor="ctr"/>
          <a:lstStyle/>
          <a:p>
            <a:pPr indent="0" marL="0">
              <a:buNone/>
            </a:pPr>
            <a:r>
              <a:rPr lang="en-US" sz="1400" dirty="0">
                <a:solidFill>
                  <a:srgbClr val="172B4D"/>
                </a:solidFill>
              </a:rPr>
              <a:t>• Team-managed Jira board</a:t>
            </a:r>
            <a:endParaRPr lang="en-US" sz="1400" dirty="0"/>
          </a:p>
          <a:p>
            <a:pPr indent="0" marL="0">
              <a:buNone/>
            </a:pPr>
            <a:r>
              <a:rPr lang="en-US" sz="1400" dirty="0">
                <a:solidFill>
                  <a:srgbClr val="172B4D"/>
                </a:solidFill>
              </a:rPr>
              <a:t>• Flow-based workflow</a:t>
            </a:r>
            <a:endParaRPr lang="en-US" sz="1400" dirty="0"/>
          </a:p>
          <a:p>
            <a:pPr indent="0" marL="0">
              <a:buNone/>
            </a:pPr>
            <a:r>
              <a:rPr lang="en-US" sz="1400" dirty="0">
                <a:solidFill>
                  <a:srgbClr val="172B4D"/>
                </a:solidFill>
              </a:rPr>
              <a:t>• Documented Scrum governance</a:t>
            </a:r>
            <a:endParaRPr lang="en-US" sz="1400" dirty="0"/>
          </a:p>
          <a:p>
            <a:pPr indent="0" marL="0">
              <a:buNone/>
            </a:pPr>
            <a:r>
              <a:rPr lang="en-US" sz="1400" dirty="0">
                <a:solidFill>
                  <a:srgbClr val="172B4D"/>
                </a:solidFill>
              </a:rPr>
              <a:t>• No native Sprint history</a:t>
            </a:r>
            <a:endParaRPr lang="en-US" sz="1400" dirty="0"/>
          </a:p>
          <a:p>
            <a:pPr indent="0" marL="0">
              <a:buNone/>
            </a:pPr>
            <a:r>
              <a:rPr lang="en-US" sz="1400" dirty="0">
                <a:solidFill>
                  <a:srgbClr val="172B4D"/>
                </a:solidFill>
              </a:rPr>
              <a:t>• No native Story Points field</a:t>
            </a:r>
            <a:endParaRPr lang="en-US" sz="1400" dirty="0"/>
          </a:p>
        </p:txBody>
      </p:sp>
      <p:sp>
        <p:nvSpPr>
          <p:cNvPr id="6" name="Shape 4"/>
          <p:cNvSpPr/>
          <p:nvPr/>
        </p:nvSpPr>
        <p:spPr>
          <a:xfrm>
            <a:off x="4206240" y="2926080"/>
            <a:ext cx="731520" cy="548640"/>
          </a:xfrm>
          <a:prstGeom prst="rightArrow">
            <a:avLst/>
          </a:prstGeom>
          <a:solidFill>
            <a:srgbClr val="36B37E"/>
          </a:solidFill>
          <a:ln/>
        </p:spPr>
      </p:sp>
      <p:sp>
        <p:nvSpPr>
          <p:cNvPr id="7" name="Shape 5"/>
          <p:cNvSpPr/>
          <p:nvPr/>
        </p:nvSpPr>
        <p:spPr>
          <a:xfrm>
            <a:off x="5029200" y="1828800"/>
            <a:ext cx="3657600" cy="2743200"/>
          </a:xfrm>
          <a:prstGeom prst="rect">
            <a:avLst/>
          </a:prstGeom>
          <a:solidFill>
            <a:srgbClr val="E3FCEF"/>
          </a:solidFill>
          <a:ln/>
        </p:spPr>
      </p:sp>
      <p:sp>
        <p:nvSpPr>
          <p:cNvPr id="8" name="Text 6"/>
          <p:cNvSpPr/>
          <p:nvPr/>
        </p:nvSpPr>
        <p:spPr>
          <a:xfrm>
            <a:off x="5303520" y="2011680"/>
            <a:ext cx="3108960" cy="457200"/>
          </a:xfrm>
          <a:prstGeom prst="rect">
            <a:avLst/>
          </a:prstGeom>
          <a:noFill/>
          <a:ln/>
        </p:spPr>
        <p:txBody>
          <a:bodyPr wrap="square" rtlCol="0" anchor="ctr"/>
          <a:lstStyle/>
          <a:p>
            <a:pPr indent="0" marL="0">
              <a:buNone/>
            </a:pPr>
            <a:r>
              <a:rPr lang="en-US" sz="1600" b="1" dirty="0">
                <a:solidFill>
                  <a:srgbClr val="36B37E"/>
                </a:solidFill>
              </a:rPr>
              <a:t>FUTURE STATE MATURITY</a:t>
            </a:r>
            <a:endParaRPr lang="en-US" sz="1600" dirty="0"/>
          </a:p>
        </p:txBody>
      </p:sp>
      <p:sp>
        <p:nvSpPr>
          <p:cNvPr id="9" name="Text 7"/>
          <p:cNvSpPr/>
          <p:nvPr/>
        </p:nvSpPr>
        <p:spPr>
          <a:xfrm>
            <a:off x="5303520" y="2560320"/>
            <a:ext cx="3108960" cy="1828800"/>
          </a:xfrm>
          <a:prstGeom prst="rect">
            <a:avLst/>
          </a:prstGeom>
          <a:noFill/>
          <a:ln/>
        </p:spPr>
        <p:txBody>
          <a:bodyPr wrap="square" rtlCol="0" anchor="ctr"/>
          <a:lstStyle/>
          <a:p>
            <a:pPr indent="0" marL="0">
              <a:buNone/>
            </a:pPr>
            <a:r>
              <a:rPr lang="en-US" sz="1400" dirty="0">
                <a:solidFill>
                  <a:srgbClr val="172B4D"/>
                </a:solidFill>
              </a:rPr>
              <a:t>• Scrum-capable project configuration</a:t>
            </a:r>
            <a:endParaRPr lang="en-US" sz="1400" dirty="0"/>
          </a:p>
          <a:p>
            <a:pPr indent="0" marL="0">
              <a:buNone/>
            </a:pPr>
            <a:r>
              <a:rPr lang="en-US" sz="1400" dirty="0">
                <a:solidFill>
                  <a:srgbClr val="172B4D"/>
                </a:solidFill>
              </a:rPr>
              <a:t>• Native Sprint execution</a:t>
            </a:r>
            <a:endParaRPr lang="en-US" sz="1400" dirty="0"/>
          </a:p>
          <a:p>
            <a:pPr indent="0" marL="0">
              <a:buNone/>
            </a:pPr>
            <a:r>
              <a:rPr lang="en-US" sz="1400" dirty="0">
                <a:solidFill>
                  <a:srgbClr val="172B4D"/>
                </a:solidFill>
              </a:rPr>
              <a:t>• Native Story Points fields</a:t>
            </a:r>
            <a:endParaRPr lang="en-US" sz="1400" dirty="0"/>
          </a:p>
          <a:p>
            <a:pPr indent="0" marL="0">
              <a:buNone/>
            </a:pPr>
            <a:r>
              <a:rPr lang="en-US" sz="1400" dirty="0">
                <a:solidFill>
                  <a:srgbClr val="172B4D"/>
                </a:solidFill>
              </a:rPr>
              <a:t>• Historical velocity reporting</a:t>
            </a:r>
            <a:endParaRPr lang="en-US" sz="1400" dirty="0"/>
          </a:p>
          <a:p>
            <a:pPr indent="0" marL="0">
              <a:buNone/>
            </a:pPr>
            <a:r>
              <a:rPr lang="en-US" sz="1400" dirty="0">
                <a:solidFill>
                  <a:srgbClr val="172B4D"/>
                </a:solidFill>
              </a:rPr>
              <a:t>• Actual ceremony records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914400"/>
            <a:ext cx="8229600" cy="548640"/>
          </a:xfrm>
          <a:prstGeom prst="rect">
            <a:avLst/>
          </a:prstGeom>
          <a:noFill/>
          <a:ln/>
        </p:spPr>
        <p:txBody>
          <a:bodyPr wrap="square" rtlCol="0" anchor="ctr"/>
          <a:lstStyle/>
          <a:p>
            <a:pPr indent="0" marL="0">
              <a:buNone/>
            </a:pPr>
            <a:r>
              <a:rPr lang="en-US" sz="3200" b="1" dirty="0">
                <a:solidFill>
                  <a:srgbClr val="172B4D"/>
                </a:solidFill>
                <a:latin typeface="Arial" pitchFamily="34" charset="0"/>
                <a:ea typeface="Arial" pitchFamily="34" charset="-122"/>
                <a:cs typeface="Arial" pitchFamily="34" charset="-120"/>
              </a:rPr>
              <a:t>Conclusion: A Managed Agile System</a:t>
            </a:r>
            <a:endParaRPr lang="en-US" sz="3200" dirty="0"/>
          </a:p>
        </p:txBody>
      </p:sp>
      <p:sp>
        <p:nvSpPr>
          <p:cNvPr id="3" name="Shape 1"/>
          <p:cNvSpPr/>
          <p:nvPr/>
        </p:nvSpPr>
        <p:spPr>
          <a:xfrm>
            <a:off x="914400" y="2286000"/>
            <a:ext cx="7315200" cy="1371600"/>
          </a:xfrm>
          <a:prstGeom prst="rect">
            <a:avLst/>
          </a:prstGeom>
          <a:solidFill>
            <a:srgbClr val="0052CC"/>
          </a:solidFill>
          <a:ln/>
        </p:spPr>
      </p:sp>
      <p:sp>
        <p:nvSpPr>
          <p:cNvPr id="4" name="Text 2"/>
          <p:cNvSpPr/>
          <p:nvPr/>
        </p:nvSpPr>
        <p:spPr>
          <a:xfrm>
            <a:off x="914400" y="2286000"/>
            <a:ext cx="7315200" cy="1371600"/>
          </a:xfrm>
          <a:prstGeom prst="rect">
            <a:avLst/>
          </a:prstGeom>
          <a:noFill/>
          <a:ln/>
        </p:spPr>
        <p:txBody>
          <a:bodyPr wrap="square" rtlCol="0" anchor="ctr"/>
          <a:lstStyle/>
          <a:p>
            <a:pPr algn="ctr" indent="0" marL="0">
              <a:buNone/>
            </a:pPr>
            <a:r>
              <a:rPr lang="en-US" sz="2400" b="1" dirty="0">
                <a:solidFill>
                  <a:srgbClr val="FFFFFF"/>
                </a:solidFill>
              </a:rPr>
              <a:t>ALUMNEX CONNECT = PRODUCT</a:t>
            </a:r>
            <a:endParaRPr lang="en-US" sz="2400" dirty="0"/>
          </a:p>
          <a:p>
            <a:pPr algn="ctr" indent="0" marL="0">
              <a:buNone/>
            </a:pPr>
            <a:endParaRPr lang="en-US" sz="2400" dirty="0"/>
          </a:p>
          <a:p>
            <a:pPr algn="ctr" indent="0" marL="0">
              <a:buNone/>
            </a:pPr>
            <a:r>
              <a:rPr lang="en-US" sz="2400" b="1" dirty="0">
                <a:solidFill>
                  <a:srgbClr val="FFFFFF"/>
                </a:solidFill>
              </a:rPr>
              <a:t>JIRA = EXECUTION</a:t>
            </a:r>
            <a:endParaRPr lang="en-US" sz="2400" dirty="0"/>
          </a:p>
          <a:p>
            <a:pPr algn="ctr" indent="0" marL="0">
              <a:buNone/>
            </a:pPr>
            <a:endParaRPr lang="en-US" sz="2400" dirty="0"/>
          </a:p>
          <a:p>
            <a:pPr algn="ctr" indent="0" marL="0">
              <a:buNone/>
            </a:pPr>
            <a:r>
              <a:rPr lang="en-US" sz="2400" b="1" dirty="0">
                <a:solidFill>
                  <a:srgbClr val="FFFFFF"/>
                </a:solidFill>
              </a:rPr>
              <a:t>AGILE = DELIVERY SYSTEM</a:t>
            </a:r>
            <a:endParaRPr lang="en-US" sz="2400" dirty="0"/>
          </a:p>
        </p:txBody>
      </p:sp>
      <p:sp>
        <p:nvSpPr>
          <p:cNvPr id="5" name="Text 3"/>
          <p:cNvSpPr/>
          <p:nvPr/>
        </p:nvSpPr>
        <p:spPr>
          <a:xfrm>
            <a:off x="914400" y="4114800"/>
            <a:ext cx="7315200" cy="1371600"/>
          </a:xfrm>
          <a:prstGeom prst="rect">
            <a:avLst/>
          </a:prstGeom>
          <a:noFill/>
          <a:ln/>
        </p:spPr>
        <p:txBody>
          <a:bodyPr wrap="square" rtlCol="0" anchor="ctr"/>
          <a:lstStyle/>
          <a:p>
            <a:pPr algn="ctr" indent="0" marL="0">
              <a:buNone/>
            </a:pPr>
            <a:r>
              <a:rPr lang="en-US" sz="2000" i="1" dirty="0">
                <a:solidFill>
                  <a:srgbClr val="172B4D"/>
                </a:solidFill>
              </a:rPr>
              <a:t>"Alumnex Connect demonstrates how Agile principles can be translated into traceable software project-management practices through Jira, supported by Confluence."</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914400" y="2286000"/>
            <a:ext cx="7315200" cy="914400"/>
          </a:xfrm>
          <a:prstGeom prst="rect">
            <a:avLst/>
          </a:prstGeom>
          <a:noFill/>
          <a:ln/>
        </p:spPr>
        <p:txBody>
          <a:bodyPr wrap="square" rtlCol="0" anchor="ctr"/>
          <a:lstStyle/>
          <a:p>
            <a:pPr algn="ctr" indent="0" marL="0">
              <a:buNone/>
            </a:pPr>
            <a:r>
              <a:rPr lang="en-US" sz="4800" b="1" dirty="0">
                <a:solidFill>
                  <a:srgbClr val="FFFFFF"/>
                </a:solidFill>
              </a:rPr>
              <a:t>QUESTIONS &amp; DISCUSSION</a:t>
            </a:r>
            <a:endParaRPr lang="en-US" sz="4800" dirty="0"/>
          </a:p>
        </p:txBody>
      </p:sp>
      <p:sp>
        <p:nvSpPr>
          <p:cNvPr id="3" name="Text 1"/>
          <p:cNvSpPr/>
          <p:nvPr/>
        </p:nvSpPr>
        <p:spPr>
          <a:xfrm>
            <a:off x="914400" y="3657600"/>
            <a:ext cx="7315200" cy="457200"/>
          </a:xfrm>
          <a:prstGeom prst="rect">
            <a:avLst/>
          </a:prstGeom>
          <a:noFill/>
          <a:ln/>
        </p:spPr>
        <p:txBody>
          <a:bodyPr wrap="square" rtlCol="0" anchor="ctr"/>
          <a:lstStyle/>
          <a:p>
            <a:pPr algn="ctr" indent="0" marL="0">
              <a:buNone/>
            </a:pPr>
            <a:r>
              <a:rPr lang="en-US" sz="2400" b="1" dirty="0">
                <a:solidFill>
                  <a:srgbClr val="00B8D9"/>
                </a:solidFill>
              </a:rPr>
              <a:t>AGILE → JIRA → ALUMNEX CONNECT</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Academic Project Review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Alumnex Connect - Agile Project Management</dc:title>
  <dc:subject>PptxGenJS Presentation</dc:subject>
  <dc:creator>Alumnex Connect Team</dc:creator>
  <cp:lastModifiedBy>Alumnex Connect Team</cp:lastModifiedBy>
  <cp:revision>1</cp:revision>
  <dcterms:created xsi:type="dcterms:W3CDTF">2026-10-06T17:56:12Z</dcterms:created>
  <dcterms:modified xsi:type="dcterms:W3CDTF">2026-10-06T17:56:12Z</dcterms:modified>
</cp:coreProperties>
</file>