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xml" ContentType="application/vnd.openxmlformats-officedocument.presentationml.slide+xml"/>
  <ns0:Override PartName="/ppt/slides/slide20.xml" ContentType="application/vnd.openxmlformats-officedocument.presentationml.slide+xml"/>
  <ns0:Override PartName="/ppt/slides/slide21.xml" ContentType="application/vnd.openxmlformats-officedocument.presentationml.slide+xml"/>
  <ns0:Override PartName="/ppt/slides/slide22.xml" ContentType="application/vnd.openxmlformats-officedocument.presentationml.slide+xml"/>
  <ns0:Override PartName="/ppt/slides/slide23.xml" ContentType="application/vnd.openxmlformats-officedocument.presentationml.slide+xml"/>
  <ns0:Override PartName="/ppt/slides/slide24.xml" ContentType="application/vnd.openxmlformats-officedocument.presentationml.slide+xml"/>
  <ns0:Override PartName="/ppt/slides/slide25.xml" ContentType="application/vnd.openxmlformats-officedocument.presentationml.slide+xml"/>
  <ns0:Override PartName="/ppt/slides/slide26.xml" ContentType="application/vnd.openxmlformats-officedocument.presentationml.slide+xml"/>
  <ns0:Override PartName="/ppt/slides/slide27.xml" ContentType="application/vnd.openxmlformats-officedocument.presentationml.slide+xml"/>
  <ns0:Override PartName="/ppt/slides/slide28.xml" ContentType="application/vnd.openxmlformats-officedocument.presentationml.slide+xml"/>
  <ns0:Override PartName="/ppt/slides/slide29.xml" ContentType="application/vnd.openxmlformats-officedocument.presentationml.slide+xml"/>
  <ns0:Override PartName="/ppt/slides/slide3.xml" ContentType="application/vnd.openxmlformats-officedocument.presentationml.slide+xml"/>
  <ns0:Override PartName="/ppt/slides/slide30.xml" ContentType="application/vnd.openxmlformats-officedocument.presentationml.slide+xml"/>
  <ns0:Override PartName="/ppt/slides/slide31.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 id="274" ns1:id="rId25"/>
    <ns0:sldId id="275" ns1:id="rId26"/>
    <ns0:sldId id="276" ns1:id="rId27"/>
    <ns0:sldId id="277" ns1:id="rId28"/>
    <ns0:sldId id="278" ns1:id="rId29"/>
    <ns0:sldId id="279" ns1:id="rId30"/>
    <ns0:sldId id="280" ns1:id="rId31"/>
    <ns0:sldId id="281" ns1:id="rId32"/>
    <ns0:sldId id="282" ns1:id="rId33"/>
    <ns0:sldId id="283" ns1:id="rId34"/>
    <ns0:sldId id="284" ns1:id="rId35"/>
    <ns0:sldId id="285" ns1:id="rId36"/>
    <ns0:sldId id="286" ns1:id="rId37"/>
  </ns0:sldIdLst>
  <ns0:sldSz cx="12192000" cy="6858000" type="screen4x3"/>
  <ns0:notesSz cx="6858000" cy="9144000"/>
  <ns0:embeddedFontLst>
    <ns0:embeddedFont>
      <ns0:font typeface="Inter"/>
      <ns0:italic ns1:id="rIdFont38"/>
      <ns0:bold ns1:id="rIdFont39"/>
      <ns0:regular ns1:id="rIdFont40"/>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24" Type="http://schemas.openxmlformats.org/officeDocument/2006/relationships/slide" Target="slides/slide18.xml" /><ns0:Relationship Id="rId25" Type="http://schemas.openxmlformats.org/officeDocument/2006/relationships/slide" Target="slides/slide19.xml" /><ns0:Relationship Id="rId26" Type="http://schemas.openxmlformats.org/officeDocument/2006/relationships/slide" Target="slides/slide20.xml" /><ns0:Relationship Id="rId27" Type="http://schemas.openxmlformats.org/officeDocument/2006/relationships/slide" Target="slides/slide21.xml" /><ns0:Relationship Id="rId28" Type="http://schemas.openxmlformats.org/officeDocument/2006/relationships/slide" Target="slides/slide22.xml" /><ns0:Relationship Id="rId29" Type="http://schemas.openxmlformats.org/officeDocument/2006/relationships/slide" Target="slides/slide23.xml" /><ns0:Relationship Id="rId30" Type="http://schemas.openxmlformats.org/officeDocument/2006/relationships/slide" Target="slides/slide24.xml" /><ns0:Relationship Id="rId31" Type="http://schemas.openxmlformats.org/officeDocument/2006/relationships/slide" Target="slides/slide25.xml" /><ns0:Relationship Id="rId32" Type="http://schemas.openxmlformats.org/officeDocument/2006/relationships/slide" Target="slides/slide26.xml" /><ns0:Relationship Id="rId33" Type="http://schemas.openxmlformats.org/officeDocument/2006/relationships/slide" Target="slides/slide27.xml" /><ns0:Relationship Id="rId34" Type="http://schemas.openxmlformats.org/officeDocument/2006/relationships/slide" Target="slides/slide28.xml" /><ns0:Relationship Id="rId35" Type="http://schemas.openxmlformats.org/officeDocument/2006/relationships/slide" Target="slides/slide29.xml" /><ns0:Relationship Id="rId36" Type="http://schemas.openxmlformats.org/officeDocument/2006/relationships/slide" Target="slides/slide30.xml" /><ns0:Relationship Id="rId37" Type="http://schemas.openxmlformats.org/officeDocument/2006/relationships/slide" Target="slides/slide31.xml" /><ns0:Relationship Id="rIdFont38" Type="http://schemas.openxmlformats.org/officeDocument/2006/relationships/font" Target="fonts/1cbfda3e-198a-4b5f-a8e4-732fd651d951.fntdata" /><ns0:Relationship Id="rIdFont39" Type="http://schemas.openxmlformats.org/officeDocument/2006/relationships/font" Target="fonts/43270ad3-3bfa-4dfa-9617-4553497c4ccf.fntdata" /><ns0:Relationship Id="rIdFont40" Type="http://schemas.openxmlformats.org/officeDocument/2006/relationships/font" Target="fonts/bbab71ac-622e-42ce-b423-3e3ac8548ad0.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47A6"/>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965870"/>
            <a:ext cx="762000" cy="5715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8" name="TextBox 7"/>
          <p:cNvSpPr txBox="1"/>
          <p:nvPr/>
        </p:nvSpPr>
        <p:spPr>
          <a:xfrm>
            <a:off x="609600" y="609600"/>
            <a:ext cx="11582400" cy="228600"/>
          </a:xfrm>
          <a:prstGeom prst="rect">
            <a:avLst/>
          </a:prstGeom>
          <a:noFill/>
        </p:spPr>
        <p:txBody>
          <a:bodyPr wrap="none" lIns="0" rIns="0" tIns="0" bIns="0" anchor="t">
            <a:spAutoFit/>
          </a:bodyPr>
          <a:lstStyle/>
          <a:p>
            <a:pPr algn="l"/>
            <a:r>
              <a:rPr b="1" sz="1500" i="0" u="none">
                <a:solidFill>
                  <a:srgbClr val="F8FAFC"/>
                </a:solidFill>
                <a:latin typeface="Inter"/>
              </a:rPr>
              <a:t>ACADEMIC PROJECT REVIEW</a:t>
            </a:r>
          </a:p>
        </p:txBody>
      </p:sp>
      <p:sp>
        <p:nvSpPr>
          <p:cNvPr id="9" name="TextBox 8"/>
          <p:cNvSpPr txBox="1"/>
          <p:nvPr/>
        </p:nvSpPr>
        <p:spPr>
          <a:xfrm>
            <a:off x="609600" y="990600"/>
            <a:ext cx="11582400" cy="670470"/>
          </a:xfrm>
          <a:prstGeom prst="rect">
            <a:avLst/>
          </a:prstGeom>
          <a:noFill/>
        </p:spPr>
        <p:txBody>
          <a:bodyPr wrap="none" lIns="0" rIns="0" tIns="0" bIns="0" anchor="t">
            <a:spAutoFit/>
          </a:bodyPr>
          <a:lstStyle/>
          <a:p>
            <a:pPr algn="l">
              <a:lnSpc>
                <a:spcPts val="5280"/>
              </a:lnSpc>
            </a:pPr>
            <a:r>
              <a:rPr b="1" sz="4800" i="0" u="none">
                <a:solidFill>
                  <a:srgbClr val="FFFFFF"/>
                </a:solidFill>
                <a:latin typeface="Inter"/>
              </a:rPr>
              <a:t>ALUMNEX CONNECT</a:t>
            </a:r>
          </a:p>
        </p:txBody>
      </p:sp>
      <p:sp>
        <p:nvSpPr>
          <p:cNvPr id="10" name="TextBox 9"/>
          <p:cNvSpPr txBox="1"/>
          <p:nvPr/>
        </p:nvSpPr>
        <p:spPr>
          <a:xfrm>
            <a:off x="609600" y="2327820"/>
            <a:ext cx="11582400" cy="371475"/>
          </a:xfrm>
          <a:prstGeom prst="rect">
            <a:avLst/>
          </a:prstGeom>
          <a:noFill/>
        </p:spPr>
        <p:txBody>
          <a:bodyPr wrap="none" lIns="0" rIns="0" tIns="0" bIns="0" anchor="t">
            <a:spAutoFit/>
          </a:bodyPr>
          <a:lstStyle/>
          <a:p>
            <a:pPr algn="l"/>
            <a:r>
              <a:rPr b="0" sz="2400" i="0" u="none">
                <a:solidFill>
                  <a:srgbClr val="DEEBFF"/>
                </a:solidFill>
                <a:latin typeface="Inter"/>
              </a:rPr>
              <a:t>Agile Project Management &amp; Jira-Based Software Development</a:t>
            </a:r>
          </a:p>
        </p:txBody>
      </p:sp>
      <p:sp>
        <p:nvSpPr>
          <p:cNvPr id="11" name="TextBox 10"/>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2" name="TextBox 11"/>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3" name="TextBox 12"/>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4" name="TextBox 13"/>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5" name="TextBox 14"/>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6" name="TextBox 15"/>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7" name="TextBox 16"/>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8" name="TextBox 17"/>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19" name="TextBox 18"/>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0" name="TextBox 19"/>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1" name="TextBox 20"/>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2" name="TextBox 21"/>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3" name="TextBox 22"/>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4" name="TextBox 23"/>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5" name="TextBox 24"/>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6" name="TextBox 25"/>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7" name="TextBox 26"/>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8" name="TextBox 27"/>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29" name="TextBox 28"/>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0" name="TextBox 29"/>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1" name="TextBox 30"/>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2" name="TextBox 31"/>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3" name="TextBox 32"/>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4" name="TextBox 33"/>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5" name="TextBox 34"/>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6" name="TextBox 35"/>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7" name="TextBox 36"/>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8" name="TextBox 37"/>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39" name="TextBox 38"/>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0" name="TextBox 39"/>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1" name="TextBox 40"/>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2" name="TextBox 41"/>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3" name="TextBox 42"/>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4" name="TextBox 43"/>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5" name="TextBox 44"/>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6" name="TextBox 45"/>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7" name="TextBox 46"/>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8" name="TextBox 47"/>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49" name="TextBox 48"/>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0" name="TextBox 49"/>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1" name="TextBox 50"/>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2" name="TextBox 51"/>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3" name="TextBox 52"/>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4" name="TextBox 53"/>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5" name="TextBox 54"/>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6" name="TextBox 55"/>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7" name="TextBox 56"/>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8" name="TextBox 57"/>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59" name="TextBox 58"/>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0" name="TextBox 59"/>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1" name="TextBox 60"/>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2" name="TextBox 61"/>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3" name="TextBox 62"/>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4" name="TextBox 63"/>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5" name="TextBox 64"/>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6" name="TextBox 65"/>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7" name="TextBox 66"/>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8" name="TextBox 67"/>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69" name="TextBox 68"/>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0" name="TextBox 69"/>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1" name="TextBox 70"/>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2" name="TextBox 71"/>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3" name="TextBox 72"/>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4" name="TextBox 73"/>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5" name="TextBox 74"/>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6" name="TextBox 75"/>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7" name="TextBox 76"/>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8" name="TextBox 77"/>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79" name="TextBox 78"/>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0" name="TextBox 79"/>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1" name="TextBox 80"/>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2" name="TextBox 81"/>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3" name="TextBox 82"/>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4" name="TextBox 83"/>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5" name="TextBox 84"/>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6" name="TextBox 85"/>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7" name="TextBox 86"/>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8" name="TextBox 87"/>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89" name="TextBox 88"/>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0" name="TextBox 89"/>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1" name="TextBox 90"/>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2" name="TextBox 91"/>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3" name="TextBox 92"/>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4" name="TextBox 93"/>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5" name="TextBox 94"/>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6" name="TextBox 95"/>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7" name="TextBox 96"/>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8" name="TextBox 97"/>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99" name="TextBox 98"/>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0" name="TextBox 99"/>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1" name="TextBox 100"/>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2" name="TextBox 101"/>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3" name="TextBox 102"/>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4" name="TextBox 103"/>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5" name="TextBox 104"/>
          <p:cNvSpPr txBox="1"/>
          <p:nvPr/>
        </p:nvSpPr>
        <p:spPr>
          <a:xfrm>
            <a:off x="609600" y="5791200"/>
            <a:ext cx="1162050" cy="190500"/>
          </a:xfrm>
          <a:prstGeom prst="rect">
            <a:avLst/>
          </a:prstGeom>
          <a:noFill/>
        </p:spPr>
        <p:txBody>
          <a:bodyPr wrap="none" lIns="0" rIns="0" tIns="0" bIns="0" anchor="t">
            <a:spAutoFit/>
          </a:bodyPr>
          <a:lstStyle/>
          <a:p>
            <a:pPr algn="l"/>
            <a:r>
              <a:rPr b="0" sz="1200" i="0" u="none">
                <a:solidFill>
                  <a:srgbClr val="87B1F5"/>
                </a:solidFill>
                <a:latin typeface="Inter"/>
              </a:rPr>
              <a:t>Jira Project</a:t>
            </a:r>
          </a:p>
        </p:txBody>
      </p:sp>
      <p:sp>
        <p:nvSpPr>
          <p:cNvPr id="106" name="TextBox 105"/>
          <p:cNvSpPr txBox="1"/>
          <p:nvPr/>
        </p:nvSpPr>
        <p:spPr>
          <a:xfrm>
            <a:off x="609600" y="6019800"/>
            <a:ext cx="1162050" cy="228600"/>
          </a:xfrm>
          <a:prstGeom prst="rect">
            <a:avLst/>
          </a:prstGeom>
          <a:noFill/>
        </p:spPr>
        <p:txBody>
          <a:bodyPr wrap="none" lIns="0" rIns="0" tIns="0" bIns="0" anchor="t">
            <a:spAutoFit/>
          </a:bodyPr>
          <a:lstStyle/>
          <a:p>
            <a:pPr algn="l"/>
            <a:r>
              <a:rPr b="1" sz="1500" i="0" u="none">
                <a:solidFill>
                  <a:srgbClr val="FFFFFF"/>
                </a:solidFill>
                <a:latin typeface="Inter"/>
              </a:rPr>
              <a:t>Key: KAN</a:t>
            </a:r>
          </a:p>
        </p:txBody>
      </p:sp>
      <p:sp>
        <p:nvSpPr>
          <p:cNvPr id="107" name="TextBox 106"/>
          <p:cNvSpPr txBox="1"/>
          <p:nvPr/>
        </p:nvSpPr>
        <p:spPr>
          <a:xfrm>
            <a:off x="1790700" y="5791200"/>
            <a:ext cx="2500312" cy="190500"/>
          </a:xfrm>
          <a:prstGeom prst="rect">
            <a:avLst/>
          </a:prstGeom>
          <a:noFill/>
        </p:spPr>
        <p:txBody>
          <a:bodyPr wrap="none" lIns="0" rIns="0" tIns="0" bIns="0" anchor="t">
            <a:spAutoFit/>
          </a:bodyPr>
          <a:lstStyle/>
          <a:p>
            <a:pPr algn="l"/>
            <a:r>
              <a:rPr b="0" sz="1200" i="0" u="none">
                <a:solidFill>
                  <a:srgbClr val="87B1F5"/>
                </a:solidFill>
                <a:latin typeface="Inter"/>
              </a:rPr>
              <a:t>Student / Team</a:t>
            </a:r>
          </a:p>
        </p:txBody>
      </p:sp>
      <p:sp>
        <p:nvSpPr>
          <p:cNvPr id="108" name="TextBox 107"/>
          <p:cNvSpPr txBox="1"/>
          <p:nvPr/>
        </p:nvSpPr>
        <p:spPr>
          <a:xfrm>
            <a:off x="1790700" y="6019800"/>
            <a:ext cx="2500312" cy="228600"/>
          </a:xfrm>
          <a:prstGeom prst="rect">
            <a:avLst/>
          </a:prstGeom>
          <a:noFill/>
        </p:spPr>
        <p:txBody>
          <a:bodyPr wrap="none" lIns="0" rIns="0" tIns="0" bIns="0" anchor="t">
            <a:spAutoFit/>
          </a:bodyPr>
          <a:lstStyle/>
          <a:p>
            <a:pPr algn="l"/>
            <a:r>
              <a:rPr b="1" sz="1500" i="0" u="none">
                <a:solidFill>
                  <a:srgbClr val="FFFFFF"/>
                </a:solidFill>
                <a:latin typeface="Inter"/>
              </a:rPr>
              <a:t>[Student Name/Team]</a:t>
            </a:r>
          </a:p>
        </p:txBody>
      </p:sp>
      <p:sp>
        <p:nvSpPr>
          <p:cNvPr id="109" name="TextBox 108"/>
          <p:cNvSpPr txBox="1"/>
          <p:nvPr/>
        </p:nvSpPr>
        <p:spPr>
          <a:xfrm>
            <a:off x="4095750" y="5791200"/>
            <a:ext cx="2607468" cy="190500"/>
          </a:xfrm>
          <a:prstGeom prst="rect">
            <a:avLst/>
          </a:prstGeom>
          <a:noFill/>
        </p:spPr>
        <p:txBody>
          <a:bodyPr wrap="none" lIns="0" rIns="0" tIns="0" bIns="0" anchor="t">
            <a:spAutoFit/>
          </a:bodyPr>
          <a:lstStyle/>
          <a:p>
            <a:pPr algn="l"/>
            <a:r>
              <a:rPr b="0" sz="1200" i="0" u="none">
                <a:solidFill>
                  <a:srgbClr val="87B1F5"/>
                </a:solidFill>
                <a:latin typeface="Inter"/>
              </a:rPr>
              <a:t>Institution</a:t>
            </a:r>
          </a:p>
        </p:txBody>
      </p:sp>
      <p:sp>
        <p:nvSpPr>
          <p:cNvPr id="110" name="TextBox 109"/>
          <p:cNvSpPr txBox="1"/>
          <p:nvPr/>
        </p:nvSpPr>
        <p:spPr>
          <a:xfrm>
            <a:off x="4095750" y="6019800"/>
            <a:ext cx="2607468" cy="228600"/>
          </a:xfrm>
          <a:prstGeom prst="rect">
            <a:avLst/>
          </a:prstGeom>
          <a:noFill/>
        </p:spPr>
        <p:txBody>
          <a:bodyPr wrap="none" lIns="0" rIns="0" tIns="0" bIns="0" anchor="t">
            <a:spAutoFit/>
          </a:bodyPr>
          <a:lstStyle/>
          <a:p>
            <a:pPr algn="l"/>
            <a:r>
              <a:rPr b="1" sz="1500" i="0" u="none">
                <a:solidFill>
                  <a:srgbClr val="FFFFFF"/>
                </a:solidFill>
                <a:latin typeface="Inter"/>
              </a:rPr>
              <a:t>[Department / College]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72075" y="2005012"/>
            <a:ext cx="1847850" cy="495300"/>
          </a:xfrm>
          <a:prstGeom prst="roundRect">
            <a:avLst>
              <a:gd name="adj" fmla="val 15384"/>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29225" y="5319712"/>
            <a:ext cx="1733550" cy="495300"/>
          </a:xfrm>
          <a:prstGeom prst="roundRect">
            <a:avLst>
              <a:gd name="adj" fmla="val 15384"/>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238500" y="3662362"/>
            <a:ext cx="1352550" cy="495300"/>
          </a:xfrm>
          <a:prstGeom prst="roundRect">
            <a:avLst>
              <a:gd name="adj" fmla="val 15384"/>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86600" y="3662362"/>
            <a:ext cx="1866900" cy="495300"/>
          </a:xfrm>
          <a:prstGeom prst="roundRect">
            <a:avLst>
              <a:gd name="adj" fmla="val 15384"/>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2" name="TextBox 11"/>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Project Overview</a:t>
            </a:r>
          </a:p>
        </p:txBody>
      </p:sp>
      <p:sp>
        <p:nvSpPr>
          <p:cNvPr id="13" name="TextBox 12"/>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4" name="TextBox 13"/>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5" name="TextBox 14"/>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6" name="TextBox 15"/>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7" name="TextBox 16"/>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8" name="TextBox 17"/>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9" name="TextBox 18"/>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0" name="TextBox 19"/>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1" name="TextBox 20"/>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2" name="TextBox 21"/>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3" name="TextBox 22"/>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4" name="TextBox 23"/>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5" name="TextBox 24"/>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6" name="TextBox 25"/>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7" name="TextBox 26"/>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8" name="TextBox 27"/>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9" name="TextBox 28"/>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0" name="TextBox 29"/>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1" name="TextBox 30"/>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2" name="TextBox 31"/>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3" name="TextBox 32"/>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4" name="TextBox 33"/>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5" name="TextBox 34"/>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6" name="TextBox 35"/>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7" name="TextBox 36"/>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8" name="TextBox 37"/>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9" name="TextBox 38"/>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0" name="TextBox 39"/>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1" name="TextBox 40"/>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2" name="TextBox 41"/>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3" name="TextBox 42"/>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4" name="TextBox 43"/>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5" name="TextBox 44"/>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6" name="TextBox 45"/>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7" name="TextBox 46"/>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8" name="TextBox 47"/>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9" name="TextBox 48"/>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0" name="TextBox 49"/>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1" name="TextBox 50"/>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2" name="TextBox 51"/>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3" name="TextBox 52"/>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4" name="TextBox 53"/>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5" name="TextBox 54"/>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6" name="TextBox 55"/>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7" name="TextBox 56"/>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8" name="TextBox 57"/>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9" name="TextBox 58"/>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0" name="TextBox 59"/>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1" name="TextBox 60"/>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2" name="TextBox 61"/>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3" name="TextBox 62"/>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4" name="TextBox 63"/>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5" name="TextBox 64"/>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6" name="TextBox 65"/>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7" name="TextBox 66"/>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8" name="TextBox 67"/>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9" name="TextBox 68"/>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0" name="TextBox 69"/>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1" name="TextBox 70"/>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2" name="TextBox 71"/>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3" name="TextBox 72"/>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4" name="TextBox 73"/>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5" name="TextBox 74"/>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6" name="TextBox 75"/>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7" name="TextBox 76"/>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8" name="TextBox 77"/>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9" name="TextBox 78"/>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0" name="TextBox 79"/>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1" name="TextBox 80"/>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2" name="TextBox 81"/>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3" name="TextBox 82"/>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4" name="TextBox 83"/>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5" name="TextBox 84"/>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6" name="TextBox 85"/>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7" name="TextBox 86"/>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8" name="TextBox 87"/>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9" name="TextBox 88"/>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0" name="TextBox 89"/>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1" name="TextBox 90"/>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2" name="TextBox 91"/>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3" name="TextBox 92"/>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4" name="TextBox 93"/>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5" name="TextBox 94"/>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6" name="TextBox 95"/>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7" name="TextBox 96"/>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8" name="TextBox 97"/>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9" name="TextBox 98"/>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0" name="TextBox 99"/>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1" name="TextBox 100"/>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2" name="TextBox 101"/>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3" name="TextBox 102"/>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4" name="TextBox 103"/>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5" name="TextBox 104"/>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6" name="TextBox 105"/>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7" name="TextBox 106"/>
          <p:cNvSpPr txBox="1"/>
          <p:nvPr/>
        </p:nvSpPr>
        <p:spPr>
          <a:xfrm>
            <a:off x="5169693" y="2157412"/>
            <a:ext cx="1852612" cy="190500"/>
          </a:xfrm>
          <a:prstGeom prst="rect">
            <a:avLst/>
          </a:prstGeom>
          <a:noFill/>
        </p:spPr>
        <p:txBody>
          <a:bodyPr wrap="square" lIns="0" rIns="0" tIns="0" bIns="0" anchor="t">
            <a:spAutoFit/>
          </a:bodyPr>
          <a:lstStyle/>
          <a:p>
            <a:pPr algn="ctr"/>
            <a:r>
              <a:rPr b="1" sz="1200" i="0" u="none">
                <a:solidFill>
                  <a:srgbClr val="172B4D"/>
                </a:solidFill>
                <a:latin typeface="Inter"/>
              </a:rPr>
              <a:t>Mentorship &amp; Jobs</a:t>
            </a:r>
          </a:p>
        </p:txBody>
      </p:sp>
      <p:sp>
        <p:nvSpPr>
          <p:cNvPr id="108" name="TextBox 107"/>
          <p:cNvSpPr txBox="1"/>
          <p:nvPr/>
        </p:nvSpPr>
        <p:spPr>
          <a:xfrm>
            <a:off x="5241131" y="5472112"/>
            <a:ext cx="1709737" cy="190500"/>
          </a:xfrm>
          <a:prstGeom prst="rect">
            <a:avLst/>
          </a:prstGeom>
          <a:noFill/>
        </p:spPr>
        <p:txBody>
          <a:bodyPr wrap="square" lIns="0" rIns="0" tIns="0" bIns="0" anchor="t">
            <a:spAutoFit/>
          </a:bodyPr>
          <a:lstStyle/>
          <a:p>
            <a:pPr algn="ctr"/>
            <a:r>
              <a:rPr b="1" sz="1200" i="0" u="none">
                <a:solidFill>
                  <a:srgbClr val="172B4D"/>
                </a:solidFill>
                <a:latin typeface="Inter"/>
              </a:rPr>
              <a:t>Security &amp; Mobile</a:t>
            </a:r>
          </a:p>
        </p:txBody>
      </p:sp>
      <p:sp>
        <p:nvSpPr>
          <p:cNvPr id="109" name="TextBox 108"/>
          <p:cNvSpPr txBox="1"/>
          <p:nvPr/>
        </p:nvSpPr>
        <p:spPr>
          <a:xfrm>
            <a:off x="3298031" y="3814762"/>
            <a:ext cx="1233487" cy="190500"/>
          </a:xfrm>
          <a:prstGeom prst="rect">
            <a:avLst/>
          </a:prstGeom>
          <a:noFill/>
        </p:spPr>
        <p:txBody>
          <a:bodyPr wrap="square" lIns="0" rIns="0" tIns="0" bIns="0" anchor="t">
            <a:spAutoFit/>
          </a:bodyPr>
          <a:lstStyle/>
          <a:p>
            <a:pPr algn="ctr"/>
            <a:r>
              <a:rPr b="1" sz="1200" i="0" u="none">
                <a:solidFill>
                  <a:srgbClr val="172B4D"/>
                </a:solidFill>
                <a:latin typeface="Inter"/>
              </a:rPr>
              <a:t>AI Assistant</a:t>
            </a:r>
          </a:p>
        </p:txBody>
      </p:sp>
      <p:sp>
        <p:nvSpPr>
          <p:cNvPr id="110" name="TextBox 109"/>
          <p:cNvSpPr txBox="1"/>
          <p:nvPr/>
        </p:nvSpPr>
        <p:spPr>
          <a:xfrm>
            <a:off x="7081837" y="3814762"/>
            <a:ext cx="1876425" cy="190500"/>
          </a:xfrm>
          <a:prstGeom prst="rect">
            <a:avLst/>
          </a:prstGeom>
          <a:noFill/>
        </p:spPr>
        <p:txBody>
          <a:bodyPr wrap="square" lIns="0" rIns="0" tIns="0" bIns="0" anchor="t">
            <a:spAutoFit/>
          </a:bodyPr>
          <a:lstStyle/>
          <a:p>
            <a:pPr algn="ctr"/>
            <a:r>
              <a:rPr b="1" sz="1200" i="0" u="none">
                <a:solidFill>
                  <a:srgbClr val="172B4D"/>
                </a:solidFill>
                <a:latin typeface="Inter"/>
              </a:rPr>
              <a:t>DevPulse Analytics</a:t>
            </a:r>
          </a:p>
        </p:txBody>
      </p:sp>
      <p:pic>
        <p:nvPicPr>
          <p:cNvPr id="111" name="Picture 110" descr="image.png"/>
          <p:cNvPicPr>
            <a:picLocks noChangeAspect="1"/>
          </p:cNvPicPr>
          <p:nvPr/>
        </p:nvPicPr>
        <p:blipFill>
          <a:blip r:embed="rId2"/>
          <a:stretch>
            <a:fillRect/>
          </a:stretch>
        </p:blipFill>
        <p:spPr>
          <a:xfrm>
            <a:off x="3238500" y="2005012"/>
            <a:ext cx="5715000" cy="3810000"/>
          </a:xfrm>
          <a:prstGeom prst="rect">
            <a:avLst/>
          </a:prstGeom>
        </p:spPr>
      </p:pic>
      <p:sp>
        <p:nvSpPr>
          <p:cNvPr id="112" name="Rounded Rectangle 111"/>
          <p:cNvSpPr/>
          <p:nvPr/>
        </p:nvSpPr>
        <p:spPr>
          <a:xfrm>
            <a:off x="5143500" y="2957512"/>
            <a:ext cx="1905000" cy="1905000"/>
          </a:xfrm>
          <a:prstGeom prst="roundRect">
            <a:avLst>
              <a:gd name="adj" fmla="val 50000"/>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210175" y="3262312"/>
            <a:ext cx="1771650" cy="1295400"/>
          </a:xfrm>
          <a:prstGeom prst="rect">
            <a:avLst/>
          </a:prstGeom>
          <a:noFill/>
        </p:spPr>
        <p:txBody>
          <a:bodyPr wrap="square" lIns="0" rIns="0" tIns="0" bIns="0" anchor="ctr">
            <a:spAutoFit/>
          </a:bodyPr>
          <a:lstStyle/>
          <a:p>
            <a:pPr algn="ctr"/>
            <a:r>
              <a:rPr b="1" sz="1800" i="0" u="none">
                <a:solidFill>
                  <a:srgbClr val="FFFFFF"/>
                </a:solidFill>
                <a:latin typeface="Inter"/>
              </a:rPr>
              <a:t>Alumnex</a:t>
            </a:r>
            <a:r>
              <a:t>
</a:t>
            </a:r>
            <a:r>
              <a:rPr b="1" sz="1800" i="0" u="none">
                <a:solidFill>
                  <a:srgbClr val="FFFFFF"/>
                </a:solidFill>
                <a:latin typeface="Inter"/>
              </a:rPr>
              <a:t> Connect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5562600"/>
            <a:ext cx="10972800" cy="685800"/>
          </a:xfrm>
          <a:prstGeom prst="roundRect">
            <a:avLst>
              <a:gd name="adj" fmla="val 11111"/>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1571625"/>
            <a:ext cx="5334000" cy="3686175"/>
          </a:xfrm>
          <a:prstGeom prst="roundRect">
            <a:avLst>
              <a:gd name="adj" fmla="val 2067"/>
            </a:avLst>
          </a:prstGeom>
          <a:solidFill>
            <a:srgbClr val="FFF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48400" y="1571625"/>
            <a:ext cx="5334000" cy="3686175"/>
          </a:xfrm>
          <a:prstGeom prst="roundRect">
            <a:avLst>
              <a:gd name="adj" fmla="val 2067"/>
            </a:avLst>
          </a:prstGeom>
          <a:solidFill>
            <a:srgbClr val="E3F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914400" y="2400300"/>
            <a:ext cx="171450" cy="190500"/>
          </a:xfrm>
          <a:prstGeom prst="rect">
            <a:avLst/>
          </a:prstGeom>
        </p:spPr>
      </p:pic>
      <p:pic>
        <p:nvPicPr>
          <p:cNvPr id="11" name="Picture 10" descr="image.png"/>
          <p:cNvPicPr>
            <a:picLocks noChangeAspect="1"/>
          </p:cNvPicPr>
          <p:nvPr/>
        </p:nvPicPr>
        <p:blipFill>
          <a:blip r:embed="rId2"/>
          <a:stretch>
            <a:fillRect/>
          </a:stretch>
        </p:blipFill>
        <p:spPr>
          <a:xfrm>
            <a:off x="914400" y="2781300"/>
            <a:ext cx="171450" cy="190500"/>
          </a:xfrm>
          <a:prstGeom prst="rect">
            <a:avLst/>
          </a:prstGeom>
        </p:spPr>
      </p:pic>
      <p:pic>
        <p:nvPicPr>
          <p:cNvPr id="12" name="Picture 11" descr="image.png"/>
          <p:cNvPicPr>
            <a:picLocks noChangeAspect="1"/>
          </p:cNvPicPr>
          <p:nvPr/>
        </p:nvPicPr>
        <p:blipFill>
          <a:blip r:embed="rId2"/>
          <a:stretch>
            <a:fillRect/>
          </a:stretch>
        </p:blipFill>
        <p:spPr>
          <a:xfrm>
            <a:off x="914400" y="3162300"/>
            <a:ext cx="171450" cy="190500"/>
          </a:xfrm>
          <a:prstGeom prst="rect">
            <a:avLst/>
          </a:prstGeom>
        </p:spPr>
      </p:pic>
      <p:pic>
        <p:nvPicPr>
          <p:cNvPr id="13" name="Picture 12" descr="image.png"/>
          <p:cNvPicPr>
            <a:picLocks noChangeAspect="1"/>
          </p:cNvPicPr>
          <p:nvPr/>
        </p:nvPicPr>
        <p:blipFill>
          <a:blip r:embed="rId2"/>
          <a:stretch>
            <a:fillRect/>
          </a:stretch>
        </p:blipFill>
        <p:spPr>
          <a:xfrm>
            <a:off x="914400" y="3543300"/>
            <a:ext cx="171450" cy="190500"/>
          </a:xfrm>
          <a:prstGeom prst="rect">
            <a:avLst/>
          </a:prstGeom>
        </p:spPr>
      </p:pic>
      <p:pic>
        <p:nvPicPr>
          <p:cNvPr id="14" name="Picture 13" descr="image.png"/>
          <p:cNvPicPr>
            <a:picLocks noChangeAspect="1"/>
          </p:cNvPicPr>
          <p:nvPr/>
        </p:nvPicPr>
        <p:blipFill>
          <a:blip r:embed="rId3"/>
          <a:stretch>
            <a:fillRect/>
          </a:stretch>
        </p:blipFill>
        <p:spPr>
          <a:xfrm>
            <a:off x="6553200" y="2400300"/>
            <a:ext cx="171450" cy="190500"/>
          </a:xfrm>
          <a:prstGeom prst="rect">
            <a:avLst/>
          </a:prstGeom>
        </p:spPr>
      </p:pic>
      <p:pic>
        <p:nvPicPr>
          <p:cNvPr id="15" name="Picture 14" descr="image.png"/>
          <p:cNvPicPr>
            <a:picLocks noChangeAspect="1"/>
          </p:cNvPicPr>
          <p:nvPr/>
        </p:nvPicPr>
        <p:blipFill>
          <a:blip r:embed="rId3"/>
          <a:stretch>
            <a:fillRect/>
          </a:stretch>
        </p:blipFill>
        <p:spPr>
          <a:xfrm>
            <a:off x="6553200" y="2781300"/>
            <a:ext cx="171450" cy="190500"/>
          </a:xfrm>
          <a:prstGeom prst="rect">
            <a:avLst/>
          </a:prstGeom>
        </p:spPr>
      </p:pic>
      <p:pic>
        <p:nvPicPr>
          <p:cNvPr id="16" name="Picture 15" descr="image.png"/>
          <p:cNvPicPr>
            <a:picLocks noChangeAspect="1"/>
          </p:cNvPicPr>
          <p:nvPr/>
        </p:nvPicPr>
        <p:blipFill>
          <a:blip r:embed="rId3"/>
          <a:stretch>
            <a:fillRect/>
          </a:stretch>
        </p:blipFill>
        <p:spPr>
          <a:xfrm>
            <a:off x="6553200" y="3162300"/>
            <a:ext cx="171450" cy="190500"/>
          </a:xfrm>
          <a:prstGeom prst="rect">
            <a:avLst/>
          </a:prstGeom>
        </p:spPr>
      </p:pic>
      <p:pic>
        <p:nvPicPr>
          <p:cNvPr id="17" name="Picture 16" descr="image.png"/>
          <p:cNvPicPr>
            <a:picLocks noChangeAspect="1"/>
          </p:cNvPicPr>
          <p:nvPr/>
        </p:nvPicPr>
        <p:blipFill>
          <a:blip r:embed="rId3"/>
          <a:stretch>
            <a:fillRect/>
          </a:stretch>
        </p:blipFill>
        <p:spPr>
          <a:xfrm>
            <a:off x="6553200" y="3543300"/>
            <a:ext cx="171450" cy="190500"/>
          </a:xfrm>
          <a:prstGeom prst="rect">
            <a:avLst/>
          </a:prstGeom>
        </p:spPr>
      </p:pic>
      <p:graphicFrame>
        <p:nvGraphicFramePr>
          <p:cNvPr id="18" name="Table 17"/>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9" name="TextBox 18"/>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Why Agile for Alumnex Connect?</a:t>
            </a:r>
          </a:p>
        </p:txBody>
      </p:sp>
      <p:sp>
        <p:nvSpPr>
          <p:cNvPr id="20" name="TextBox 19"/>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1" name="TextBox 20"/>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2" name="TextBox 21"/>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3" name="TextBox 22"/>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4" name="TextBox 23"/>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5" name="TextBox 24"/>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6" name="TextBox 25"/>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7" name="TextBox 26"/>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8" name="TextBox 27"/>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9" name="TextBox 28"/>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0" name="TextBox 29"/>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1" name="TextBox 30"/>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2" name="TextBox 31"/>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3" name="TextBox 32"/>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4" name="TextBox 33"/>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5" name="TextBox 34"/>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6" name="TextBox 35"/>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7" name="TextBox 36"/>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8" name="TextBox 37"/>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9" name="TextBox 38"/>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0" name="TextBox 39"/>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1" name="TextBox 40"/>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2" name="TextBox 41"/>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3" name="TextBox 42"/>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4" name="TextBox 43"/>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5" name="TextBox 44"/>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6" name="TextBox 45"/>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7" name="TextBox 46"/>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8" name="TextBox 47"/>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9" name="TextBox 48"/>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0" name="TextBox 49"/>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1" name="TextBox 50"/>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2" name="TextBox 51"/>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3" name="TextBox 52"/>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4" name="TextBox 53"/>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5" name="TextBox 54"/>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6" name="TextBox 55"/>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7" name="TextBox 56"/>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8" name="TextBox 57"/>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9" name="TextBox 58"/>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0" name="TextBox 59"/>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1" name="TextBox 60"/>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2" name="TextBox 61"/>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3" name="TextBox 62"/>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4" name="TextBox 63"/>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5" name="TextBox 64"/>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6" name="TextBox 65"/>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7" name="TextBox 66"/>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8" name="TextBox 67"/>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9" name="TextBox 68"/>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0" name="TextBox 69"/>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1" name="TextBox 70"/>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2" name="TextBox 71"/>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3" name="TextBox 72"/>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4" name="TextBox 73"/>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5" name="TextBox 74"/>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6" name="TextBox 75"/>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7" name="TextBox 76"/>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8" name="TextBox 77"/>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9" name="TextBox 78"/>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0" name="TextBox 79"/>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1" name="TextBox 80"/>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2" name="TextBox 81"/>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3" name="TextBox 82"/>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4" name="TextBox 83"/>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5" name="TextBox 84"/>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6" name="TextBox 85"/>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7" name="TextBox 86"/>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8" name="TextBox 87"/>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9" name="TextBox 88"/>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0" name="TextBox 89"/>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1" name="TextBox 90"/>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2" name="TextBox 91"/>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3" name="TextBox 92"/>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4" name="TextBox 93"/>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5" name="TextBox 94"/>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6" name="TextBox 95"/>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7" name="TextBox 96"/>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8" name="TextBox 97"/>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9" name="TextBox 98"/>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0" name="TextBox 99"/>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1" name="TextBox 100"/>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2" name="TextBox 101"/>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3" name="TextBox 102"/>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4" name="TextBox 103"/>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5" name="TextBox 104"/>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6" name="TextBox 105"/>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7" name="TextBox 106"/>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8" name="TextBox 107"/>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9" name="TextBox 108"/>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0" name="TextBox 109"/>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1" name="TextBox 110"/>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2" name="TextBox 111"/>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3" name="TextBox 112"/>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4" name="TextBox 113"/>
          <p:cNvSpPr txBox="1"/>
          <p:nvPr/>
        </p:nvSpPr>
        <p:spPr>
          <a:xfrm>
            <a:off x="-238125" y="5791200"/>
            <a:ext cx="12668250" cy="228600"/>
          </a:xfrm>
          <a:prstGeom prst="rect">
            <a:avLst/>
          </a:prstGeom>
          <a:noFill/>
        </p:spPr>
        <p:txBody>
          <a:bodyPr wrap="none" lIns="0" rIns="0" tIns="0" bIns="0" anchor="t">
            <a:spAutoFit/>
          </a:bodyPr>
          <a:lstStyle/>
          <a:p>
            <a:pPr algn="ctr"/>
            <a:r>
              <a:rPr b="1" sz="1500" i="0" u="none">
                <a:solidFill>
                  <a:srgbClr val="0052CC"/>
                </a:solidFill>
                <a:latin typeface="Inter"/>
              </a:rPr>
              <a:t>Agile is the umbrella philosophy organizing value delivery.</a:t>
            </a:r>
          </a:p>
        </p:txBody>
      </p:sp>
      <p:sp>
        <p:nvSpPr>
          <p:cNvPr id="115" name="TextBox 114"/>
          <p:cNvSpPr txBox="1"/>
          <p:nvPr/>
        </p:nvSpPr>
        <p:spPr>
          <a:xfrm>
            <a:off x="914400" y="1876425"/>
            <a:ext cx="6200775" cy="276225"/>
          </a:xfrm>
          <a:prstGeom prst="rect">
            <a:avLst/>
          </a:prstGeom>
          <a:noFill/>
        </p:spPr>
        <p:txBody>
          <a:bodyPr wrap="none" lIns="0" rIns="0" tIns="0" bIns="0" anchor="t">
            <a:spAutoFit/>
          </a:bodyPr>
          <a:lstStyle/>
          <a:p>
            <a:pPr algn="l"/>
            <a:r>
              <a:rPr b="1" sz="1800" i="0" u="none">
                <a:solidFill>
                  <a:srgbClr val="172B4D"/>
                </a:solidFill>
                <a:latin typeface="Inter"/>
              </a:rPr>
              <a:t>Traditional Sequential</a:t>
            </a:r>
          </a:p>
        </p:txBody>
      </p:sp>
      <p:sp>
        <p:nvSpPr>
          <p:cNvPr id="116" name="TextBox 115"/>
          <p:cNvSpPr txBox="1"/>
          <p:nvPr/>
        </p:nvSpPr>
        <p:spPr>
          <a:xfrm>
            <a:off x="914400" y="2381250"/>
            <a:ext cx="5905500" cy="228600"/>
          </a:xfrm>
          <a:prstGeom prst="rect">
            <a:avLst/>
          </a:prstGeom>
          <a:noFill/>
        </p:spPr>
        <p:txBody>
          <a:bodyPr wrap="none" lIns="171450" rIns="0" tIns="0" bIns="0" anchor="t">
            <a:spAutoFit/>
          </a:bodyPr>
          <a:lstStyle/>
          <a:p>
            <a:pPr algn="l"/>
            <a:r>
              <a:rPr b="1" sz="1500" i="0" u="none">
                <a:solidFill>
                  <a:srgbClr val="5E6C84"/>
                </a:solidFill>
                <a:latin typeface="Inter"/>
              </a:rPr>
              <a:t>Rigid requirements.</a:t>
            </a:r>
          </a:p>
        </p:txBody>
      </p:sp>
      <p:sp>
        <p:nvSpPr>
          <p:cNvPr id="117" name="TextBox 116"/>
          <p:cNvSpPr txBox="1"/>
          <p:nvPr/>
        </p:nvSpPr>
        <p:spPr>
          <a:xfrm>
            <a:off x="914400" y="2762250"/>
            <a:ext cx="5905500" cy="228600"/>
          </a:xfrm>
          <a:prstGeom prst="rect">
            <a:avLst/>
          </a:prstGeom>
          <a:noFill/>
        </p:spPr>
        <p:txBody>
          <a:bodyPr wrap="none" lIns="171450" rIns="0" tIns="0" bIns="0" anchor="t">
            <a:spAutoFit/>
          </a:bodyPr>
          <a:lstStyle/>
          <a:p>
            <a:pPr algn="l"/>
            <a:r>
              <a:rPr b="1" sz="1500" i="0" u="none">
                <a:solidFill>
                  <a:srgbClr val="5E6C84"/>
                </a:solidFill>
                <a:latin typeface="Inter"/>
              </a:rPr>
              <a:t>Late testing phases.</a:t>
            </a:r>
          </a:p>
        </p:txBody>
      </p:sp>
      <p:sp>
        <p:nvSpPr>
          <p:cNvPr id="118" name="TextBox 117"/>
          <p:cNvSpPr txBox="1"/>
          <p:nvPr/>
        </p:nvSpPr>
        <p:spPr>
          <a:xfrm>
            <a:off x="914400" y="3143250"/>
            <a:ext cx="5905500" cy="228600"/>
          </a:xfrm>
          <a:prstGeom prst="rect">
            <a:avLst/>
          </a:prstGeom>
          <a:noFill/>
        </p:spPr>
        <p:txBody>
          <a:bodyPr wrap="none" lIns="171450" rIns="0" tIns="0" bIns="0" anchor="t">
            <a:spAutoFit/>
          </a:bodyPr>
          <a:lstStyle/>
          <a:p>
            <a:pPr algn="l"/>
            <a:r>
              <a:rPr b="1" sz="1500" i="0" u="none">
                <a:solidFill>
                  <a:srgbClr val="5E6C84"/>
                </a:solidFill>
                <a:latin typeface="Inter"/>
              </a:rPr>
              <a:t>Hidden risks.</a:t>
            </a:r>
          </a:p>
        </p:txBody>
      </p:sp>
      <p:sp>
        <p:nvSpPr>
          <p:cNvPr id="119" name="TextBox 118"/>
          <p:cNvSpPr txBox="1"/>
          <p:nvPr/>
        </p:nvSpPr>
        <p:spPr>
          <a:xfrm>
            <a:off x="914400" y="3524250"/>
            <a:ext cx="5905500" cy="228600"/>
          </a:xfrm>
          <a:prstGeom prst="rect">
            <a:avLst/>
          </a:prstGeom>
          <a:noFill/>
        </p:spPr>
        <p:txBody>
          <a:bodyPr wrap="none" lIns="171450" rIns="0" tIns="0" bIns="0" anchor="t">
            <a:spAutoFit/>
          </a:bodyPr>
          <a:lstStyle/>
          <a:p>
            <a:pPr algn="l"/>
            <a:r>
              <a:rPr b="1" sz="1500" i="0" u="none">
                <a:solidFill>
                  <a:srgbClr val="5E6C84"/>
                </a:solidFill>
                <a:latin typeface="Inter"/>
              </a:rPr>
              <a:t>Single monolithic release.</a:t>
            </a:r>
          </a:p>
        </p:txBody>
      </p:sp>
      <p:sp>
        <p:nvSpPr>
          <p:cNvPr id="120" name="TextBox 119"/>
          <p:cNvSpPr txBox="1"/>
          <p:nvPr/>
        </p:nvSpPr>
        <p:spPr>
          <a:xfrm>
            <a:off x="6553200" y="1876425"/>
            <a:ext cx="5638800" cy="276225"/>
          </a:xfrm>
          <a:prstGeom prst="rect">
            <a:avLst/>
          </a:prstGeom>
          <a:noFill/>
        </p:spPr>
        <p:txBody>
          <a:bodyPr wrap="none" lIns="0" rIns="0" tIns="0" bIns="0" anchor="t">
            <a:spAutoFit/>
          </a:bodyPr>
          <a:lstStyle/>
          <a:p>
            <a:pPr algn="l"/>
            <a:r>
              <a:rPr b="1" sz="1800" i="0" u="none">
                <a:solidFill>
                  <a:srgbClr val="006644"/>
                </a:solidFill>
                <a:latin typeface="Inter"/>
              </a:rPr>
              <a:t>Agile Iterative</a:t>
            </a:r>
          </a:p>
        </p:txBody>
      </p:sp>
      <p:sp>
        <p:nvSpPr>
          <p:cNvPr id="121" name="TextBox 120"/>
          <p:cNvSpPr txBox="1"/>
          <p:nvPr/>
        </p:nvSpPr>
        <p:spPr>
          <a:xfrm>
            <a:off x="6553200" y="2381250"/>
            <a:ext cx="5638800" cy="228600"/>
          </a:xfrm>
          <a:prstGeom prst="rect">
            <a:avLst/>
          </a:prstGeom>
          <a:noFill/>
        </p:spPr>
        <p:txBody>
          <a:bodyPr wrap="none" lIns="171450" rIns="0" tIns="0" bIns="0" anchor="t">
            <a:spAutoFit/>
          </a:bodyPr>
          <a:lstStyle/>
          <a:p>
            <a:pPr algn="l"/>
            <a:r>
              <a:rPr b="1" sz="1500" i="0" u="none">
                <a:solidFill>
                  <a:srgbClr val="006644"/>
                </a:solidFill>
                <a:latin typeface="Inter"/>
              </a:rPr>
              <a:t>Evolving modular requirements.</a:t>
            </a:r>
          </a:p>
        </p:txBody>
      </p:sp>
      <p:sp>
        <p:nvSpPr>
          <p:cNvPr id="122" name="TextBox 121"/>
          <p:cNvSpPr txBox="1"/>
          <p:nvPr/>
        </p:nvSpPr>
        <p:spPr>
          <a:xfrm>
            <a:off x="6553200" y="2762250"/>
            <a:ext cx="5638800" cy="228600"/>
          </a:xfrm>
          <a:prstGeom prst="rect">
            <a:avLst/>
          </a:prstGeom>
          <a:noFill/>
        </p:spPr>
        <p:txBody>
          <a:bodyPr wrap="none" lIns="171450" rIns="0" tIns="0" bIns="0" anchor="t">
            <a:spAutoFit/>
          </a:bodyPr>
          <a:lstStyle/>
          <a:p>
            <a:pPr algn="l"/>
            <a:r>
              <a:rPr b="1" sz="1500" i="0" u="none">
                <a:solidFill>
                  <a:srgbClr val="006644"/>
                </a:solidFill>
                <a:latin typeface="Inter"/>
              </a:rPr>
              <a:t>Continuous feedback loops.</a:t>
            </a:r>
          </a:p>
        </p:txBody>
      </p:sp>
      <p:sp>
        <p:nvSpPr>
          <p:cNvPr id="123" name="TextBox 122"/>
          <p:cNvSpPr txBox="1"/>
          <p:nvPr/>
        </p:nvSpPr>
        <p:spPr>
          <a:xfrm>
            <a:off x="6553200" y="3143250"/>
            <a:ext cx="5638800" cy="228600"/>
          </a:xfrm>
          <a:prstGeom prst="rect">
            <a:avLst/>
          </a:prstGeom>
          <a:noFill/>
        </p:spPr>
        <p:txBody>
          <a:bodyPr wrap="none" lIns="171450" rIns="0" tIns="0" bIns="0" anchor="t">
            <a:spAutoFit/>
          </a:bodyPr>
          <a:lstStyle/>
          <a:p>
            <a:pPr algn="l"/>
            <a:r>
              <a:rPr b="1" sz="1500" i="0" u="none">
                <a:solidFill>
                  <a:srgbClr val="006644"/>
                </a:solidFill>
                <a:latin typeface="Inter"/>
              </a:rPr>
              <a:t>Visible defects and dependencies.</a:t>
            </a:r>
          </a:p>
        </p:txBody>
      </p:sp>
      <p:sp>
        <p:nvSpPr>
          <p:cNvPr id="124" name="TextBox 123"/>
          <p:cNvSpPr txBox="1"/>
          <p:nvPr/>
        </p:nvSpPr>
        <p:spPr>
          <a:xfrm>
            <a:off x="6553200" y="3524250"/>
            <a:ext cx="5638800" cy="228600"/>
          </a:xfrm>
          <a:prstGeom prst="rect">
            <a:avLst/>
          </a:prstGeom>
          <a:noFill/>
        </p:spPr>
        <p:txBody>
          <a:bodyPr wrap="none" lIns="171450" rIns="0" tIns="0" bIns="0" anchor="t">
            <a:spAutoFit/>
          </a:bodyPr>
          <a:lstStyle/>
          <a:p>
            <a:pPr algn="l"/>
            <a:r>
              <a:rPr b="1" sz="1500" i="0" u="none">
                <a:solidFill>
                  <a:srgbClr val="006644"/>
                </a:solidFill>
                <a:latin typeface="Inter"/>
              </a:rPr>
              <a:t>Phased incremental delivery.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3457575"/>
            <a:ext cx="2571750" cy="1485900"/>
          </a:xfrm>
          <a:prstGeom prst="roundRect">
            <a:avLst>
              <a:gd name="adj" fmla="val 5128"/>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09950" y="3457575"/>
            <a:ext cx="2571750" cy="1485900"/>
          </a:xfrm>
          <a:prstGeom prst="roundRect">
            <a:avLst>
              <a:gd name="adj" fmla="val 5128"/>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0300" y="3457575"/>
            <a:ext cx="2571750" cy="1485900"/>
          </a:xfrm>
          <a:prstGeom prst="roundRect">
            <a:avLst>
              <a:gd name="adj" fmla="val 5128"/>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010650" y="3457575"/>
            <a:ext cx="2571750" cy="1485900"/>
          </a:xfrm>
          <a:prstGeom prst="roundRect">
            <a:avLst>
              <a:gd name="adj" fmla="val 5128"/>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2" name="TextBox 11"/>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Agile Methodology Landscape</a:t>
            </a:r>
          </a:p>
        </p:txBody>
      </p:sp>
      <p:sp>
        <p:nvSpPr>
          <p:cNvPr id="13" name="TextBox 12"/>
          <p:cNvSpPr txBox="1"/>
          <p:nvPr/>
        </p:nvSpPr>
        <p:spPr>
          <a:xfrm>
            <a:off x="-381000" y="1571625"/>
            <a:ext cx="12954000" cy="276225"/>
          </a:xfrm>
          <a:prstGeom prst="rect">
            <a:avLst/>
          </a:prstGeom>
          <a:noFill/>
        </p:spPr>
        <p:txBody>
          <a:bodyPr wrap="none" lIns="0" rIns="0" tIns="0" bIns="0" anchor="t">
            <a:spAutoFit/>
          </a:bodyPr>
          <a:lstStyle/>
          <a:p>
            <a:pPr algn="ctr"/>
            <a:r>
              <a:rPr b="1" sz="1800" i="0" u="none">
                <a:solidFill>
                  <a:srgbClr val="172B4D"/>
                </a:solidFill>
                <a:latin typeface="Inter"/>
              </a:rPr>
              <a:t>Alumnex Connect utilizes a hybrid approach.</a:t>
            </a:r>
          </a:p>
        </p:txBody>
      </p:sp>
      <p:sp>
        <p:nvSpPr>
          <p:cNvPr id="14" name="TextBox 13"/>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5" name="TextBox 14"/>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6" name="TextBox 15"/>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7" name="TextBox 16"/>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8" name="TextBox 17"/>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9" name="TextBox 18"/>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0" name="TextBox 19"/>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1" name="TextBox 20"/>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2" name="TextBox 21"/>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3" name="TextBox 22"/>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4" name="TextBox 23"/>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5" name="TextBox 24"/>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6" name="TextBox 25"/>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7" name="TextBox 26"/>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8" name="TextBox 27"/>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9" name="TextBox 28"/>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0" name="TextBox 29"/>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1" name="TextBox 30"/>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2" name="TextBox 31"/>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3" name="TextBox 32"/>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4" name="TextBox 33"/>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5" name="TextBox 34"/>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6" name="TextBox 35"/>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7" name="TextBox 36"/>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8" name="TextBox 37"/>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9" name="TextBox 38"/>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0" name="TextBox 39"/>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1" name="TextBox 40"/>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2" name="TextBox 41"/>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3" name="TextBox 42"/>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4" name="TextBox 43"/>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5" name="TextBox 44"/>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6" name="TextBox 45"/>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7" name="TextBox 46"/>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8" name="TextBox 47"/>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9" name="TextBox 48"/>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0" name="TextBox 49"/>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1" name="TextBox 50"/>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2" name="TextBox 51"/>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3" name="TextBox 52"/>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4" name="TextBox 53"/>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5" name="TextBox 54"/>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6" name="TextBox 55"/>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7" name="TextBox 56"/>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8" name="TextBox 57"/>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9" name="TextBox 58"/>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0" name="TextBox 59"/>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1" name="TextBox 60"/>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2" name="TextBox 61"/>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3" name="TextBox 62"/>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4" name="TextBox 63"/>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5" name="TextBox 64"/>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6" name="TextBox 65"/>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7" name="TextBox 66"/>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8" name="TextBox 67"/>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9" name="TextBox 68"/>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0" name="TextBox 69"/>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1" name="TextBox 70"/>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2" name="TextBox 71"/>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3" name="TextBox 72"/>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4" name="TextBox 73"/>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5" name="TextBox 74"/>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6" name="TextBox 75"/>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7" name="TextBox 76"/>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8" name="TextBox 77"/>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9" name="TextBox 78"/>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0" name="TextBox 79"/>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1" name="TextBox 80"/>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2" name="TextBox 81"/>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3" name="TextBox 82"/>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4" name="TextBox 83"/>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5" name="TextBox 84"/>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6" name="TextBox 85"/>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7" name="TextBox 86"/>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8" name="TextBox 87"/>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9" name="TextBox 88"/>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0" name="TextBox 89"/>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1" name="TextBox 90"/>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2" name="TextBox 91"/>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3" name="TextBox 92"/>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4" name="TextBox 93"/>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5" name="TextBox 94"/>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6" name="TextBox 95"/>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7" name="TextBox 96"/>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8" name="TextBox 97"/>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9" name="TextBox 98"/>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0" name="TextBox 99"/>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1" name="TextBox 100"/>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2" name="TextBox 101"/>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3" name="TextBox 102"/>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4" name="TextBox 103"/>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5" name="TextBox 104"/>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6" name="TextBox 105"/>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7" name="TextBox 106"/>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8" name="TextBox 107"/>
          <p:cNvSpPr txBox="1"/>
          <p:nvPr/>
        </p:nvSpPr>
        <p:spPr>
          <a:xfrm>
            <a:off x="838200" y="3686175"/>
            <a:ext cx="2775346" cy="276225"/>
          </a:xfrm>
          <a:prstGeom prst="rect">
            <a:avLst/>
          </a:prstGeom>
          <a:noFill/>
        </p:spPr>
        <p:txBody>
          <a:bodyPr wrap="none" lIns="0" rIns="0" tIns="0" bIns="0" anchor="t">
            <a:spAutoFit/>
          </a:bodyPr>
          <a:lstStyle/>
          <a:p>
            <a:pPr algn="l"/>
            <a:r>
              <a:rPr b="1" sz="1800" i="0" u="none">
                <a:solidFill>
                  <a:srgbClr val="0052CC"/>
                </a:solidFill>
                <a:latin typeface="Inter"/>
              </a:rPr>
              <a:t>Scrum</a:t>
            </a:r>
          </a:p>
        </p:txBody>
      </p:sp>
      <p:sp>
        <p:nvSpPr>
          <p:cNvPr id="109" name="TextBox 108"/>
          <p:cNvSpPr txBox="1"/>
          <p:nvPr/>
        </p:nvSpPr>
        <p:spPr>
          <a:xfrm>
            <a:off x="838200" y="4114800"/>
            <a:ext cx="2209800" cy="600075"/>
          </a:xfrm>
          <a:prstGeom prst="rect">
            <a:avLst/>
          </a:prstGeom>
          <a:noFill/>
        </p:spPr>
        <p:txBody>
          <a:bodyPr wrap="square" lIns="0" rIns="0" tIns="0" bIns="0" anchor="t">
            <a:spAutoFit/>
          </a:bodyPr>
          <a:lstStyle/>
          <a:p>
            <a:pPr algn="l"/>
            <a:r>
              <a:rPr b="0" sz="1350" i="0" u="none">
                <a:solidFill>
                  <a:srgbClr val="172B4D"/>
                </a:solidFill>
                <a:latin typeface="Inter"/>
              </a:rPr>
              <a:t>Governance, backlog refinement, ceremonies, iteration framework.</a:t>
            </a:r>
          </a:p>
        </p:txBody>
      </p:sp>
      <p:sp>
        <p:nvSpPr>
          <p:cNvPr id="110" name="TextBox 109"/>
          <p:cNvSpPr txBox="1"/>
          <p:nvPr/>
        </p:nvSpPr>
        <p:spPr>
          <a:xfrm>
            <a:off x="3638550" y="3686175"/>
            <a:ext cx="2775346" cy="276225"/>
          </a:xfrm>
          <a:prstGeom prst="rect">
            <a:avLst/>
          </a:prstGeom>
          <a:noFill/>
        </p:spPr>
        <p:txBody>
          <a:bodyPr wrap="none" lIns="0" rIns="0" tIns="0" bIns="0" anchor="t">
            <a:spAutoFit/>
          </a:bodyPr>
          <a:lstStyle/>
          <a:p>
            <a:pPr algn="l"/>
            <a:r>
              <a:rPr b="1" sz="1800" i="0" u="none">
                <a:solidFill>
                  <a:srgbClr val="0052CC"/>
                </a:solidFill>
                <a:latin typeface="Inter"/>
              </a:rPr>
              <a:t>Kanban</a:t>
            </a:r>
          </a:p>
        </p:txBody>
      </p:sp>
      <p:sp>
        <p:nvSpPr>
          <p:cNvPr id="111" name="TextBox 110"/>
          <p:cNvSpPr txBox="1"/>
          <p:nvPr/>
        </p:nvSpPr>
        <p:spPr>
          <a:xfrm>
            <a:off x="3638550" y="4114800"/>
            <a:ext cx="2209800" cy="600075"/>
          </a:xfrm>
          <a:prstGeom prst="rect">
            <a:avLst/>
          </a:prstGeom>
          <a:noFill/>
        </p:spPr>
        <p:txBody>
          <a:bodyPr wrap="square" lIns="0" rIns="0" tIns="0" bIns="0" anchor="t">
            <a:spAutoFit/>
          </a:bodyPr>
          <a:lstStyle/>
          <a:p>
            <a:pPr algn="l"/>
            <a:r>
              <a:rPr b="0" sz="1350" i="0" u="none">
                <a:solidFill>
                  <a:srgbClr val="172B4D"/>
                </a:solidFill>
                <a:latin typeface="Inter"/>
              </a:rPr>
              <a:t>Visible flow, WIP monitoring, cycle-time tracking, pull system.</a:t>
            </a:r>
          </a:p>
        </p:txBody>
      </p:sp>
      <p:sp>
        <p:nvSpPr>
          <p:cNvPr id="112" name="TextBox 111"/>
          <p:cNvSpPr txBox="1"/>
          <p:nvPr/>
        </p:nvSpPr>
        <p:spPr>
          <a:xfrm>
            <a:off x="6438900" y="3686175"/>
            <a:ext cx="2775346" cy="276225"/>
          </a:xfrm>
          <a:prstGeom prst="rect">
            <a:avLst/>
          </a:prstGeom>
          <a:noFill/>
        </p:spPr>
        <p:txBody>
          <a:bodyPr wrap="none" lIns="0" rIns="0" tIns="0" bIns="0" anchor="t">
            <a:spAutoFit/>
          </a:bodyPr>
          <a:lstStyle/>
          <a:p>
            <a:pPr algn="l"/>
            <a:r>
              <a:rPr b="1" sz="1800" i="0" u="none">
                <a:solidFill>
                  <a:srgbClr val="0052CC"/>
                </a:solidFill>
                <a:latin typeface="Inter"/>
              </a:rPr>
              <a:t>XP</a:t>
            </a:r>
          </a:p>
        </p:txBody>
      </p:sp>
      <p:sp>
        <p:nvSpPr>
          <p:cNvPr id="113" name="TextBox 112"/>
          <p:cNvSpPr txBox="1"/>
          <p:nvPr/>
        </p:nvSpPr>
        <p:spPr>
          <a:xfrm>
            <a:off x="6438900" y="4114800"/>
            <a:ext cx="2209800" cy="600075"/>
          </a:xfrm>
          <a:prstGeom prst="rect">
            <a:avLst/>
          </a:prstGeom>
          <a:noFill/>
        </p:spPr>
        <p:txBody>
          <a:bodyPr wrap="square" lIns="0" rIns="0" tIns="0" bIns="0" anchor="t">
            <a:spAutoFit/>
          </a:bodyPr>
          <a:lstStyle/>
          <a:p>
            <a:pPr algn="l"/>
            <a:r>
              <a:rPr b="0" sz="1350" i="0" u="none">
                <a:solidFill>
                  <a:srgbClr val="172B4D"/>
                </a:solidFill>
                <a:latin typeface="Inter"/>
              </a:rPr>
              <a:t>Engineering quality, automated testing, continuous integration.</a:t>
            </a:r>
          </a:p>
        </p:txBody>
      </p:sp>
      <p:sp>
        <p:nvSpPr>
          <p:cNvPr id="114" name="TextBox 113"/>
          <p:cNvSpPr txBox="1"/>
          <p:nvPr/>
        </p:nvSpPr>
        <p:spPr>
          <a:xfrm>
            <a:off x="9239250" y="3686175"/>
            <a:ext cx="2775346" cy="276225"/>
          </a:xfrm>
          <a:prstGeom prst="rect">
            <a:avLst/>
          </a:prstGeom>
          <a:noFill/>
        </p:spPr>
        <p:txBody>
          <a:bodyPr wrap="none" lIns="0" rIns="0" tIns="0" bIns="0" anchor="t">
            <a:spAutoFit/>
          </a:bodyPr>
          <a:lstStyle/>
          <a:p>
            <a:pPr algn="l"/>
            <a:r>
              <a:rPr b="1" sz="1800" i="0" u="none">
                <a:solidFill>
                  <a:srgbClr val="0052CC"/>
                </a:solidFill>
                <a:latin typeface="Inter"/>
              </a:rPr>
              <a:t>Lean</a:t>
            </a:r>
          </a:p>
        </p:txBody>
      </p:sp>
      <p:sp>
        <p:nvSpPr>
          <p:cNvPr id="115" name="TextBox 114"/>
          <p:cNvSpPr txBox="1"/>
          <p:nvPr/>
        </p:nvSpPr>
        <p:spPr>
          <a:xfrm>
            <a:off x="9239250" y="4114800"/>
            <a:ext cx="2209800" cy="600075"/>
          </a:xfrm>
          <a:prstGeom prst="rect">
            <a:avLst/>
          </a:prstGeom>
          <a:noFill/>
        </p:spPr>
        <p:txBody>
          <a:bodyPr wrap="square" lIns="0" rIns="0" tIns="0" bIns="0" anchor="t">
            <a:spAutoFit/>
          </a:bodyPr>
          <a:lstStyle/>
          <a:p>
            <a:pPr algn="l"/>
            <a:r>
              <a:rPr b="0" sz="1350" i="0" u="none">
                <a:solidFill>
                  <a:srgbClr val="172B4D"/>
                </a:solidFill>
                <a:latin typeface="Inter"/>
              </a:rPr>
              <a:t>Waste reduction, flow optimization, rapid feedback loops.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0" y="2605087"/>
            <a:ext cx="5638800" cy="2609850"/>
          </a:xfrm>
          <a:prstGeom prst="roundRect">
            <a:avLst>
              <a:gd name="adj" fmla="val 2919"/>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3009900"/>
            <a:ext cx="5029200" cy="1162050"/>
          </a:xfrm>
          <a:prstGeom prst="roundRect">
            <a:avLst>
              <a:gd name="adj" fmla="val 6557"/>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4400550"/>
            <a:ext cx="5029200" cy="962025"/>
          </a:xfrm>
          <a:prstGeom prst="roundRect">
            <a:avLst>
              <a:gd name="adj" fmla="val 7920"/>
            </a:avLst>
          </a:prstGeom>
          <a:solidFill>
            <a:srgbClr val="EA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3009900"/>
            <a:ext cx="57150" cy="116205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4400550"/>
            <a:ext cx="57150" cy="962025"/>
          </a:xfrm>
          <a:prstGeom prst="rect">
            <a:avLst/>
          </a:prstGeom>
          <a:solidFill>
            <a:srgbClr val="524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3" name="TextBox 12"/>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Why Jira?</a:t>
            </a:r>
          </a:p>
        </p:txBody>
      </p:sp>
      <p:sp>
        <p:nvSpPr>
          <p:cNvPr id="14" name="TextBox 13"/>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5" name="TextBox 14"/>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6" name="TextBox 15"/>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7" name="TextBox 16"/>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8" name="TextBox 17"/>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9" name="TextBox 18"/>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0" name="TextBox 19"/>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1" name="TextBox 20"/>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2" name="TextBox 21"/>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3" name="TextBox 22"/>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4" name="TextBox 23"/>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5" name="TextBox 24"/>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6" name="TextBox 25"/>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7" name="TextBox 26"/>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8" name="TextBox 27"/>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9" name="TextBox 28"/>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0" name="TextBox 29"/>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1" name="TextBox 30"/>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2" name="TextBox 31"/>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3" name="TextBox 32"/>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4" name="TextBox 33"/>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5" name="TextBox 34"/>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6" name="TextBox 35"/>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7" name="TextBox 36"/>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8" name="TextBox 37"/>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9" name="TextBox 38"/>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0" name="TextBox 39"/>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1" name="TextBox 40"/>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2" name="TextBox 41"/>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3" name="TextBox 42"/>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4" name="TextBox 43"/>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5" name="TextBox 44"/>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6" name="TextBox 45"/>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7" name="TextBox 46"/>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8" name="TextBox 47"/>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9" name="TextBox 48"/>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0" name="TextBox 49"/>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1" name="TextBox 50"/>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2" name="TextBox 51"/>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3" name="TextBox 52"/>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4" name="TextBox 53"/>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5" name="TextBox 54"/>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6" name="TextBox 55"/>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7" name="TextBox 56"/>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8" name="TextBox 57"/>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9" name="TextBox 58"/>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0" name="TextBox 59"/>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1" name="TextBox 60"/>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2" name="TextBox 61"/>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3" name="TextBox 62"/>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4" name="TextBox 63"/>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5" name="TextBox 64"/>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6" name="TextBox 65"/>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7" name="TextBox 66"/>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8" name="TextBox 67"/>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9" name="TextBox 68"/>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0" name="TextBox 69"/>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1" name="TextBox 70"/>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2" name="TextBox 71"/>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3" name="TextBox 72"/>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4" name="TextBox 73"/>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5" name="TextBox 74"/>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6" name="TextBox 75"/>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7" name="TextBox 76"/>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8" name="TextBox 77"/>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9" name="TextBox 78"/>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0" name="TextBox 79"/>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1" name="TextBox 80"/>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2" name="TextBox 81"/>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3" name="TextBox 82"/>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4" name="TextBox 83"/>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5" name="TextBox 84"/>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6" name="TextBox 85"/>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7" name="TextBox 86"/>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8" name="TextBox 87"/>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9" name="TextBox 88"/>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0" name="TextBox 89"/>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1" name="TextBox 90"/>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2" name="TextBox 91"/>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3" name="TextBox 92"/>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4" name="TextBox 93"/>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5" name="TextBox 94"/>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6" name="TextBox 95"/>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7" name="TextBox 96"/>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8" name="TextBox 97"/>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9" name="TextBox 98"/>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0" name="TextBox 99"/>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1" name="TextBox 100"/>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2" name="TextBox 101"/>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3" name="TextBox 102"/>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4" name="TextBox 103"/>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5" name="TextBox 104"/>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6" name="TextBox 105"/>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7" name="TextBox 106"/>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8" name="TextBox 107"/>
          <p:cNvSpPr txBox="1"/>
          <p:nvPr/>
        </p:nvSpPr>
        <p:spPr>
          <a:xfrm>
            <a:off x="609600" y="2457450"/>
            <a:ext cx="6600825" cy="323850"/>
          </a:xfrm>
          <a:prstGeom prst="rect">
            <a:avLst/>
          </a:prstGeom>
          <a:noFill/>
        </p:spPr>
        <p:txBody>
          <a:bodyPr wrap="none" lIns="0" rIns="0" tIns="0" bIns="0" anchor="t">
            <a:spAutoFit/>
          </a:bodyPr>
          <a:lstStyle/>
          <a:p>
            <a:pPr algn="l"/>
            <a:r>
              <a:rPr b="1" sz="2100" i="0" u="none">
                <a:solidFill>
                  <a:srgbClr val="172B4D"/>
                </a:solidFill>
                <a:latin typeface="Inter"/>
              </a:rPr>
              <a:t>The Two-Layer Architecture</a:t>
            </a:r>
          </a:p>
        </p:txBody>
      </p:sp>
      <p:sp>
        <p:nvSpPr>
          <p:cNvPr id="109" name="TextBox 108"/>
          <p:cNvSpPr txBox="1"/>
          <p:nvPr/>
        </p:nvSpPr>
        <p:spPr>
          <a:xfrm>
            <a:off x="7729537" y="2909887"/>
            <a:ext cx="2583656" cy="228600"/>
          </a:xfrm>
          <a:prstGeom prst="rect">
            <a:avLst/>
          </a:prstGeom>
          <a:noFill/>
        </p:spPr>
        <p:txBody>
          <a:bodyPr wrap="none" lIns="0" rIns="0" tIns="0" bIns="0" anchor="t">
            <a:spAutoFit/>
          </a:bodyPr>
          <a:lstStyle/>
          <a:p>
            <a:pPr algn="l"/>
            <a:r>
              <a:rPr b="1" sz="1500" i="0" u="none">
                <a:solidFill>
                  <a:srgbClr val="172B4D"/>
                </a:solidFill>
                <a:latin typeface="Inter"/>
              </a:rPr>
              <a:t>Executable Work Flow</a:t>
            </a:r>
          </a:p>
        </p:txBody>
      </p:sp>
      <p:sp>
        <p:nvSpPr>
          <p:cNvPr id="110" name="TextBox 109"/>
          <p:cNvSpPr txBox="1"/>
          <p:nvPr/>
        </p:nvSpPr>
        <p:spPr>
          <a:xfrm>
            <a:off x="7729537" y="3290887"/>
            <a:ext cx="2583656" cy="209550"/>
          </a:xfrm>
          <a:prstGeom prst="rect">
            <a:avLst/>
          </a:prstGeom>
          <a:noFill/>
        </p:spPr>
        <p:txBody>
          <a:bodyPr wrap="none" lIns="0" rIns="0" tIns="0" bIns="0" anchor="t">
            <a:spAutoFit/>
          </a:bodyPr>
          <a:lstStyle/>
          <a:p>
            <a:pPr algn="l"/>
            <a:r>
              <a:rPr b="0" sz="1350" i="0" u="none">
                <a:solidFill>
                  <a:srgbClr val="172B4D"/>
                </a:solidFill>
                <a:latin typeface="Inter"/>
              </a:rPr>
              <a:t>Requirements → Backlog</a:t>
            </a:r>
          </a:p>
        </p:txBody>
      </p:sp>
      <p:sp>
        <p:nvSpPr>
          <p:cNvPr id="111" name="TextBox 110"/>
          <p:cNvSpPr txBox="1"/>
          <p:nvPr/>
        </p:nvSpPr>
        <p:spPr>
          <a:xfrm>
            <a:off x="7691437" y="3614737"/>
            <a:ext cx="2678906" cy="209550"/>
          </a:xfrm>
          <a:prstGeom prst="rect">
            <a:avLst/>
          </a:prstGeom>
          <a:noFill/>
        </p:spPr>
        <p:txBody>
          <a:bodyPr wrap="none" lIns="0" rIns="0" tIns="0" bIns="0" anchor="t">
            <a:spAutoFit/>
          </a:bodyPr>
          <a:lstStyle/>
          <a:p>
            <a:pPr algn="l"/>
            <a:r>
              <a:rPr b="0" sz="1350" i="0" u="none">
                <a:solidFill>
                  <a:srgbClr val="172B4D"/>
                </a:solidFill>
                <a:latin typeface="Inter"/>
              </a:rPr>
              <a:t>Backlog → Epics &amp; Stories</a:t>
            </a:r>
          </a:p>
        </p:txBody>
      </p:sp>
      <p:sp>
        <p:nvSpPr>
          <p:cNvPr id="112" name="TextBox 111"/>
          <p:cNvSpPr txBox="1"/>
          <p:nvPr/>
        </p:nvSpPr>
        <p:spPr>
          <a:xfrm>
            <a:off x="7958137" y="3938587"/>
            <a:ext cx="2012156" cy="209550"/>
          </a:xfrm>
          <a:prstGeom prst="rect">
            <a:avLst/>
          </a:prstGeom>
          <a:noFill/>
        </p:spPr>
        <p:txBody>
          <a:bodyPr wrap="none" lIns="0" rIns="0" tIns="0" bIns="0" anchor="t">
            <a:spAutoFit/>
          </a:bodyPr>
          <a:lstStyle/>
          <a:p>
            <a:pPr algn="l"/>
            <a:r>
              <a:rPr b="0" sz="1350" i="0" u="none">
                <a:solidFill>
                  <a:srgbClr val="172B4D"/>
                </a:solidFill>
                <a:latin typeface="Inter"/>
              </a:rPr>
              <a:t>Stories → Subtasks</a:t>
            </a:r>
          </a:p>
        </p:txBody>
      </p:sp>
      <p:sp>
        <p:nvSpPr>
          <p:cNvPr id="113" name="TextBox 112"/>
          <p:cNvSpPr txBox="1"/>
          <p:nvPr/>
        </p:nvSpPr>
        <p:spPr>
          <a:xfrm>
            <a:off x="7481887" y="4262437"/>
            <a:ext cx="3202781" cy="209550"/>
          </a:xfrm>
          <a:prstGeom prst="rect">
            <a:avLst/>
          </a:prstGeom>
          <a:noFill/>
        </p:spPr>
        <p:txBody>
          <a:bodyPr wrap="none" lIns="0" rIns="0" tIns="0" bIns="0" anchor="t">
            <a:spAutoFit/>
          </a:bodyPr>
          <a:lstStyle/>
          <a:p>
            <a:pPr algn="l"/>
            <a:r>
              <a:rPr b="0" sz="1350" i="0" u="none">
                <a:solidFill>
                  <a:srgbClr val="172B4D"/>
                </a:solidFill>
                <a:latin typeface="Inter"/>
              </a:rPr>
              <a:t>Subtasks → Development Flow</a:t>
            </a:r>
          </a:p>
        </p:txBody>
      </p:sp>
      <p:sp>
        <p:nvSpPr>
          <p:cNvPr id="114" name="TextBox 113"/>
          <p:cNvSpPr txBox="1"/>
          <p:nvPr/>
        </p:nvSpPr>
        <p:spPr>
          <a:xfrm>
            <a:off x="7800975" y="4586287"/>
            <a:ext cx="2405062" cy="209550"/>
          </a:xfrm>
          <a:prstGeom prst="rect">
            <a:avLst/>
          </a:prstGeom>
          <a:noFill/>
        </p:spPr>
        <p:txBody>
          <a:bodyPr wrap="none" lIns="0" rIns="0" tIns="0" bIns="0" anchor="t">
            <a:spAutoFit/>
          </a:bodyPr>
          <a:lstStyle/>
          <a:p>
            <a:pPr algn="l"/>
            <a:r>
              <a:rPr b="0" sz="1350" i="0" u="none">
                <a:solidFill>
                  <a:srgbClr val="172B4D"/>
                </a:solidFill>
                <a:latin typeface="Inter"/>
              </a:rPr>
              <a:t>Done → Release Phase</a:t>
            </a:r>
          </a:p>
        </p:txBody>
      </p:sp>
      <p:sp>
        <p:nvSpPr>
          <p:cNvPr id="115" name="TextBox 114"/>
          <p:cNvSpPr txBox="1"/>
          <p:nvPr/>
        </p:nvSpPr>
        <p:spPr>
          <a:xfrm>
            <a:off x="895350" y="3238500"/>
            <a:ext cx="5643562" cy="228600"/>
          </a:xfrm>
          <a:prstGeom prst="rect">
            <a:avLst/>
          </a:prstGeom>
          <a:noFill/>
        </p:spPr>
        <p:txBody>
          <a:bodyPr wrap="none" lIns="0" rIns="0" tIns="0" bIns="0" anchor="t">
            <a:spAutoFit/>
          </a:bodyPr>
          <a:lstStyle/>
          <a:p>
            <a:pPr algn="l"/>
            <a:r>
              <a:rPr b="1" sz="1500" i="0" u="none">
                <a:solidFill>
                  <a:srgbClr val="0052CC"/>
                </a:solidFill>
                <a:latin typeface="Inter"/>
              </a:rPr>
              <a:t>Jira: The Execution Layer</a:t>
            </a:r>
          </a:p>
        </p:txBody>
      </p:sp>
      <p:sp>
        <p:nvSpPr>
          <p:cNvPr id="116" name="TextBox 115"/>
          <p:cNvSpPr txBox="1"/>
          <p:nvPr/>
        </p:nvSpPr>
        <p:spPr>
          <a:xfrm>
            <a:off x="895350" y="3543300"/>
            <a:ext cx="4610100" cy="400050"/>
          </a:xfrm>
          <a:prstGeom prst="rect">
            <a:avLst/>
          </a:prstGeom>
          <a:noFill/>
        </p:spPr>
        <p:txBody>
          <a:bodyPr wrap="square" lIns="0" rIns="0" tIns="0" bIns="0" anchor="t">
            <a:spAutoFit/>
          </a:bodyPr>
          <a:lstStyle/>
          <a:p>
            <a:pPr algn="l"/>
            <a:r>
              <a:rPr b="0" sz="1350" i="0" u="none">
                <a:solidFill>
                  <a:srgbClr val="172B4D"/>
                </a:solidFill>
                <a:latin typeface="Inter"/>
              </a:rPr>
              <a:t>Tracks Epics, Stories, Bugs, states, and release phases.</a:t>
            </a:r>
          </a:p>
        </p:txBody>
      </p:sp>
      <p:sp>
        <p:nvSpPr>
          <p:cNvPr id="117" name="TextBox 116"/>
          <p:cNvSpPr txBox="1"/>
          <p:nvPr/>
        </p:nvSpPr>
        <p:spPr>
          <a:xfrm>
            <a:off x="895350" y="4629150"/>
            <a:ext cx="5643562" cy="228600"/>
          </a:xfrm>
          <a:prstGeom prst="rect">
            <a:avLst/>
          </a:prstGeom>
          <a:noFill/>
        </p:spPr>
        <p:txBody>
          <a:bodyPr wrap="none" lIns="0" rIns="0" tIns="0" bIns="0" anchor="t">
            <a:spAutoFit/>
          </a:bodyPr>
          <a:lstStyle/>
          <a:p>
            <a:pPr algn="l"/>
            <a:r>
              <a:rPr b="1" sz="1500" i="0" u="none">
                <a:solidFill>
                  <a:srgbClr val="5243AA"/>
                </a:solidFill>
                <a:latin typeface="Inter"/>
              </a:rPr>
              <a:t>Confluence: The Knowledge Layer</a:t>
            </a:r>
          </a:p>
        </p:txBody>
      </p:sp>
      <p:sp>
        <p:nvSpPr>
          <p:cNvPr id="118" name="TextBox 117"/>
          <p:cNvSpPr txBox="1"/>
          <p:nvPr/>
        </p:nvSpPr>
        <p:spPr>
          <a:xfrm>
            <a:off x="895350" y="4933950"/>
            <a:ext cx="5643562" cy="200025"/>
          </a:xfrm>
          <a:prstGeom prst="rect">
            <a:avLst/>
          </a:prstGeom>
          <a:noFill/>
        </p:spPr>
        <p:txBody>
          <a:bodyPr wrap="none" lIns="0" rIns="0" tIns="0" bIns="0" anchor="t">
            <a:spAutoFit/>
          </a:bodyPr>
          <a:lstStyle/>
          <a:p>
            <a:pPr algn="l"/>
            <a:r>
              <a:rPr b="0" sz="1350" i="0" u="none">
                <a:solidFill>
                  <a:srgbClr val="172B4D"/>
                </a:solidFill>
                <a:latin typeface="Inter"/>
              </a:rPr>
              <a:t>Houses Playbook, decisions, and governance rules.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609600" y="1533525"/>
            <a:ext cx="7112049" cy="5061942"/>
          </a:xfrm>
          <a:prstGeom prst="rect">
            <a:avLst/>
          </a:prstGeom>
        </p:spPr>
      </p:pic>
      <p:graphicFrame>
        <p:nvGraphicFramePr>
          <p:cNvPr id="7" name="Table 6"/>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8" name="TextBox 7"/>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Jira Project Structure</a:t>
            </a:r>
          </a:p>
        </p:txBody>
      </p:sp>
      <p:sp>
        <p:nvSpPr>
          <p:cNvPr id="9" name="TextBox 8"/>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0" name="TextBox 9"/>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1" name="TextBox 10"/>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2" name="TextBox 11"/>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3" name="TextBox 12"/>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4" name="TextBox 13"/>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5" name="TextBox 14"/>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6" name="TextBox 15"/>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17" name="TextBox 16"/>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18" name="TextBox 17"/>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19" name="TextBox 18"/>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0" name="TextBox 19"/>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1" name="TextBox 20"/>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2" name="TextBox 21"/>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3" name="TextBox 22"/>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4" name="TextBox 23"/>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5" name="TextBox 24"/>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6" name="TextBox 25"/>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27" name="TextBox 26"/>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28" name="TextBox 27"/>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29" name="TextBox 28"/>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0" name="TextBox 29"/>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1" name="TextBox 30"/>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2" name="TextBox 31"/>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3" name="TextBox 32"/>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4" name="TextBox 33"/>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5" name="TextBox 34"/>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6" name="TextBox 35"/>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37" name="TextBox 36"/>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38" name="TextBox 37"/>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39" name="TextBox 38"/>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0" name="TextBox 39"/>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1" name="TextBox 40"/>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2" name="TextBox 41"/>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3" name="TextBox 42"/>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4" name="TextBox 43"/>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5" name="TextBox 44"/>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6" name="TextBox 45"/>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47" name="TextBox 46"/>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48" name="TextBox 47"/>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49" name="TextBox 48"/>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0" name="TextBox 49"/>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1" name="TextBox 50"/>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2" name="TextBox 51"/>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3" name="TextBox 52"/>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4" name="TextBox 53"/>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5" name="TextBox 54"/>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6" name="TextBox 55"/>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57" name="TextBox 56"/>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58" name="TextBox 57"/>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59" name="TextBox 58"/>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0" name="TextBox 59"/>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1" name="TextBox 60"/>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2" name="TextBox 61"/>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3" name="TextBox 62"/>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4" name="TextBox 63"/>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5" name="TextBox 64"/>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6" name="TextBox 65"/>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67" name="TextBox 66"/>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68" name="TextBox 67"/>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69" name="TextBox 68"/>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0" name="TextBox 69"/>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1" name="TextBox 70"/>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2" name="TextBox 71"/>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3" name="TextBox 72"/>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4" name="TextBox 73"/>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5" name="TextBox 74"/>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6" name="TextBox 75"/>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77" name="TextBox 76"/>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78" name="TextBox 77"/>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79" name="TextBox 78"/>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0" name="TextBox 79"/>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1" name="TextBox 80"/>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2" name="TextBox 81"/>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3" name="TextBox 82"/>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4" name="TextBox 83"/>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5" name="TextBox 84"/>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6" name="TextBox 85"/>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87" name="TextBox 86"/>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88" name="TextBox 87"/>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89" name="TextBox 88"/>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0" name="TextBox 89"/>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1" name="TextBox 90"/>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2" name="TextBox 91"/>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3" name="TextBox 92"/>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4" name="TextBox 93"/>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5" name="TextBox 94"/>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6" name="TextBox 95"/>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97" name="TextBox 96"/>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98" name="TextBox 97"/>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99" name="TextBox 98"/>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0" name="TextBox 99"/>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1" name="TextBox 100"/>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2" name="TextBox 101"/>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3" name="TextBox 102"/>
          <p:cNvSpPr txBox="1"/>
          <p:nvPr/>
        </p:nvSpPr>
        <p:spPr>
          <a:xfrm>
            <a:off x="-279406" y="6747867"/>
            <a:ext cx="8890062" cy="110132"/>
          </a:xfrm>
          <a:prstGeom prst="rect">
            <a:avLst/>
          </a:prstGeom>
          <a:noFill/>
        </p:spPr>
        <p:txBody>
          <a:bodyPr wrap="none" lIns="0" rIns="0" tIns="0" bIns="0" anchor="t">
            <a:spAutoFit/>
          </a:bodyPr>
          <a:lstStyle/>
          <a:p>
            <a:pPr algn="ctr"/>
            <a:r>
              <a:rPr b="0" sz="1050" i="1" u="none">
                <a:solidFill>
                  <a:srgbClr val="5E6C84"/>
                </a:solidFill>
                <a:latin typeface="Inter"/>
              </a:rPr>
              <a:t>Figure 1. Jira project workspace serving as the central work-management system.</a:t>
            </a:r>
          </a:p>
        </p:txBody>
      </p:sp>
      <p:sp>
        <p:nvSpPr>
          <p:cNvPr id="104" name="TextBox 103"/>
          <p:cNvSpPr txBox="1"/>
          <p:nvPr/>
        </p:nvSpPr>
        <p:spPr>
          <a:xfrm>
            <a:off x="8026449" y="2921496"/>
            <a:ext cx="4165550" cy="228600"/>
          </a:xfrm>
          <a:prstGeom prst="rect">
            <a:avLst/>
          </a:prstGeom>
          <a:noFill/>
        </p:spPr>
        <p:txBody>
          <a:bodyPr wrap="none" lIns="0" rIns="0" tIns="0" bIns="0" anchor="t">
            <a:spAutoFit/>
          </a:bodyPr>
          <a:lstStyle/>
          <a:p>
            <a:pPr algn="l"/>
            <a:r>
              <a:rPr b="1" sz="1500" i="0" u="none">
                <a:solidFill>
                  <a:srgbClr val="172B4D"/>
                </a:solidFill>
                <a:latin typeface="Inter"/>
              </a:rPr>
              <a:t>Project Name:</a:t>
            </a:r>
            <a:r>
              <a:rPr b="0" sz="1500" i="0" u="none">
                <a:solidFill>
                  <a:srgbClr val="172B4D"/>
                </a:solidFill>
                <a:latin typeface="Inter"/>
              </a:rPr>
              <a:t> Alumnex Connect</a:t>
            </a:r>
          </a:p>
        </p:txBody>
      </p:sp>
      <p:sp>
        <p:nvSpPr>
          <p:cNvPr id="105" name="TextBox 104"/>
          <p:cNvSpPr txBox="1"/>
          <p:nvPr/>
        </p:nvSpPr>
        <p:spPr>
          <a:xfrm>
            <a:off x="8026449" y="3378696"/>
            <a:ext cx="4165550" cy="228600"/>
          </a:xfrm>
          <a:prstGeom prst="rect">
            <a:avLst/>
          </a:prstGeom>
          <a:noFill/>
        </p:spPr>
        <p:txBody>
          <a:bodyPr wrap="none" lIns="0" rIns="0" tIns="0" bIns="0" anchor="t">
            <a:spAutoFit/>
          </a:bodyPr>
          <a:lstStyle/>
          <a:p>
            <a:pPr algn="l"/>
            <a:r>
              <a:rPr b="1" sz="1500" i="0" u="none">
                <a:solidFill>
                  <a:srgbClr val="172B4D"/>
                </a:solidFill>
                <a:latin typeface="Inter"/>
              </a:rPr>
              <a:t>Project Key:</a:t>
            </a:r>
            <a:r>
              <a:rPr b="0" sz="1500" i="0" u="none">
                <a:solidFill>
                  <a:srgbClr val="172B4D"/>
                </a:solidFill>
                <a:latin typeface="Inter"/>
              </a:rPr>
              <a:t> KAN</a:t>
            </a:r>
          </a:p>
        </p:txBody>
      </p:sp>
      <p:sp>
        <p:nvSpPr>
          <p:cNvPr id="106" name="TextBox 105"/>
          <p:cNvSpPr txBox="1"/>
          <p:nvPr/>
        </p:nvSpPr>
        <p:spPr>
          <a:xfrm>
            <a:off x="8026449" y="3835896"/>
            <a:ext cx="3651200" cy="457200"/>
          </a:xfrm>
          <a:prstGeom prst="rect">
            <a:avLst/>
          </a:prstGeom>
          <a:noFill/>
        </p:spPr>
        <p:txBody>
          <a:bodyPr wrap="square" lIns="0" rIns="0" tIns="0" bIns="0" anchor="t">
            <a:spAutoFit/>
          </a:bodyPr>
          <a:lstStyle/>
          <a:p>
            <a:pPr algn="l"/>
            <a:r>
              <a:rPr b="1" sz="1500" i="0" u="none">
                <a:solidFill>
                  <a:srgbClr val="172B4D"/>
                </a:solidFill>
                <a:latin typeface="Inter"/>
              </a:rPr>
              <a:t>Board Type:</a:t>
            </a:r>
            <a:r>
              <a:rPr b="0" sz="1500" i="0" u="none">
                <a:solidFill>
                  <a:srgbClr val="172B4D"/>
                </a:solidFill>
                <a:latin typeface="Inter"/>
              </a:rPr>
              <a:t> KAN board (Team-managed)</a:t>
            </a:r>
          </a:p>
        </p:txBody>
      </p:sp>
      <p:sp>
        <p:nvSpPr>
          <p:cNvPr id="107" name="TextBox 106"/>
          <p:cNvSpPr txBox="1"/>
          <p:nvPr/>
        </p:nvSpPr>
        <p:spPr>
          <a:xfrm>
            <a:off x="8026449" y="4521696"/>
            <a:ext cx="3651200" cy="457200"/>
          </a:xfrm>
          <a:prstGeom prst="rect">
            <a:avLst/>
          </a:prstGeom>
          <a:noFill/>
        </p:spPr>
        <p:txBody>
          <a:bodyPr wrap="square" lIns="0" rIns="0" tIns="0" bIns="0" anchor="t">
            <a:spAutoFit/>
          </a:bodyPr>
          <a:lstStyle/>
          <a:p>
            <a:pPr algn="l"/>
            <a:r>
              <a:rPr b="1" sz="1500" i="0" u="none">
                <a:solidFill>
                  <a:srgbClr val="172B4D"/>
                </a:solidFill>
                <a:latin typeface="Inter"/>
              </a:rPr>
              <a:t>Core Tools:</a:t>
            </a:r>
            <a:r>
              <a:rPr b="0" sz="1500" i="0" u="none">
                <a:solidFill>
                  <a:srgbClr val="172B4D"/>
                </a:solidFill>
                <a:latin typeface="Inter"/>
              </a:rPr>
              <a:t> Backlog, Board, Timeline, Reports.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1237" y="2481262"/>
            <a:ext cx="19050" cy="285750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09937" y="2176462"/>
            <a:ext cx="2171700" cy="800100"/>
          </a:xfrm>
          <a:prstGeom prst="roundRect">
            <a:avLst>
              <a:gd name="adj" fmla="val 4761"/>
            </a:avLst>
          </a:prstGeom>
          <a:solidFill>
            <a:srgbClr val="EAE6FF"/>
          </a:solidFill>
          <a:ln w="19050">
            <a:solidFill>
              <a:srgbClr val="5243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62325" y="3509962"/>
            <a:ext cx="2066925" cy="800100"/>
          </a:xfrm>
          <a:prstGeom prst="roundRect">
            <a:avLst>
              <a:gd name="adj" fmla="val 4761"/>
            </a:avLst>
          </a:prstGeom>
          <a:solidFill>
            <a:srgbClr val="E3FCEF"/>
          </a:solidFill>
          <a:ln w="19050">
            <a:solidFill>
              <a:srgbClr val="006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14700" y="4843462"/>
            <a:ext cx="2162175" cy="800100"/>
          </a:xfrm>
          <a:prstGeom prst="roundRect">
            <a:avLst>
              <a:gd name="adj" fmla="val 4761"/>
            </a:avLst>
          </a:prstGeom>
          <a:solidFill>
            <a:srgbClr val="DEEBFF"/>
          </a:solidFill>
          <a:ln w="19050">
            <a:solidFill>
              <a:srgbClr val="0052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96087" y="2971800"/>
            <a:ext cx="2009775" cy="800100"/>
          </a:xfrm>
          <a:prstGeom prst="roundRect">
            <a:avLst>
              <a:gd name="adj" fmla="val 4761"/>
            </a:avLst>
          </a:prstGeom>
          <a:solidFill>
            <a:srgbClr val="FFEBE6"/>
          </a:solidFill>
          <a:ln w="19050">
            <a:solidFill>
              <a:srgbClr val="BF2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19887" y="4305300"/>
            <a:ext cx="2162175" cy="542925"/>
          </a:xfrm>
          <a:prstGeom prst="roundRect">
            <a:avLst>
              <a:gd name="adj" fmla="val 7017"/>
            </a:avLst>
          </a:prstGeom>
          <a:solidFill>
            <a:srgbClr val="F4F5F7"/>
          </a:solidFill>
          <a:ln w="19050">
            <a:solidFill>
              <a:srgbClr val="7A8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4310062" y="3128962"/>
            <a:ext cx="171450" cy="228600"/>
          </a:xfrm>
          <a:prstGeom prst="rect">
            <a:avLst/>
          </a:prstGeom>
        </p:spPr>
      </p:pic>
      <p:pic>
        <p:nvPicPr>
          <p:cNvPr id="14" name="Picture 13" descr="image.png"/>
          <p:cNvPicPr>
            <a:picLocks noChangeAspect="1"/>
          </p:cNvPicPr>
          <p:nvPr/>
        </p:nvPicPr>
        <p:blipFill>
          <a:blip r:embed="rId2"/>
          <a:stretch>
            <a:fillRect/>
          </a:stretch>
        </p:blipFill>
        <p:spPr>
          <a:xfrm>
            <a:off x="4310062" y="4462462"/>
            <a:ext cx="171450" cy="228600"/>
          </a:xfrm>
          <a:prstGeom prst="rect">
            <a:avLst/>
          </a:prstGeom>
        </p:spPr>
      </p:pic>
      <p:pic>
        <p:nvPicPr>
          <p:cNvPr id="15" name="Picture 14" descr="image.png"/>
          <p:cNvPicPr>
            <a:picLocks noChangeAspect="1"/>
          </p:cNvPicPr>
          <p:nvPr/>
        </p:nvPicPr>
        <p:blipFill>
          <a:blip r:embed="rId3"/>
          <a:stretch>
            <a:fillRect/>
          </a:stretch>
        </p:blipFill>
        <p:spPr>
          <a:xfrm>
            <a:off x="7715250" y="3924300"/>
            <a:ext cx="171450" cy="228600"/>
          </a:xfrm>
          <a:prstGeom prst="rect">
            <a:avLst/>
          </a:prstGeom>
        </p:spPr>
      </p:pic>
      <p:graphicFrame>
        <p:nvGraphicFramePr>
          <p:cNvPr id="16" name="Table 15"/>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7" name="TextBox 16"/>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Jira Issue Hierarchy</a:t>
            </a:r>
          </a:p>
        </p:txBody>
      </p:sp>
      <p:sp>
        <p:nvSpPr>
          <p:cNvPr id="18" name="TextBox 17"/>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9" name="TextBox 18"/>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0" name="TextBox 19"/>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1" name="TextBox 20"/>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2" name="TextBox 21"/>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3" name="TextBox 22"/>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4" name="TextBox 23"/>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5" name="TextBox 24"/>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6" name="TextBox 25"/>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7" name="TextBox 26"/>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8" name="TextBox 27"/>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9" name="TextBox 28"/>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0" name="TextBox 29"/>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1" name="TextBox 30"/>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2" name="TextBox 31"/>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3" name="TextBox 32"/>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4" name="TextBox 33"/>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5" name="TextBox 34"/>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6" name="TextBox 35"/>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7" name="TextBox 36"/>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8" name="TextBox 37"/>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9" name="TextBox 38"/>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0" name="TextBox 39"/>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1" name="TextBox 40"/>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2" name="TextBox 41"/>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3" name="TextBox 42"/>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4" name="TextBox 43"/>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5" name="TextBox 44"/>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6" name="TextBox 45"/>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7" name="TextBox 46"/>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8" name="TextBox 47"/>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9" name="TextBox 48"/>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0" name="TextBox 49"/>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1" name="TextBox 50"/>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2" name="TextBox 51"/>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3" name="TextBox 52"/>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4" name="TextBox 53"/>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5" name="TextBox 54"/>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6" name="TextBox 55"/>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7" name="TextBox 56"/>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8" name="TextBox 57"/>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9" name="TextBox 58"/>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0" name="TextBox 59"/>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1" name="TextBox 60"/>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2" name="TextBox 61"/>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3" name="TextBox 62"/>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4" name="TextBox 63"/>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5" name="TextBox 64"/>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6" name="TextBox 65"/>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7" name="TextBox 66"/>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8" name="TextBox 67"/>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9" name="TextBox 68"/>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0" name="TextBox 69"/>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1" name="TextBox 70"/>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2" name="TextBox 71"/>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3" name="TextBox 72"/>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4" name="TextBox 73"/>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5" name="TextBox 74"/>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6" name="TextBox 75"/>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7" name="TextBox 76"/>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8" name="TextBox 77"/>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9" name="TextBox 78"/>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0" name="TextBox 79"/>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1" name="TextBox 80"/>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2" name="TextBox 81"/>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3" name="TextBox 82"/>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4" name="TextBox 83"/>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5" name="TextBox 84"/>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6" name="TextBox 85"/>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7" name="TextBox 86"/>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8" name="TextBox 87"/>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9" name="TextBox 88"/>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0" name="TextBox 89"/>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1" name="TextBox 90"/>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2" name="TextBox 91"/>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3" name="TextBox 92"/>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4" name="TextBox 93"/>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5" name="TextBox 94"/>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6" name="TextBox 95"/>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7" name="TextBox 96"/>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8" name="TextBox 97"/>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9" name="TextBox 98"/>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0" name="TextBox 99"/>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1" name="TextBox 100"/>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2" name="TextBox 101"/>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3" name="TextBox 102"/>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4" name="TextBox 103"/>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5" name="TextBox 104"/>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6" name="TextBox 105"/>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7" name="TextBox 106"/>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8" name="TextBox 107"/>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9" name="TextBox 108"/>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0" name="TextBox 109"/>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1" name="TextBox 110"/>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2" name="TextBox 111"/>
          <p:cNvSpPr txBox="1"/>
          <p:nvPr/>
        </p:nvSpPr>
        <p:spPr>
          <a:xfrm>
            <a:off x="3443287" y="2347912"/>
            <a:ext cx="1905000" cy="228600"/>
          </a:xfrm>
          <a:prstGeom prst="rect">
            <a:avLst/>
          </a:prstGeom>
          <a:noFill/>
        </p:spPr>
        <p:txBody>
          <a:bodyPr wrap="none" lIns="0" rIns="0" tIns="0" bIns="0" anchor="t">
            <a:spAutoFit/>
          </a:bodyPr>
          <a:lstStyle/>
          <a:p>
            <a:pPr algn="ctr"/>
            <a:r>
              <a:rPr b="1" sz="1500" i="0" u="none">
                <a:solidFill>
                  <a:srgbClr val="5243AA"/>
                </a:solidFill>
                <a:latin typeface="Inter"/>
              </a:rPr>
              <a:t>EPIC</a:t>
            </a:r>
          </a:p>
        </p:txBody>
      </p:sp>
      <p:sp>
        <p:nvSpPr>
          <p:cNvPr id="113" name="TextBox 112"/>
          <p:cNvSpPr txBox="1"/>
          <p:nvPr/>
        </p:nvSpPr>
        <p:spPr>
          <a:xfrm>
            <a:off x="3633787" y="2614612"/>
            <a:ext cx="1905000" cy="190500"/>
          </a:xfrm>
          <a:prstGeom prst="rect">
            <a:avLst/>
          </a:prstGeom>
          <a:noFill/>
        </p:spPr>
        <p:txBody>
          <a:bodyPr wrap="none" lIns="0" rIns="0" tIns="0" bIns="0" anchor="t">
            <a:spAutoFit/>
          </a:bodyPr>
          <a:lstStyle/>
          <a:p>
            <a:pPr algn="l"/>
            <a:r>
              <a:rPr b="0" sz="1200" i="0" u="none">
                <a:solidFill>
                  <a:srgbClr val="172B4D"/>
                </a:solidFill>
                <a:latin typeface="Inter"/>
              </a:rPr>
              <a:t>KAN-1 Authentication</a:t>
            </a:r>
          </a:p>
        </p:txBody>
      </p:sp>
      <p:sp>
        <p:nvSpPr>
          <p:cNvPr id="114" name="TextBox 113"/>
          <p:cNvSpPr txBox="1"/>
          <p:nvPr/>
        </p:nvSpPr>
        <p:spPr>
          <a:xfrm>
            <a:off x="3508771" y="3681412"/>
            <a:ext cx="1774031" cy="228600"/>
          </a:xfrm>
          <a:prstGeom prst="rect">
            <a:avLst/>
          </a:prstGeom>
          <a:noFill/>
        </p:spPr>
        <p:txBody>
          <a:bodyPr wrap="none" lIns="0" rIns="0" tIns="0" bIns="0" anchor="t">
            <a:spAutoFit/>
          </a:bodyPr>
          <a:lstStyle/>
          <a:p>
            <a:pPr algn="ctr"/>
            <a:r>
              <a:rPr b="1" sz="1500" i="0" u="none">
                <a:solidFill>
                  <a:srgbClr val="006644"/>
                </a:solidFill>
                <a:latin typeface="Inter"/>
              </a:rPr>
              <a:t>STORY</a:t>
            </a:r>
          </a:p>
        </p:txBody>
      </p:sp>
      <p:sp>
        <p:nvSpPr>
          <p:cNvPr id="115" name="TextBox 114"/>
          <p:cNvSpPr txBox="1"/>
          <p:nvPr/>
        </p:nvSpPr>
        <p:spPr>
          <a:xfrm>
            <a:off x="3686175" y="3948112"/>
            <a:ext cx="1774031" cy="190500"/>
          </a:xfrm>
          <a:prstGeom prst="rect">
            <a:avLst/>
          </a:prstGeom>
          <a:noFill/>
        </p:spPr>
        <p:txBody>
          <a:bodyPr wrap="none" lIns="0" rIns="0" tIns="0" bIns="0" anchor="t">
            <a:spAutoFit/>
          </a:bodyPr>
          <a:lstStyle/>
          <a:p>
            <a:pPr algn="l"/>
            <a:r>
              <a:rPr b="0" sz="1200" i="0" u="none">
                <a:solidFill>
                  <a:srgbClr val="172B4D"/>
                </a:solidFill>
                <a:latin typeface="Inter"/>
              </a:rPr>
              <a:t>KAN-11 Registration</a:t>
            </a:r>
          </a:p>
        </p:txBody>
      </p:sp>
      <p:sp>
        <p:nvSpPr>
          <p:cNvPr id="116" name="TextBox 115"/>
          <p:cNvSpPr txBox="1"/>
          <p:nvPr/>
        </p:nvSpPr>
        <p:spPr>
          <a:xfrm>
            <a:off x="3449240" y="5014912"/>
            <a:ext cx="1893093" cy="228600"/>
          </a:xfrm>
          <a:prstGeom prst="rect">
            <a:avLst/>
          </a:prstGeom>
          <a:noFill/>
        </p:spPr>
        <p:txBody>
          <a:bodyPr wrap="none" lIns="0" rIns="0" tIns="0" bIns="0" anchor="t">
            <a:spAutoFit/>
          </a:bodyPr>
          <a:lstStyle/>
          <a:p>
            <a:pPr algn="ctr"/>
            <a:r>
              <a:rPr b="1" sz="1500" i="0" u="none">
                <a:solidFill>
                  <a:srgbClr val="0052CC"/>
                </a:solidFill>
                <a:latin typeface="Inter"/>
              </a:rPr>
              <a:t>SUBTASK</a:t>
            </a:r>
          </a:p>
        </p:txBody>
      </p:sp>
      <p:sp>
        <p:nvSpPr>
          <p:cNvPr id="117" name="TextBox 116"/>
          <p:cNvSpPr txBox="1"/>
          <p:nvPr/>
        </p:nvSpPr>
        <p:spPr>
          <a:xfrm>
            <a:off x="3638550" y="5281612"/>
            <a:ext cx="1893093" cy="190500"/>
          </a:xfrm>
          <a:prstGeom prst="rect">
            <a:avLst/>
          </a:prstGeom>
          <a:noFill/>
        </p:spPr>
        <p:txBody>
          <a:bodyPr wrap="none" lIns="0" rIns="0" tIns="0" bIns="0" anchor="t">
            <a:spAutoFit/>
          </a:bodyPr>
          <a:lstStyle/>
          <a:p>
            <a:pPr algn="l"/>
            <a:r>
              <a:rPr b="0" sz="1200" i="0" u="none">
                <a:solidFill>
                  <a:srgbClr val="172B4D"/>
                </a:solidFill>
                <a:latin typeface="Inter"/>
              </a:rPr>
              <a:t>KAN-69 Design Flow</a:t>
            </a:r>
          </a:p>
        </p:txBody>
      </p:sp>
      <p:sp>
        <p:nvSpPr>
          <p:cNvPr id="118" name="TextBox 117"/>
          <p:cNvSpPr txBox="1"/>
          <p:nvPr/>
        </p:nvSpPr>
        <p:spPr>
          <a:xfrm>
            <a:off x="6949678" y="3143250"/>
            <a:ext cx="1702593" cy="228600"/>
          </a:xfrm>
          <a:prstGeom prst="rect">
            <a:avLst/>
          </a:prstGeom>
          <a:noFill/>
        </p:spPr>
        <p:txBody>
          <a:bodyPr wrap="none" lIns="0" rIns="0" tIns="0" bIns="0" anchor="t">
            <a:spAutoFit/>
          </a:bodyPr>
          <a:lstStyle/>
          <a:p>
            <a:pPr algn="ctr"/>
            <a:r>
              <a:rPr b="1" sz="1500" i="0" u="none">
                <a:solidFill>
                  <a:srgbClr val="BF2600"/>
                </a:solidFill>
                <a:latin typeface="Inter"/>
              </a:rPr>
              <a:t>BUG</a:t>
            </a:r>
          </a:p>
        </p:txBody>
      </p:sp>
      <p:sp>
        <p:nvSpPr>
          <p:cNvPr id="119" name="TextBox 118"/>
          <p:cNvSpPr txBox="1"/>
          <p:nvPr/>
        </p:nvSpPr>
        <p:spPr>
          <a:xfrm>
            <a:off x="7119937" y="3409950"/>
            <a:ext cx="1702593" cy="190500"/>
          </a:xfrm>
          <a:prstGeom prst="rect">
            <a:avLst/>
          </a:prstGeom>
          <a:noFill/>
        </p:spPr>
        <p:txBody>
          <a:bodyPr wrap="none" lIns="0" rIns="0" tIns="0" bIns="0" anchor="t">
            <a:spAutoFit/>
          </a:bodyPr>
          <a:lstStyle/>
          <a:p>
            <a:pPr algn="l"/>
            <a:r>
              <a:rPr b="0" sz="1200" i="0" u="none">
                <a:solidFill>
                  <a:srgbClr val="172B4D"/>
                </a:solidFill>
                <a:latin typeface="Inter"/>
              </a:rPr>
              <a:t>KAN-64 Sync Loss</a:t>
            </a:r>
          </a:p>
        </p:txBody>
      </p:sp>
      <p:sp>
        <p:nvSpPr>
          <p:cNvPr id="120" name="TextBox 119"/>
          <p:cNvSpPr txBox="1"/>
          <p:nvPr/>
        </p:nvSpPr>
        <p:spPr>
          <a:xfrm>
            <a:off x="6854428" y="4476750"/>
            <a:ext cx="1893093" cy="200025"/>
          </a:xfrm>
          <a:prstGeom prst="rect">
            <a:avLst/>
          </a:prstGeom>
          <a:noFill/>
        </p:spPr>
        <p:txBody>
          <a:bodyPr wrap="none" lIns="0" rIns="0" tIns="0" bIns="0" anchor="t">
            <a:spAutoFit/>
          </a:bodyPr>
          <a:lstStyle/>
          <a:p>
            <a:pPr algn="ctr"/>
            <a:r>
              <a:rPr b="1" sz="1350" i="0" u="none">
                <a:solidFill>
                  <a:srgbClr val="5E6C84"/>
                </a:solidFill>
                <a:latin typeface="Inter"/>
              </a:rPr>
              <a:t>Related to Feature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1050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27146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33242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39338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45434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8400" y="21050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48400" y="27146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48400" y="33242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48400" y="3933825"/>
            <a:ext cx="53340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48400" y="4543425"/>
            <a:ext cx="5334000" cy="495300"/>
          </a:xfrm>
          <a:prstGeom prst="roundRect">
            <a:avLst>
              <a:gd name="adj" fmla="val 7692"/>
            </a:avLst>
          </a:prstGeom>
          <a:solidFill>
            <a:srgbClr val="EA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8" name="TextBox 17"/>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Product Capability Epics</a:t>
            </a:r>
          </a:p>
        </p:txBody>
      </p:sp>
      <p:sp>
        <p:nvSpPr>
          <p:cNvPr id="19" name="TextBox 18"/>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10 Epics organizing the entire Alumnex Connect ecosystem.</a:t>
            </a:r>
          </a:p>
        </p:txBody>
      </p:sp>
      <p:sp>
        <p:nvSpPr>
          <p:cNvPr id="20" name="TextBox 19"/>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1" name="TextBox 20"/>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2" name="TextBox 21"/>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3" name="TextBox 22"/>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4" name="TextBox 23"/>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5" name="TextBox 24"/>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6" name="TextBox 25"/>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7" name="TextBox 26"/>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8" name="TextBox 27"/>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9" name="TextBox 28"/>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0" name="TextBox 29"/>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1" name="TextBox 30"/>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2" name="TextBox 31"/>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3" name="TextBox 32"/>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4" name="TextBox 33"/>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5" name="TextBox 34"/>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6" name="TextBox 35"/>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7" name="TextBox 36"/>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8" name="TextBox 37"/>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9" name="TextBox 38"/>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0" name="TextBox 39"/>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1" name="TextBox 40"/>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2" name="TextBox 41"/>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3" name="TextBox 42"/>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4" name="TextBox 43"/>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5" name="TextBox 44"/>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6" name="TextBox 45"/>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7" name="TextBox 46"/>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8" name="TextBox 47"/>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9" name="TextBox 48"/>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0" name="TextBox 49"/>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1" name="TextBox 50"/>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2" name="TextBox 51"/>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3" name="TextBox 52"/>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4" name="TextBox 53"/>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5" name="TextBox 54"/>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6" name="TextBox 55"/>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7" name="TextBox 56"/>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8" name="TextBox 57"/>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9" name="TextBox 58"/>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0" name="TextBox 59"/>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1" name="TextBox 60"/>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2" name="TextBox 61"/>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3" name="TextBox 62"/>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4" name="TextBox 63"/>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5" name="TextBox 64"/>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6" name="TextBox 65"/>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7" name="TextBox 66"/>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8" name="TextBox 67"/>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9" name="TextBox 68"/>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0" name="TextBox 69"/>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1" name="TextBox 70"/>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2" name="TextBox 71"/>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3" name="TextBox 72"/>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4" name="TextBox 73"/>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5" name="TextBox 74"/>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6" name="TextBox 75"/>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7" name="TextBox 76"/>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8" name="TextBox 77"/>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9" name="TextBox 78"/>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0" name="TextBox 79"/>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1" name="TextBox 80"/>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2" name="TextBox 81"/>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3" name="TextBox 82"/>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4" name="TextBox 83"/>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5" name="TextBox 84"/>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6" name="TextBox 85"/>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7" name="TextBox 86"/>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8" name="TextBox 87"/>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9" name="TextBox 88"/>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0" name="TextBox 89"/>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1" name="TextBox 90"/>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2" name="TextBox 91"/>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3" name="TextBox 92"/>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4" name="TextBox 93"/>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5" name="TextBox 94"/>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6" name="TextBox 95"/>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7" name="TextBox 96"/>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8" name="TextBox 97"/>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9" name="TextBox 98"/>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0" name="TextBox 99"/>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1" name="TextBox 100"/>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2" name="TextBox 101"/>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3" name="TextBox 102"/>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4" name="TextBox 103"/>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5" name="TextBox 104"/>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6" name="TextBox 105"/>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7" name="TextBox 106"/>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8" name="TextBox 107"/>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9" name="TextBox 108"/>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0" name="TextBox 109"/>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1" name="TextBox 110"/>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2" name="TextBox 111"/>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3" name="TextBox 112"/>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4" name="TextBox 113"/>
          <p:cNvSpPr txBox="1"/>
          <p:nvPr/>
        </p:nvSpPr>
        <p:spPr>
          <a:xfrm>
            <a:off x="762000" y="22574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KAN-1</a:t>
            </a:r>
            <a:r>
              <a:rPr b="1" sz="1200" i="0" u="none">
                <a:solidFill>
                  <a:srgbClr val="172B4D"/>
                </a:solidFill>
                <a:latin typeface="Inter"/>
              </a:rPr>
              <a:t> Authentication &amp; User Mgmt</a:t>
            </a:r>
          </a:p>
        </p:txBody>
      </p:sp>
      <p:sp>
        <p:nvSpPr>
          <p:cNvPr id="115" name="TextBox 114"/>
          <p:cNvSpPr txBox="1"/>
          <p:nvPr/>
        </p:nvSpPr>
        <p:spPr>
          <a:xfrm>
            <a:off x="762000" y="28670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KAN-2</a:t>
            </a:r>
            <a:r>
              <a:rPr b="1" sz="1200" i="0" u="none">
                <a:solidFill>
                  <a:srgbClr val="172B4D"/>
                </a:solidFill>
                <a:latin typeface="Inter"/>
              </a:rPr>
              <a:t> Alumni–Student Mentorship</a:t>
            </a:r>
          </a:p>
        </p:txBody>
      </p:sp>
      <p:sp>
        <p:nvSpPr>
          <p:cNvPr id="116" name="TextBox 115"/>
          <p:cNvSpPr txBox="1"/>
          <p:nvPr/>
        </p:nvSpPr>
        <p:spPr>
          <a:xfrm>
            <a:off x="762000" y="34766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KAN-3</a:t>
            </a:r>
            <a:r>
              <a:rPr b="1" sz="1200" i="0" u="none">
                <a:solidFill>
                  <a:srgbClr val="172B4D"/>
                </a:solidFill>
                <a:latin typeface="Inter"/>
              </a:rPr>
              <a:t> Developer Intelligence (DevPulse)</a:t>
            </a:r>
          </a:p>
        </p:txBody>
      </p:sp>
      <p:sp>
        <p:nvSpPr>
          <p:cNvPr id="117" name="TextBox 116"/>
          <p:cNvSpPr txBox="1"/>
          <p:nvPr/>
        </p:nvSpPr>
        <p:spPr>
          <a:xfrm>
            <a:off x="762000" y="40862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KAN-4</a:t>
            </a:r>
            <a:r>
              <a:rPr b="1" sz="1200" i="0" u="none">
                <a:solidFill>
                  <a:srgbClr val="172B4D"/>
                </a:solidFill>
                <a:latin typeface="Inter"/>
              </a:rPr>
              <a:t> Career &amp; Job Management</a:t>
            </a:r>
          </a:p>
        </p:txBody>
      </p:sp>
      <p:sp>
        <p:nvSpPr>
          <p:cNvPr id="118" name="TextBox 117"/>
          <p:cNvSpPr txBox="1"/>
          <p:nvPr/>
        </p:nvSpPr>
        <p:spPr>
          <a:xfrm>
            <a:off x="762000" y="46958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KAN-5</a:t>
            </a:r>
            <a:r>
              <a:rPr b="1" sz="1200" i="0" u="none">
                <a:solidFill>
                  <a:srgbClr val="172B4D"/>
                </a:solidFill>
                <a:latin typeface="Inter"/>
              </a:rPr>
              <a:t> AI Career Assistant</a:t>
            </a:r>
          </a:p>
        </p:txBody>
      </p:sp>
      <p:sp>
        <p:nvSpPr>
          <p:cNvPr id="119" name="TextBox 118"/>
          <p:cNvSpPr txBox="1"/>
          <p:nvPr/>
        </p:nvSpPr>
        <p:spPr>
          <a:xfrm>
            <a:off x="6400800" y="22574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KAN-6</a:t>
            </a:r>
            <a:r>
              <a:rPr b="1" sz="1200" i="0" u="none">
                <a:solidFill>
                  <a:srgbClr val="172B4D"/>
                </a:solidFill>
                <a:latin typeface="Inter"/>
              </a:rPr>
              <a:t> Real-Time Communication</a:t>
            </a:r>
          </a:p>
        </p:txBody>
      </p:sp>
      <p:sp>
        <p:nvSpPr>
          <p:cNvPr id="120" name="TextBox 119"/>
          <p:cNvSpPr txBox="1"/>
          <p:nvPr/>
        </p:nvSpPr>
        <p:spPr>
          <a:xfrm>
            <a:off x="6400800" y="28670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KAN-7</a:t>
            </a:r>
            <a:r>
              <a:rPr b="1" sz="1200" i="0" u="none">
                <a:solidFill>
                  <a:srgbClr val="172B4D"/>
                </a:solidFill>
                <a:latin typeface="Inter"/>
              </a:rPr>
              <a:t> Community &amp; Events</a:t>
            </a:r>
          </a:p>
        </p:txBody>
      </p:sp>
      <p:sp>
        <p:nvSpPr>
          <p:cNvPr id="121" name="TextBox 120"/>
          <p:cNvSpPr txBox="1"/>
          <p:nvPr/>
        </p:nvSpPr>
        <p:spPr>
          <a:xfrm>
            <a:off x="6400800" y="34766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KAN-8</a:t>
            </a:r>
            <a:r>
              <a:rPr b="1" sz="1200" i="0" u="none">
                <a:solidFill>
                  <a:srgbClr val="172B4D"/>
                </a:solidFill>
                <a:latin typeface="Inter"/>
              </a:rPr>
              <a:t> Mobile Application</a:t>
            </a:r>
          </a:p>
        </p:txBody>
      </p:sp>
      <p:sp>
        <p:nvSpPr>
          <p:cNvPr id="122" name="TextBox 121"/>
          <p:cNvSpPr txBox="1"/>
          <p:nvPr/>
        </p:nvSpPr>
        <p:spPr>
          <a:xfrm>
            <a:off x="6400800" y="40862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KAN-9</a:t>
            </a:r>
            <a:r>
              <a:rPr b="1" sz="1200" i="0" u="none">
                <a:solidFill>
                  <a:srgbClr val="172B4D"/>
                </a:solidFill>
                <a:latin typeface="Inter"/>
              </a:rPr>
              <a:t> Security, Reliability &amp; DevOps</a:t>
            </a:r>
          </a:p>
        </p:txBody>
      </p:sp>
      <p:sp>
        <p:nvSpPr>
          <p:cNvPr id="123" name="TextBox 122"/>
          <p:cNvSpPr txBox="1"/>
          <p:nvPr/>
        </p:nvSpPr>
        <p:spPr>
          <a:xfrm>
            <a:off x="6400800" y="4695825"/>
            <a:ext cx="5124450" cy="190500"/>
          </a:xfrm>
          <a:prstGeom prst="rect">
            <a:avLst/>
          </a:prstGeom>
          <a:noFill/>
        </p:spPr>
        <p:txBody>
          <a:bodyPr wrap="square" lIns="0" rIns="0" tIns="0" bIns="0" anchor="t">
            <a:spAutoFit/>
          </a:bodyPr>
          <a:lstStyle/>
          <a:p>
            <a:pPr algn="l"/>
            <a:r>
              <a:rPr b="1" sz="1200" i="0" u="none">
                <a:solidFill>
                  <a:srgbClr val="5243AA"/>
                </a:solidFill>
                <a:latin typeface="Inter"/>
              </a:rPr>
              <a:t>KAN-10</a:t>
            </a:r>
            <a:r>
              <a:rPr b="1" sz="1200" i="0" u="none">
                <a:solidFill>
                  <a:srgbClr val="172B4D"/>
                </a:solidFill>
                <a:latin typeface="Inter"/>
              </a:rPr>
              <a:t> Scrum &amp; Project Governance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1571625"/>
            <a:ext cx="5334000" cy="4676775"/>
          </a:xfrm>
          <a:prstGeom prst="roundRect">
            <a:avLst>
              <a:gd name="adj" fmla="val 1629"/>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1571625"/>
            <a:ext cx="5334000" cy="4676775"/>
          </a:xfrm>
          <a:prstGeom prst="roundRect">
            <a:avLst>
              <a:gd name="adj" fmla="val 1629"/>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400" y="1571625"/>
            <a:ext cx="57150" cy="4676775"/>
          </a:xfrm>
          <a:prstGeom prst="rect">
            <a:avLst/>
          </a:prstGeom>
          <a:solidFill>
            <a:srgbClr val="006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1" name="TextBox 10"/>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Defining User Value (Stories)</a:t>
            </a:r>
          </a:p>
        </p:txBody>
      </p:sp>
      <p:sp>
        <p:nvSpPr>
          <p:cNvPr id="12" name="TextBox 11"/>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3" name="TextBox 12"/>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4" name="TextBox 13"/>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5" name="TextBox 14"/>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6" name="TextBox 15"/>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7" name="TextBox 16"/>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8" name="TextBox 17"/>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9" name="TextBox 18"/>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0" name="TextBox 19"/>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1" name="TextBox 20"/>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2" name="TextBox 21"/>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3" name="TextBox 22"/>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4" name="TextBox 23"/>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5" name="TextBox 24"/>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6" name="TextBox 25"/>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7" name="TextBox 26"/>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8" name="TextBox 27"/>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9" name="TextBox 28"/>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0" name="TextBox 29"/>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1" name="TextBox 30"/>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2" name="TextBox 31"/>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3" name="TextBox 32"/>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4" name="TextBox 33"/>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5" name="TextBox 34"/>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6" name="TextBox 35"/>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7" name="TextBox 36"/>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8" name="TextBox 37"/>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9" name="TextBox 38"/>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0" name="TextBox 39"/>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1" name="TextBox 40"/>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2" name="TextBox 41"/>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3" name="TextBox 42"/>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4" name="TextBox 43"/>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5" name="TextBox 44"/>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6" name="TextBox 45"/>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7" name="TextBox 46"/>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8" name="TextBox 47"/>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9" name="TextBox 48"/>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0" name="TextBox 49"/>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1" name="TextBox 50"/>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2" name="TextBox 51"/>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3" name="TextBox 52"/>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4" name="TextBox 53"/>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5" name="TextBox 54"/>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6" name="TextBox 55"/>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7" name="TextBox 56"/>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8" name="TextBox 57"/>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9" name="TextBox 58"/>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0" name="TextBox 59"/>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1" name="TextBox 60"/>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2" name="TextBox 61"/>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3" name="TextBox 62"/>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4" name="TextBox 63"/>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5" name="TextBox 64"/>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6" name="TextBox 65"/>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7" name="TextBox 66"/>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8" name="TextBox 67"/>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9" name="TextBox 68"/>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0" name="TextBox 69"/>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1" name="TextBox 70"/>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2" name="TextBox 71"/>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3" name="TextBox 72"/>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4" name="TextBox 73"/>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5" name="TextBox 74"/>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6" name="TextBox 75"/>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7" name="TextBox 76"/>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8" name="TextBox 77"/>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9" name="TextBox 78"/>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0" name="TextBox 79"/>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1" name="TextBox 80"/>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2" name="TextBox 81"/>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3" name="TextBox 82"/>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4" name="TextBox 83"/>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5" name="TextBox 84"/>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6" name="TextBox 85"/>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7" name="TextBox 86"/>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8" name="TextBox 87"/>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9" name="TextBox 88"/>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0" name="TextBox 89"/>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1" name="TextBox 90"/>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2" name="TextBox 91"/>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3" name="TextBox 92"/>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4" name="TextBox 93"/>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5" name="TextBox 94"/>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6" name="TextBox 95"/>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7" name="TextBox 96"/>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8" name="TextBox 97"/>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9" name="TextBox 98"/>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0" name="TextBox 99"/>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1" name="TextBox 100"/>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2" name="TextBox 101"/>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3" name="TextBox 102"/>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4" name="TextBox 103"/>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5" name="TextBox 104"/>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6" name="TextBox 105"/>
          <p:cNvSpPr txBox="1"/>
          <p:nvPr/>
        </p:nvSpPr>
        <p:spPr>
          <a:xfrm>
            <a:off x="914400" y="1876425"/>
            <a:ext cx="5905500" cy="276225"/>
          </a:xfrm>
          <a:prstGeom prst="rect">
            <a:avLst/>
          </a:prstGeom>
          <a:noFill/>
        </p:spPr>
        <p:txBody>
          <a:bodyPr wrap="none" lIns="0" rIns="0" tIns="0" bIns="0" anchor="t">
            <a:spAutoFit/>
          </a:bodyPr>
          <a:lstStyle/>
          <a:p>
            <a:pPr algn="l"/>
            <a:r>
              <a:rPr b="1" sz="1800" i="0" u="none">
                <a:solidFill>
                  <a:srgbClr val="FFFFFF"/>
                </a:solidFill>
                <a:latin typeface="Inter"/>
              </a:rPr>
              <a:t>Standard Agile Format:</a:t>
            </a:r>
          </a:p>
        </p:txBody>
      </p:sp>
      <p:sp>
        <p:nvSpPr>
          <p:cNvPr id="107" name="TextBox 106"/>
          <p:cNvSpPr txBox="1"/>
          <p:nvPr/>
        </p:nvSpPr>
        <p:spPr>
          <a:xfrm>
            <a:off x="914400" y="2305050"/>
            <a:ext cx="5905500" cy="323850"/>
          </a:xfrm>
          <a:prstGeom prst="rect">
            <a:avLst/>
          </a:prstGeom>
          <a:noFill/>
        </p:spPr>
        <p:txBody>
          <a:bodyPr wrap="none" lIns="0" rIns="0" tIns="0" bIns="0" anchor="t">
            <a:spAutoFit/>
          </a:bodyPr>
          <a:lstStyle/>
          <a:p>
            <a:pPr algn="l"/>
            <a:r>
              <a:rPr b="1" sz="2100" i="0" u="none">
                <a:solidFill>
                  <a:srgbClr val="FFFFFF"/>
                </a:solidFill>
                <a:latin typeface="Inter"/>
              </a:rPr>
              <a:t>As a</a:t>
            </a:r>
          </a:p>
        </p:txBody>
      </p:sp>
      <p:sp>
        <p:nvSpPr>
          <p:cNvPr id="108" name="TextBox 107"/>
          <p:cNvSpPr txBox="1"/>
          <p:nvPr/>
        </p:nvSpPr>
        <p:spPr>
          <a:xfrm>
            <a:off x="914400" y="2781300"/>
            <a:ext cx="5905500" cy="323850"/>
          </a:xfrm>
          <a:prstGeom prst="rect">
            <a:avLst/>
          </a:prstGeom>
          <a:noFill/>
        </p:spPr>
        <p:txBody>
          <a:bodyPr wrap="none" lIns="0" rIns="0" tIns="0" bIns="0" anchor="t">
            <a:spAutoFit/>
          </a:bodyPr>
          <a:lstStyle/>
          <a:p>
            <a:pPr algn="l"/>
            <a:r>
              <a:rPr b="1" sz="2100" i="0" u="none">
                <a:solidFill>
                  <a:srgbClr val="FFFFFF"/>
                </a:solidFill>
                <a:latin typeface="Inter"/>
              </a:rPr>
              <a:t>I want to</a:t>
            </a:r>
          </a:p>
        </p:txBody>
      </p:sp>
      <p:sp>
        <p:nvSpPr>
          <p:cNvPr id="109" name="TextBox 108"/>
          <p:cNvSpPr txBox="1"/>
          <p:nvPr/>
        </p:nvSpPr>
        <p:spPr>
          <a:xfrm>
            <a:off x="914400" y="3257550"/>
            <a:ext cx="5905500" cy="323850"/>
          </a:xfrm>
          <a:prstGeom prst="rect">
            <a:avLst/>
          </a:prstGeom>
          <a:noFill/>
        </p:spPr>
        <p:txBody>
          <a:bodyPr wrap="none" lIns="0" rIns="0" tIns="0" bIns="0" anchor="t">
            <a:spAutoFit/>
          </a:bodyPr>
          <a:lstStyle/>
          <a:p>
            <a:pPr algn="l"/>
            <a:r>
              <a:rPr b="1" sz="2100" i="0" u="none">
                <a:solidFill>
                  <a:srgbClr val="FFFFFF"/>
                </a:solidFill>
                <a:latin typeface="Inter"/>
              </a:rPr>
              <a:t>So that</a:t>
            </a:r>
          </a:p>
        </p:txBody>
      </p:sp>
      <p:sp>
        <p:nvSpPr>
          <p:cNvPr id="110" name="TextBox 109"/>
          <p:cNvSpPr txBox="1"/>
          <p:nvPr/>
        </p:nvSpPr>
        <p:spPr>
          <a:xfrm>
            <a:off x="6610350" y="1876425"/>
            <a:ext cx="5581650" cy="228600"/>
          </a:xfrm>
          <a:prstGeom prst="rect">
            <a:avLst/>
          </a:prstGeom>
          <a:noFill/>
        </p:spPr>
        <p:txBody>
          <a:bodyPr wrap="none" lIns="0" rIns="0" tIns="0" bIns="0" anchor="t">
            <a:spAutoFit/>
          </a:bodyPr>
          <a:lstStyle/>
          <a:p>
            <a:pPr algn="l"/>
            <a:r>
              <a:rPr b="1" sz="1500" i="0" u="none">
                <a:solidFill>
                  <a:srgbClr val="006644"/>
                </a:solidFill>
                <a:latin typeface="Inter"/>
              </a:rPr>
              <a:t>Example: KAN-11</a:t>
            </a:r>
          </a:p>
        </p:txBody>
      </p:sp>
      <p:sp>
        <p:nvSpPr>
          <p:cNvPr id="111" name="TextBox 110"/>
          <p:cNvSpPr txBox="1"/>
          <p:nvPr/>
        </p:nvSpPr>
        <p:spPr>
          <a:xfrm>
            <a:off x="6610350" y="2257425"/>
            <a:ext cx="5581650" cy="276225"/>
          </a:xfrm>
          <a:prstGeom prst="rect">
            <a:avLst/>
          </a:prstGeom>
          <a:noFill/>
        </p:spPr>
        <p:txBody>
          <a:bodyPr wrap="none" lIns="0" rIns="0" tIns="0" bIns="0" anchor="t">
            <a:spAutoFit/>
          </a:bodyPr>
          <a:lstStyle/>
          <a:p>
            <a:pPr algn="l"/>
            <a:r>
              <a:rPr b="1" sz="1800" i="0" u="none">
                <a:solidFill>
                  <a:srgbClr val="172B4D"/>
                </a:solidFill>
                <a:latin typeface="Inter"/>
              </a:rPr>
              <a:t>Student Registration</a:t>
            </a:r>
          </a:p>
        </p:txBody>
      </p:sp>
      <p:sp>
        <p:nvSpPr>
          <p:cNvPr id="112" name="TextBox 111"/>
          <p:cNvSpPr txBox="1"/>
          <p:nvPr/>
        </p:nvSpPr>
        <p:spPr>
          <a:xfrm>
            <a:off x="6610350" y="2762250"/>
            <a:ext cx="4762500" cy="533400"/>
          </a:xfrm>
          <a:prstGeom prst="rect">
            <a:avLst/>
          </a:prstGeom>
          <a:noFill/>
        </p:spPr>
        <p:txBody>
          <a:bodyPr wrap="square" lIns="0" rIns="0" tIns="0" bIns="0" anchor="t">
            <a:spAutoFit/>
          </a:bodyPr>
          <a:lstStyle/>
          <a:p>
            <a:pPr algn="l">
              <a:lnSpc>
                <a:spcPts val="2100"/>
              </a:lnSpc>
            </a:pPr>
            <a:r>
              <a:rPr b="0" sz="1500" i="0" u="none">
                <a:solidFill>
                  <a:srgbClr val="172B4D"/>
                </a:solidFill>
                <a:latin typeface="Inter"/>
              </a:rPr>
              <a:t>"As a student, I want to register so that I can create my account and access the ecosystem."</a:t>
            </a:r>
          </a:p>
        </p:txBody>
      </p:sp>
      <p:sp>
        <p:nvSpPr>
          <p:cNvPr id="113" name="TextBox 112"/>
          <p:cNvSpPr txBox="1"/>
          <p:nvPr/>
        </p:nvSpPr>
        <p:spPr>
          <a:xfrm>
            <a:off x="6610350" y="3448050"/>
            <a:ext cx="5581650" cy="190500"/>
          </a:xfrm>
          <a:prstGeom prst="rect">
            <a:avLst/>
          </a:prstGeom>
          <a:noFill/>
        </p:spPr>
        <p:txBody>
          <a:bodyPr wrap="none" lIns="0" rIns="0" tIns="0" bIns="0" anchor="t">
            <a:spAutoFit/>
          </a:bodyPr>
          <a:lstStyle/>
          <a:p>
            <a:pPr algn="l"/>
            <a:r>
              <a:rPr b="0" sz="1200" i="0" u="none">
                <a:solidFill>
                  <a:srgbClr val="5E6C84"/>
                </a:solidFill>
                <a:latin typeface="Inter"/>
              </a:rPr>
              <a:t>Contains: Perspective, Value, Parent Epic, Estimates.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609600" y="1533525"/>
            <a:ext cx="7112049" cy="5061942"/>
          </a:xfrm>
          <a:prstGeom prst="rect">
            <a:avLst/>
          </a:prstGeom>
        </p:spPr>
      </p:pic>
      <p:pic>
        <p:nvPicPr>
          <p:cNvPr id="7" name="Picture 6" descr="image.png"/>
          <p:cNvPicPr>
            <a:picLocks noChangeAspect="1"/>
          </p:cNvPicPr>
          <p:nvPr/>
        </p:nvPicPr>
        <p:blipFill>
          <a:blip r:embed="rId3"/>
          <a:stretch>
            <a:fillRect/>
          </a:stretch>
        </p:blipFill>
        <p:spPr>
          <a:xfrm>
            <a:off x="8026449" y="3316783"/>
            <a:ext cx="152400" cy="180975"/>
          </a:xfrm>
          <a:prstGeom prst="rect">
            <a:avLst/>
          </a:prstGeom>
        </p:spPr>
      </p:pic>
      <p:pic>
        <p:nvPicPr>
          <p:cNvPr id="8" name="Picture 7" descr="image.png"/>
          <p:cNvPicPr>
            <a:picLocks noChangeAspect="1"/>
          </p:cNvPicPr>
          <p:nvPr/>
        </p:nvPicPr>
        <p:blipFill>
          <a:blip r:embed="rId3"/>
          <a:stretch>
            <a:fillRect/>
          </a:stretch>
        </p:blipFill>
        <p:spPr>
          <a:xfrm>
            <a:off x="8026449" y="3669208"/>
            <a:ext cx="152400" cy="180975"/>
          </a:xfrm>
          <a:prstGeom prst="rect">
            <a:avLst/>
          </a:prstGeom>
        </p:spPr>
      </p:pic>
      <p:pic>
        <p:nvPicPr>
          <p:cNvPr id="9" name="Picture 8" descr="image.png"/>
          <p:cNvPicPr>
            <a:picLocks noChangeAspect="1"/>
          </p:cNvPicPr>
          <p:nvPr/>
        </p:nvPicPr>
        <p:blipFill>
          <a:blip r:embed="rId3"/>
          <a:stretch>
            <a:fillRect/>
          </a:stretch>
        </p:blipFill>
        <p:spPr>
          <a:xfrm>
            <a:off x="8026449" y="4021633"/>
            <a:ext cx="152400" cy="180975"/>
          </a:xfrm>
          <a:prstGeom prst="rect">
            <a:avLst/>
          </a:prstGeom>
        </p:spPr>
      </p:pic>
      <p:pic>
        <p:nvPicPr>
          <p:cNvPr id="10" name="Picture 9" descr="image.png"/>
          <p:cNvPicPr>
            <a:picLocks noChangeAspect="1"/>
          </p:cNvPicPr>
          <p:nvPr/>
        </p:nvPicPr>
        <p:blipFill>
          <a:blip r:embed="rId3"/>
          <a:stretch>
            <a:fillRect/>
          </a:stretch>
        </p:blipFill>
        <p:spPr>
          <a:xfrm>
            <a:off x="8026449" y="4374058"/>
            <a:ext cx="152400" cy="180975"/>
          </a:xfrm>
          <a:prstGeom prst="rect">
            <a:avLst/>
          </a:prstGeom>
        </p:spPr>
      </p:pic>
      <p:graphicFrame>
        <p:nvGraphicFramePr>
          <p:cNvPr id="11" name="Table 10"/>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2" name="TextBox 11"/>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Acceptance Criteria: Observable Success</a:t>
            </a:r>
          </a:p>
        </p:txBody>
      </p:sp>
      <p:sp>
        <p:nvSpPr>
          <p:cNvPr id="13" name="TextBox 12"/>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4" name="TextBox 13"/>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5" name="TextBox 14"/>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6" name="TextBox 15"/>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7" name="TextBox 16"/>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8" name="TextBox 17"/>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9" name="TextBox 18"/>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0" name="TextBox 19"/>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1" name="TextBox 20"/>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2" name="TextBox 21"/>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3" name="TextBox 22"/>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4" name="TextBox 23"/>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5" name="TextBox 24"/>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6" name="TextBox 25"/>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7" name="TextBox 26"/>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8" name="TextBox 27"/>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9" name="TextBox 28"/>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0" name="TextBox 29"/>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1" name="TextBox 30"/>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2" name="TextBox 31"/>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3" name="TextBox 32"/>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4" name="TextBox 33"/>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5" name="TextBox 34"/>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6" name="TextBox 35"/>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7" name="TextBox 36"/>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8" name="TextBox 37"/>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9" name="TextBox 38"/>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0" name="TextBox 39"/>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1" name="TextBox 40"/>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2" name="TextBox 41"/>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3" name="TextBox 42"/>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4" name="TextBox 43"/>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5" name="TextBox 44"/>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6" name="TextBox 45"/>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7" name="TextBox 46"/>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8" name="TextBox 47"/>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9" name="TextBox 48"/>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0" name="TextBox 49"/>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1" name="TextBox 50"/>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2" name="TextBox 51"/>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3" name="TextBox 52"/>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4" name="TextBox 53"/>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5" name="TextBox 54"/>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6" name="TextBox 55"/>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7" name="TextBox 56"/>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8" name="TextBox 57"/>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9" name="TextBox 58"/>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0" name="TextBox 59"/>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1" name="TextBox 60"/>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2" name="TextBox 61"/>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3" name="TextBox 62"/>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4" name="TextBox 63"/>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5" name="TextBox 64"/>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6" name="TextBox 65"/>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7" name="TextBox 66"/>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8" name="TextBox 67"/>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9" name="TextBox 68"/>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0" name="TextBox 69"/>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1" name="TextBox 70"/>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2" name="TextBox 71"/>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3" name="TextBox 72"/>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4" name="TextBox 73"/>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5" name="TextBox 74"/>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6" name="TextBox 75"/>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7" name="TextBox 76"/>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8" name="TextBox 77"/>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9" name="TextBox 78"/>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0" name="TextBox 79"/>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1" name="TextBox 80"/>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2" name="TextBox 81"/>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3" name="TextBox 82"/>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4" name="TextBox 83"/>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5" name="TextBox 84"/>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6" name="TextBox 85"/>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7" name="TextBox 86"/>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8" name="TextBox 87"/>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9" name="TextBox 88"/>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0" name="TextBox 89"/>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1" name="TextBox 90"/>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2" name="TextBox 91"/>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3" name="TextBox 92"/>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4" name="TextBox 93"/>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5" name="TextBox 94"/>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6" name="TextBox 95"/>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7" name="TextBox 96"/>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8" name="TextBox 97"/>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9" name="TextBox 98"/>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0" name="TextBox 99"/>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1" name="TextBox 100"/>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2" name="TextBox 101"/>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3" name="TextBox 102"/>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4" name="TextBox 103"/>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5" name="TextBox 104"/>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6" name="TextBox 105"/>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7" name="TextBox 106"/>
          <p:cNvSpPr txBox="1"/>
          <p:nvPr/>
        </p:nvSpPr>
        <p:spPr>
          <a:xfrm>
            <a:off x="-279406" y="6747867"/>
            <a:ext cx="8890062" cy="110132"/>
          </a:xfrm>
          <a:prstGeom prst="rect">
            <a:avLst/>
          </a:prstGeom>
          <a:noFill/>
        </p:spPr>
        <p:txBody>
          <a:bodyPr wrap="none" lIns="0" rIns="0" tIns="0" bIns="0" anchor="t">
            <a:spAutoFit/>
          </a:bodyPr>
          <a:lstStyle/>
          <a:p>
            <a:pPr algn="ctr"/>
            <a:r>
              <a:rPr b="0" sz="1050" i="1" u="none">
                <a:solidFill>
                  <a:srgbClr val="5E6C84"/>
                </a:solidFill>
                <a:latin typeface="Inter"/>
              </a:rPr>
              <a:t>Figure 4. Jira Story KAN-14 OTP showing Acceptance Criteria.</a:t>
            </a:r>
          </a:p>
        </p:txBody>
      </p:sp>
      <p:sp>
        <p:nvSpPr>
          <p:cNvPr id="108" name="TextBox 107"/>
          <p:cNvSpPr txBox="1"/>
          <p:nvPr/>
        </p:nvSpPr>
        <p:spPr>
          <a:xfrm>
            <a:off x="8026449" y="2826246"/>
            <a:ext cx="4165550" cy="228600"/>
          </a:xfrm>
          <a:prstGeom prst="rect">
            <a:avLst/>
          </a:prstGeom>
          <a:noFill/>
        </p:spPr>
        <p:txBody>
          <a:bodyPr wrap="none" lIns="0" rIns="0" tIns="0" bIns="0" anchor="t">
            <a:spAutoFit/>
          </a:bodyPr>
          <a:lstStyle/>
          <a:p>
            <a:pPr algn="l"/>
            <a:r>
              <a:rPr b="1" sz="1500" i="0" u="none">
                <a:solidFill>
                  <a:srgbClr val="172B4D"/>
                </a:solidFill>
                <a:latin typeface="Inter"/>
              </a:rPr>
              <a:t>KAN-14: OTP Validation</a:t>
            </a:r>
          </a:p>
        </p:txBody>
      </p:sp>
      <p:sp>
        <p:nvSpPr>
          <p:cNvPr id="109" name="TextBox 108"/>
          <p:cNvSpPr txBox="1"/>
          <p:nvPr/>
        </p:nvSpPr>
        <p:spPr>
          <a:xfrm>
            <a:off x="8026449" y="4921746"/>
            <a:ext cx="3651200" cy="381000"/>
          </a:xfrm>
          <a:prstGeom prst="rect">
            <a:avLst/>
          </a:prstGeom>
          <a:noFill/>
        </p:spPr>
        <p:txBody>
          <a:bodyPr wrap="square" lIns="0" rIns="0" tIns="0" bIns="0" anchor="t">
            <a:spAutoFit/>
          </a:bodyPr>
          <a:lstStyle/>
          <a:p>
            <a:pPr algn="l"/>
            <a:r>
              <a:rPr b="1" sz="1200" i="0" u="none">
                <a:solidFill>
                  <a:srgbClr val="5E6C84"/>
                </a:solidFill>
                <a:latin typeface="Inter"/>
              </a:rPr>
              <a:t>Supports: Definition of Done, testing, and review.</a:t>
            </a:r>
          </a:p>
        </p:txBody>
      </p:sp>
      <p:sp>
        <p:nvSpPr>
          <p:cNvPr id="110" name="TextBox 109"/>
          <p:cNvSpPr txBox="1"/>
          <p:nvPr/>
        </p:nvSpPr>
        <p:spPr>
          <a:xfrm>
            <a:off x="8255049" y="3283446"/>
            <a:ext cx="3936950" cy="200025"/>
          </a:xfrm>
          <a:prstGeom prst="rect">
            <a:avLst/>
          </a:prstGeom>
          <a:noFill/>
        </p:spPr>
        <p:txBody>
          <a:bodyPr wrap="none" lIns="0" rIns="0" tIns="0" bIns="0" anchor="t">
            <a:spAutoFit/>
          </a:bodyPr>
          <a:lstStyle/>
          <a:p>
            <a:pPr algn="l"/>
            <a:r>
              <a:rPr b="0" sz="1350" i="0" u="none">
                <a:solidFill>
                  <a:srgbClr val="172B4D"/>
                </a:solidFill>
                <a:latin typeface="Inter"/>
              </a:rPr>
              <a:t>OTP generated and delivered.</a:t>
            </a:r>
          </a:p>
        </p:txBody>
      </p:sp>
      <p:sp>
        <p:nvSpPr>
          <p:cNvPr id="111" name="TextBox 110"/>
          <p:cNvSpPr txBox="1"/>
          <p:nvPr/>
        </p:nvSpPr>
        <p:spPr>
          <a:xfrm>
            <a:off x="8255049" y="3635871"/>
            <a:ext cx="3936950" cy="200025"/>
          </a:xfrm>
          <a:prstGeom prst="rect">
            <a:avLst/>
          </a:prstGeom>
          <a:noFill/>
        </p:spPr>
        <p:txBody>
          <a:bodyPr wrap="none" lIns="0" rIns="0" tIns="0" bIns="0" anchor="t">
            <a:spAutoFit/>
          </a:bodyPr>
          <a:lstStyle/>
          <a:p>
            <a:pPr algn="l"/>
            <a:r>
              <a:rPr b="0" sz="1350" i="0" u="none">
                <a:solidFill>
                  <a:srgbClr val="172B4D"/>
                </a:solidFill>
                <a:latin typeface="Inter"/>
              </a:rPr>
              <a:t>Valid OTP accepted.</a:t>
            </a:r>
          </a:p>
        </p:txBody>
      </p:sp>
      <p:sp>
        <p:nvSpPr>
          <p:cNvPr id="112" name="TextBox 111"/>
          <p:cNvSpPr txBox="1"/>
          <p:nvPr/>
        </p:nvSpPr>
        <p:spPr>
          <a:xfrm>
            <a:off x="8255049" y="3988296"/>
            <a:ext cx="3936950" cy="200025"/>
          </a:xfrm>
          <a:prstGeom prst="rect">
            <a:avLst/>
          </a:prstGeom>
          <a:noFill/>
        </p:spPr>
        <p:txBody>
          <a:bodyPr wrap="none" lIns="0" rIns="0" tIns="0" bIns="0" anchor="t">
            <a:spAutoFit/>
          </a:bodyPr>
          <a:lstStyle/>
          <a:p>
            <a:pPr algn="l"/>
            <a:r>
              <a:rPr b="0" sz="1350" i="0" u="none">
                <a:solidFill>
                  <a:srgbClr val="172B4D"/>
                </a:solidFill>
                <a:latin typeface="Inter"/>
              </a:rPr>
              <a:t>Expired OTP rejected.</a:t>
            </a:r>
          </a:p>
        </p:txBody>
      </p:sp>
      <p:sp>
        <p:nvSpPr>
          <p:cNvPr id="113" name="TextBox 112"/>
          <p:cNvSpPr txBox="1"/>
          <p:nvPr/>
        </p:nvSpPr>
        <p:spPr>
          <a:xfrm>
            <a:off x="8255049" y="4340721"/>
            <a:ext cx="3936950" cy="200025"/>
          </a:xfrm>
          <a:prstGeom prst="rect">
            <a:avLst/>
          </a:prstGeom>
          <a:noFill/>
        </p:spPr>
        <p:txBody>
          <a:bodyPr wrap="none" lIns="0" rIns="0" tIns="0" bIns="0" anchor="t">
            <a:spAutoFit/>
          </a:bodyPr>
          <a:lstStyle/>
          <a:p>
            <a:pPr algn="l"/>
            <a:r>
              <a:rPr b="0" sz="1350" i="0" u="none">
                <a:solidFill>
                  <a:srgbClr val="172B4D"/>
                </a:solidFill>
                <a:latin typeface="Inter"/>
              </a:rPr>
              <a:t>Retries handled gracefully.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533650"/>
            <a:ext cx="7680870" cy="1009650"/>
          </a:xfrm>
          <a:prstGeom prst="roundRect">
            <a:avLst>
              <a:gd name="adj" fmla="val 7547"/>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76400" y="3771900"/>
            <a:ext cx="9906000" cy="581025"/>
          </a:xfrm>
          <a:prstGeom prst="roundRect">
            <a:avLst>
              <a:gd name="adj" fmla="val 655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676400" y="4505325"/>
            <a:ext cx="9906000" cy="581025"/>
          </a:xfrm>
          <a:prstGeom prst="roundRect">
            <a:avLst>
              <a:gd name="adj" fmla="val 655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676400" y="5238750"/>
            <a:ext cx="9906000" cy="581025"/>
          </a:xfrm>
          <a:prstGeom prst="roundRect">
            <a:avLst>
              <a:gd name="adj" fmla="val 655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76400" y="3771900"/>
            <a:ext cx="38100" cy="581025"/>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76400" y="4505325"/>
            <a:ext cx="38100" cy="581025"/>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76400" y="5238750"/>
            <a:ext cx="38100" cy="581025"/>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423862" y="4795837"/>
            <a:ext cx="1819275" cy="228600"/>
          </a:xfrm>
          <a:prstGeom prst="rect">
            <a:avLst/>
          </a:prstGeom>
        </p:spPr>
      </p:pic>
      <p:graphicFrame>
        <p:nvGraphicFramePr>
          <p:cNvPr id="15" name="Table 14"/>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6" name="TextBox 15"/>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Subtask Decomposition</a:t>
            </a:r>
          </a:p>
        </p:txBody>
      </p:sp>
      <p:sp>
        <p:nvSpPr>
          <p:cNvPr id="17" name="TextBox 16"/>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Converting a user-value Story into executable technical work.</a:t>
            </a:r>
          </a:p>
        </p:txBody>
      </p:sp>
      <p:sp>
        <p:nvSpPr>
          <p:cNvPr id="18" name="TextBox 17"/>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9" name="TextBox 18"/>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0" name="TextBox 19"/>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1" name="TextBox 20"/>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2" name="TextBox 21"/>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3" name="TextBox 22"/>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4" name="TextBox 23"/>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5" name="TextBox 24"/>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6" name="TextBox 25"/>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7" name="TextBox 26"/>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8" name="TextBox 27"/>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9" name="TextBox 28"/>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0" name="TextBox 29"/>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1" name="TextBox 30"/>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2" name="TextBox 31"/>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3" name="TextBox 32"/>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4" name="TextBox 33"/>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5" name="TextBox 34"/>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6" name="TextBox 35"/>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7" name="TextBox 36"/>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8" name="TextBox 37"/>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9" name="TextBox 38"/>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0" name="TextBox 39"/>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1" name="TextBox 40"/>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2" name="TextBox 41"/>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3" name="TextBox 42"/>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4" name="TextBox 43"/>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5" name="TextBox 44"/>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6" name="TextBox 45"/>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7" name="TextBox 46"/>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8" name="TextBox 47"/>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9" name="TextBox 48"/>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0" name="TextBox 49"/>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1" name="TextBox 50"/>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2" name="TextBox 51"/>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3" name="TextBox 52"/>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4" name="TextBox 53"/>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5" name="TextBox 54"/>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6" name="TextBox 55"/>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7" name="TextBox 56"/>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8" name="TextBox 57"/>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9" name="TextBox 58"/>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0" name="TextBox 59"/>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1" name="TextBox 60"/>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2" name="TextBox 61"/>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3" name="TextBox 62"/>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4" name="TextBox 63"/>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5" name="TextBox 64"/>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6" name="TextBox 65"/>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7" name="TextBox 66"/>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8" name="TextBox 67"/>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9" name="TextBox 68"/>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0" name="TextBox 69"/>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1" name="TextBox 70"/>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2" name="TextBox 71"/>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3" name="TextBox 72"/>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4" name="TextBox 73"/>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5" name="TextBox 74"/>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6" name="TextBox 75"/>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7" name="TextBox 76"/>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8" name="TextBox 77"/>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9" name="TextBox 78"/>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0" name="TextBox 79"/>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1" name="TextBox 80"/>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2" name="TextBox 81"/>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3" name="TextBox 82"/>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4" name="TextBox 83"/>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5" name="TextBox 84"/>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6" name="TextBox 85"/>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7" name="TextBox 86"/>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8" name="TextBox 87"/>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9" name="TextBox 88"/>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0" name="TextBox 89"/>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1" name="TextBox 90"/>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2" name="TextBox 91"/>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3" name="TextBox 92"/>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4" name="TextBox 93"/>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5" name="TextBox 94"/>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6" name="TextBox 95"/>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7" name="TextBox 96"/>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8" name="TextBox 97"/>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9" name="TextBox 98"/>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0" name="TextBox 99"/>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1" name="TextBox 100"/>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2" name="TextBox 101"/>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3" name="TextBox 102"/>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4" name="TextBox 103"/>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5" name="TextBox 104"/>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6" name="TextBox 105"/>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7" name="TextBox 106"/>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8" name="TextBox 107"/>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9" name="TextBox 108"/>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0" name="TextBox 109"/>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1" name="TextBox 110"/>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2" name="TextBox 111"/>
          <p:cNvSpPr txBox="1"/>
          <p:nvPr/>
        </p:nvSpPr>
        <p:spPr>
          <a:xfrm>
            <a:off x="838200" y="2762250"/>
            <a:ext cx="9029588" cy="190500"/>
          </a:xfrm>
          <a:prstGeom prst="rect">
            <a:avLst/>
          </a:prstGeom>
          <a:noFill/>
        </p:spPr>
        <p:txBody>
          <a:bodyPr wrap="none" lIns="0" rIns="0" tIns="0" bIns="0" anchor="t">
            <a:spAutoFit/>
          </a:bodyPr>
          <a:lstStyle/>
          <a:p>
            <a:pPr algn="l"/>
            <a:r>
              <a:rPr b="1" sz="1200" i="0" u="none">
                <a:solidFill>
                  <a:srgbClr val="FFFFFF"/>
                </a:solidFill>
                <a:latin typeface="Inter"/>
              </a:rPr>
              <a:t>PARENT STORY</a:t>
            </a:r>
          </a:p>
        </p:txBody>
      </p:sp>
      <p:sp>
        <p:nvSpPr>
          <p:cNvPr id="113" name="TextBox 112"/>
          <p:cNvSpPr txBox="1"/>
          <p:nvPr/>
        </p:nvSpPr>
        <p:spPr>
          <a:xfrm>
            <a:off x="838200" y="2990850"/>
            <a:ext cx="9481067" cy="323850"/>
          </a:xfrm>
          <a:prstGeom prst="rect">
            <a:avLst/>
          </a:prstGeom>
          <a:noFill/>
        </p:spPr>
        <p:txBody>
          <a:bodyPr wrap="none" lIns="0" rIns="0" tIns="0" bIns="0" anchor="t">
            <a:spAutoFit/>
          </a:bodyPr>
          <a:lstStyle/>
          <a:p>
            <a:pPr algn="l"/>
            <a:r>
              <a:rPr b="1" sz="2100" i="0" u="none">
                <a:solidFill>
                  <a:srgbClr val="FFFFFF"/>
                </a:solidFill>
                <a:latin typeface="Inter"/>
              </a:rPr>
              <a:t>KAN-11: Student Registration</a:t>
            </a:r>
          </a:p>
        </p:txBody>
      </p:sp>
      <p:sp>
        <p:nvSpPr>
          <p:cNvPr id="114" name="TextBox 113"/>
          <p:cNvSpPr txBox="1"/>
          <p:nvPr/>
        </p:nvSpPr>
        <p:spPr>
          <a:xfrm>
            <a:off x="1905000" y="3962400"/>
            <a:ext cx="10287000" cy="200025"/>
          </a:xfrm>
          <a:prstGeom prst="rect">
            <a:avLst/>
          </a:prstGeom>
          <a:noFill/>
        </p:spPr>
        <p:txBody>
          <a:bodyPr wrap="none" lIns="0" rIns="0" tIns="0" bIns="0" anchor="t">
            <a:spAutoFit/>
          </a:bodyPr>
          <a:lstStyle/>
          <a:p>
            <a:pPr algn="l"/>
            <a:r>
              <a:rPr b="1" sz="1350" i="0" u="none">
                <a:solidFill>
                  <a:srgbClr val="5E6C84"/>
                </a:solidFill>
                <a:latin typeface="Inter"/>
              </a:rPr>
              <a:t>KAN-69</a:t>
            </a:r>
            <a:r>
              <a:rPr b="1" sz="1350" i="0" u="none">
                <a:solidFill>
                  <a:srgbClr val="172B4D"/>
                </a:solidFill>
                <a:latin typeface="Inter"/>
              </a:rPr>
              <a:t> Design registration flow</a:t>
            </a:r>
          </a:p>
        </p:txBody>
      </p:sp>
      <p:sp>
        <p:nvSpPr>
          <p:cNvPr id="115" name="TextBox 114"/>
          <p:cNvSpPr txBox="1"/>
          <p:nvPr/>
        </p:nvSpPr>
        <p:spPr>
          <a:xfrm>
            <a:off x="1905000" y="4695825"/>
            <a:ext cx="10287000" cy="200025"/>
          </a:xfrm>
          <a:prstGeom prst="rect">
            <a:avLst/>
          </a:prstGeom>
          <a:noFill/>
        </p:spPr>
        <p:txBody>
          <a:bodyPr wrap="none" lIns="0" rIns="0" tIns="0" bIns="0" anchor="t">
            <a:spAutoFit/>
          </a:bodyPr>
          <a:lstStyle/>
          <a:p>
            <a:pPr algn="l"/>
            <a:r>
              <a:rPr b="1" sz="1350" i="0" u="none">
                <a:solidFill>
                  <a:srgbClr val="5E6C84"/>
                </a:solidFill>
                <a:latin typeface="Inter"/>
              </a:rPr>
              <a:t>KAN-70</a:t>
            </a:r>
            <a:r>
              <a:rPr b="1" sz="1350" i="0" u="none">
                <a:solidFill>
                  <a:srgbClr val="172B4D"/>
                </a:solidFill>
                <a:latin typeface="Inter"/>
              </a:rPr>
              <a:t> Implement secure credential handling</a:t>
            </a:r>
          </a:p>
        </p:txBody>
      </p:sp>
      <p:sp>
        <p:nvSpPr>
          <p:cNvPr id="116" name="TextBox 115"/>
          <p:cNvSpPr txBox="1"/>
          <p:nvPr/>
        </p:nvSpPr>
        <p:spPr>
          <a:xfrm>
            <a:off x="1905000" y="5429250"/>
            <a:ext cx="10287000" cy="200025"/>
          </a:xfrm>
          <a:prstGeom prst="rect">
            <a:avLst/>
          </a:prstGeom>
          <a:noFill/>
        </p:spPr>
        <p:txBody>
          <a:bodyPr wrap="none" lIns="0" rIns="0" tIns="0" bIns="0" anchor="t">
            <a:spAutoFit/>
          </a:bodyPr>
          <a:lstStyle/>
          <a:p>
            <a:pPr algn="l"/>
            <a:r>
              <a:rPr b="1" sz="1350" i="0" u="none">
                <a:solidFill>
                  <a:srgbClr val="5E6C84"/>
                </a:solidFill>
                <a:latin typeface="Inter"/>
              </a:rPr>
              <a:t>KAN-71</a:t>
            </a:r>
            <a:r>
              <a:rPr b="1" sz="1350" i="0" u="none">
                <a:solidFill>
                  <a:srgbClr val="172B4D"/>
                </a:solidFill>
                <a:latin typeface="Inter"/>
              </a:rPr>
              <a:t> Registration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48400" y="2571750"/>
            <a:ext cx="5334000" cy="504825"/>
          </a:xfrm>
          <a:prstGeom prst="roundRect">
            <a:avLst>
              <a:gd name="adj" fmla="val 754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3228975"/>
            <a:ext cx="5334000" cy="504825"/>
          </a:xfrm>
          <a:prstGeom prst="roundRect">
            <a:avLst>
              <a:gd name="adj" fmla="val 754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48400" y="3886200"/>
            <a:ext cx="5334000" cy="504825"/>
          </a:xfrm>
          <a:prstGeom prst="roundRect">
            <a:avLst>
              <a:gd name="adj" fmla="val 754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8400" y="4543425"/>
            <a:ext cx="5334000" cy="504825"/>
          </a:xfrm>
          <a:prstGeom prst="roundRect">
            <a:avLst>
              <a:gd name="adj" fmla="val 7547"/>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48400" y="5200650"/>
            <a:ext cx="5334000" cy="504825"/>
          </a:xfrm>
          <a:prstGeom prst="roundRect">
            <a:avLst>
              <a:gd name="adj" fmla="val 7547"/>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609600" y="1971675"/>
            <a:ext cx="5334000" cy="3562350"/>
          </a:xfrm>
          <a:prstGeom prst="rect">
            <a:avLst/>
          </a:prstGeom>
        </p:spPr>
      </p:pic>
      <p:graphicFrame>
        <p:nvGraphicFramePr>
          <p:cNvPr id="13" name="Table 12"/>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4" name="TextBox 13"/>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Product Backlog Refinement</a:t>
            </a:r>
          </a:p>
        </p:txBody>
      </p:sp>
      <p:sp>
        <p:nvSpPr>
          <p:cNvPr id="15" name="TextBox 14"/>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6" name="TextBox 15"/>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7" name="TextBox 16"/>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8" name="TextBox 17"/>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9" name="TextBox 18"/>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0" name="TextBox 19"/>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1" name="TextBox 20"/>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2" name="TextBox 21"/>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3" name="TextBox 22"/>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4" name="TextBox 23"/>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5" name="TextBox 24"/>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6" name="TextBox 25"/>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7" name="TextBox 26"/>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8" name="TextBox 27"/>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9" name="TextBox 28"/>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0" name="TextBox 29"/>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1" name="TextBox 30"/>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2" name="TextBox 31"/>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3" name="TextBox 32"/>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4" name="TextBox 33"/>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5" name="TextBox 34"/>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6" name="TextBox 35"/>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7" name="TextBox 36"/>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8" name="TextBox 37"/>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9" name="TextBox 38"/>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0" name="TextBox 39"/>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1" name="TextBox 40"/>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2" name="TextBox 41"/>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3" name="TextBox 42"/>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4" name="TextBox 43"/>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5" name="TextBox 44"/>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6" name="TextBox 45"/>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7" name="TextBox 46"/>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8" name="TextBox 47"/>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9" name="TextBox 48"/>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0" name="TextBox 49"/>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1" name="TextBox 50"/>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2" name="TextBox 51"/>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3" name="TextBox 52"/>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4" name="TextBox 53"/>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5" name="TextBox 54"/>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6" name="TextBox 55"/>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7" name="TextBox 56"/>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8" name="TextBox 57"/>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9" name="TextBox 58"/>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0" name="TextBox 59"/>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1" name="TextBox 60"/>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2" name="TextBox 61"/>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3" name="TextBox 62"/>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4" name="TextBox 63"/>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5" name="TextBox 64"/>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6" name="TextBox 65"/>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7" name="TextBox 66"/>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8" name="TextBox 67"/>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9" name="TextBox 68"/>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0" name="TextBox 69"/>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1" name="TextBox 70"/>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2" name="TextBox 71"/>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3" name="TextBox 72"/>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4" name="TextBox 73"/>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5" name="TextBox 74"/>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6" name="TextBox 75"/>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7" name="TextBox 76"/>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8" name="TextBox 77"/>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9" name="TextBox 78"/>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0" name="TextBox 79"/>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1" name="TextBox 80"/>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2" name="TextBox 81"/>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3" name="TextBox 82"/>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4" name="TextBox 83"/>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5" name="TextBox 84"/>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6" name="TextBox 85"/>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7" name="TextBox 86"/>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8" name="TextBox 87"/>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9" name="TextBox 88"/>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0" name="TextBox 89"/>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1" name="TextBox 90"/>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2" name="TextBox 91"/>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3" name="TextBox 92"/>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4" name="TextBox 93"/>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5" name="TextBox 94"/>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6" name="TextBox 95"/>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7" name="TextBox 96"/>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8" name="TextBox 97"/>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9" name="TextBox 98"/>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0" name="TextBox 99"/>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1" name="TextBox 100"/>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2" name="TextBox 101"/>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3" name="TextBox 102"/>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4" name="TextBox 103"/>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5" name="TextBox 104"/>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6" name="TextBox 105"/>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7" name="TextBox 106"/>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8" name="TextBox 107"/>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9" name="TextBox 108"/>
          <p:cNvSpPr txBox="1"/>
          <p:nvPr/>
        </p:nvSpPr>
        <p:spPr>
          <a:xfrm>
            <a:off x="-57150" y="5686425"/>
            <a:ext cx="6667500" cy="161925"/>
          </a:xfrm>
          <a:prstGeom prst="rect">
            <a:avLst/>
          </a:prstGeom>
          <a:noFill/>
        </p:spPr>
        <p:txBody>
          <a:bodyPr wrap="none" lIns="0" rIns="0" tIns="0" bIns="0" anchor="t">
            <a:spAutoFit/>
          </a:bodyPr>
          <a:lstStyle/>
          <a:p>
            <a:pPr algn="ctr"/>
            <a:r>
              <a:rPr b="0" sz="1050" i="1" u="none">
                <a:solidFill>
                  <a:srgbClr val="5E6C84"/>
                </a:solidFill>
                <a:latin typeface="Inter"/>
              </a:rPr>
              <a:t>Figure 2. Prioritized backlog items ready for implementation.</a:t>
            </a:r>
          </a:p>
        </p:txBody>
      </p:sp>
      <p:sp>
        <p:nvSpPr>
          <p:cNvPr id="110" name="TextBox 109"/>
          <p:cNvSpPr txBox="1"/>
          <p:nvPr/>
        </p:nvSpPr>
        <p:spPr>
          <a:xfrm>
            <a:off x="6248400" y="2114550"/>
            <a:ext cx="5943600" cy="228600"/>
          </a:xfrm>
          <a:prstGeom prst="rect">
            <a:avLst/>
          </a:prstGeom>
          <a:noFill/>
        </p:spPr>
        <p:txBody>
          <a:bodyPr wrap="none" lIns="0" rIns="0" tIns="0" bIns="0" anchor="t">
            <a:spAutoFit/>
          </a:bodyPr>
          <a:lstStyle/>
          <a:p>
            <a:pPr algn="l"/>
            <a:r>
              <a:rPr b="1" sz="1500" i="0" u="none">
                <a:solidFill>
                  <a:srgbClr val="172B4D"/>
                </a:solidFill>
                <a:latin typeface="Inter"/>
              </a:rPr>
              <a:t>Refinement Flow:</a:t>
            </a:r>
          </a:p>
        </p:txBody>
      </p:sp>
      <p:sp>
        <p:nvSpPr>
          <p:cNvPr id="111" name="TextBox 110"/>
          <p:cNvSpPr txBox="1"/>
          <p:nvPr/>
        </p:nvSpPr>
        <p:spPr>
          <a:xfrm>
            <a:off x="6400800" y="2724150"/>
            <a:ext cx="5791200" cy="200025"/>
          </a:xfrm>
          <a:prstGeom prst="rect">
            <a:avLst/>
          </a:prstGeom>
          <a:noFill/>
        </p:spPr>
        <p:txBody>
          <a:bodyPr wrap="none" lIns="0" rIns="0" tIns="0" bIns="0" anchor="t">
            <a:spAutoFit/>
          </a:bodyPr>
          <a:lstStyle/>
          <a:p>
            <a:pPr algn="l"/>
            <a:r>
              <a:rPr b="1" sz="1350" i="0" u="none">
                <a:solidFill>
                  <a:srgbClr val="172B4D"/>
                </a:solidFill>
                <a:latin typeface="Inter"/>
              </a:rPr>
              <a:t>1. Capture future work</a:t>
            </a:r>
          </a:p>
        </p:txBody>
      </p:sp>
      <p:sp>
        <p:nvSpPr>
          <p:cNvPr id="112" name="TextBox 111"/>
          <p:cNvSpPr txBox="1"/>
          <p:nvPr/>
        </p:nvSpPr>
        <p:spPr>
          <a:xfrm>
            <a:off x="6400800" y="3381375"/>
            <a:ext cx="5791200" cy="200025"/>
          </a:xfrm>
          <a:prstGeom prst="rect">
            <a:avLst/>
          </a:prstGeom>
          <a:noFill/>
        </p:spPr>
        <p:txBody>
          <a:bodyPr wrap="none" lIns="0" rIns="0" tIns="0" bIns="0" anchor="t">
            <a:spAutoFit/>
          </a:bodyPr>
          <a:lstStyle/>
          <a:p>
            <a:pPr algn="l"/>
            <a:r>
              <a:rPr b="1" sz="1350" i="0" u="none">
                <a:solidFill>
                  <a:srgbClr val="172B4D"/>
                </a:solidFill>
                <a:latin typeface="Inter"/>
              </a:rPr>
              <a:t>2. Clarify acceptance criteria</a:t>
            </a:r>
          </a:p>
        </p:txBody>
      </p:sp>
      <p:sp>
        <p:nvSpPr>
          <p:cNvPr id="113" name="TextBox 112"/>
          <p:cNvSpPr txBox="1"/>
          <p:nvPr/>
        </p:nvSpPr>
        <p:spPr>
          <a:xfrm>
            <a:off x="6400800" y="4038600"/>
            <a:ext cx="5791200" cy="200025"/>
          </a:xfrm>
          <a:prstGeom prst="rect">
            <a:avLst/>
          </a:prstGeom>
          <a:noFill/>
        </p:spPr>
        <p:txBody>
          <a:bodyPr wrap="none" lIns="0" rIns="0" tIns="0" bIns="0" anchor="t">
            <a:spAutoFit/>
          </a:bodyPr>
          <a:lstStyle/>
          <a:p>
            <a:pPr algn="l"/>
            <a:r>
              <a:rPr b="1" sz="1350" i="0" u="none">
                <a:solidFill>
                  <a:srgbClr val="172B4D"/>
                </a:solidFill>
                <a:latin typeface="Inter"/>
              </a:rPr>
              <a:t>3. Prioritize by value</a:t>
            </a:r>
          </a:p>
        </p:txBody>
      </p:sp>
      <p:sp>
        <p:nvSpPr>
          <p:cNvPr id="114" name="TextBox 113"/>
          <p:cNvSpPr txBox="1"/>
          <p:nvPr/>
        </p:nvSpPr>
        <p:spPr>
          <a:xfrm>
            <a:off x="6400800" y="4695825"/>
            <a:ext cx="5791200" cy="200025"/>
          </a:xfrm>
          <a:prstGeom prst="rect">
            <a:avLst/>
          </a:prstGeom>
          <a:noFill/>
        </p:spPr>
        <p:txBody>
          <a:bodyPr wrap="none" lIns="0" rIns="0" tIns="0" bIns="0" anchor="t">
            <a:spAutoFit/>
          </a:bodyPr>
          <a:lstStyle/>
          <a:p>
            <a:pPr algn="l"/>
            <a:r>
              <a:rPr b="1" sz="1350" i="0" u="none">
                <a:solidFill>
                  <a:srgbClr val="172B4D"/>
                </a:solidFill>
                <a:latin typeface="Inter"/>
              </a:rPr>
              <a:t>4. Estimate complexity</a:t>
            </a:r>
          </a:p>
        </p:txBody>
      </p:sp>
      <p:sp>
        <p:nvSpPr>
          <p:cNvPr id="115" name="TextBox 114"/>
          <p:cNvSpPr txBox="1"/>
          <p:nvPr/>
        </p:nvSpPr>
        <p:spPr>
          <a:xfrm>
            <a:off x="6400800" y="5353050"/>
            <a:ext cx="5791200" cy="200025"/>
          </a:xfrm>
          <a:prstGeom prst="rect">
            <a:avLst/>
          </a:prstGeom>
          <a:noFill/>
        </p:spPr>
        <p:txBody>
          <a:bodyPr wrap="none" lIns="0" rIns="0" tIns="0" bIns="0" anchor="t">
            <a:spAutoFit/>
          </a:bodyPr>
          <a:lstStyle/>
          <a:p>
            <a:pPr algn="l"/>
            <a:r>
              <a:rPr b="1" sz="1350" i="0" u="none">
                <a:solidFill>
                  <a:srgbClr val="0052CC"/>
                </a:solidFill>
                <a:latin typeface="Inter"/>
              </a:rPr>
              <a:t>5. Ready for implementation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105025"/>
            <a:ext cx="2072580" cy="4143375"/>
          </a:xfrm>
          <a:prstGeom prst="roundRect">
            <a:avLst>
              <a:gd name="adj" fmla="val 367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34580" y="2105025"/>
            <a:ext cx="2072580" cy="4143375"/>
          </a:xfrm>
          <a:prstGeom prst="roundRect">
            <a:avLst>
              <a:gd name="adj" fmla="val 367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59560" y="2105025"/>
            <a:ext cx="2072580" cy="4143375"/>
          </a:xfrm>
          <a:prstGeom prst="roundRect">
            <a:avLst>
              <a:gd name="adj" fmla="val 367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84541" y="2105025"/>
            <a:ext cx="2072580" cy="4143375"/>
          </a:xfrm>
          <a:prstGeom prst="roundRect">
            <a:avLst>
              <a:gd name="adj" fmla="val 367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509521" y="2105025"/>
            <a:ext cx="2072580" cy="4143375"/>
          </a:xfrm>
          <a:prstGeom prst="roundRect">
            <a:avLst>
              <a:gd name="adj" fmla="val 367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2105025"/>
            <a:ext cx="2072580" cy="3810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34580" y="2105025"/>
            <a:ext cx="2072580" cy="3810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59560" y="2105025"/>
            <a:ext cx="207258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84541" y="2105025"/>
            <a:ext cx="2072580" cy="38100"/>
          </a:xfrm>
          <a:prstGeom prst="rect">
            <a:avLst/>
          </a:prstGeom>
          <a:solidFill>
            <a:srgbClr val="FF9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09521" y="2105025"/>
            <a:ext cx="2072580" cy="38100"/>
          </a:xfrm>
          <a:prstGeom prst="rect">
            <a:avLst/>
          </a:prstGeom>
          <a:solidFill>
            <a:srgbClr val="008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8" name="TextBox 17"/>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Board Workflow &amp; States</a:t>
            </a:r>
          </a:p>
        </p:txBody>
      </p:sp>
      <p:sp>
        <p:nvSpPr>
          <p:cNvPr id="19" name="TextBox 18"/>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The workflow represents execution states, not time-boxed Sprints.</a:t>
            </a:r>
          </a:p>
        </p:txBody>
      </p:sp>
      <p:sp>
        <p:nvSpPr>
          <p:cNvPr id="20" name="TextBox 19"/>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1" name="TextBox 20"/>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2" name="TextBox 21"/>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3" name="TextBox 22"/>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4" name="TextBox 23"/>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5" name="TextBox 24"/>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6" name="TextBox 25"/>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7" name="TextBox 26"/>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8" name="TextBox 27"/>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9" name="TextBox 28"/>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0" name="TextBox 29"/>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1" name="TextBox 30"/>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2" name="TextBox 31"/>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3" name="TextBox 32"/>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4" name="TextBox 33"/>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5" name="TextBox 34"/>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6" name="TextBox 35"/>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7" name="TextBox 36"/>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8" name="TextBox 37"/>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9" name="TextBox 38"/>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0" name="TextBox 39"/>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1" name="TextBox 40"/>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2" name="TextBox 41"/>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3" name="TextBox 42"/>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4" name="TextBox 43"/>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5" name="TextBox 44"/>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6" name="TextBox 45"/>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7" name="TextBox 46"/>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8" name="TextBox 47"/>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9" name="TextBox 48"/>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0" name="TextBox 49"/>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1" name="TextBox 50"/>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2" name="TextBox 51"/>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3" name="TextBox 52"/>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4" name="TextBox 53"/>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5" name="TextBox 54"/>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6" name="TextBox 55"/>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7" name="TextBox 56"/>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8" name="TextBox 57"/>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9" name="TextBox 58"/>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0" name="TextBox 59"/>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1" name="TextBox 60"/>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2" name="TextBox 61"/>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3" name="TextBox 62"/>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4" name="TextBox 63"/>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5" name="TextBox 64"/>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6" name="TextBox 65"/>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7" name="TextBox 66"/>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8" name="TextBox 67"/>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9" name="TextBox 68"/>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0" name="TextBox 69"/>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1" name="TextBox 70"/>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2" name="TextBox 71"/>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3" name="TextBox 72"/>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4" name="TextBox 73"/>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5" name="TextBox 74"/>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6" name="TextBox 75"/>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7" name="TextBox 76"/>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8" name="TextBox 77"/>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9" name="TextBox 78"/>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0" name="TextBox 79"/>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1" name="TextBox 80"/>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2" name="TextBox 81"/>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3" name="TextBox 82"/>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4" name="TextBox 83"/>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5" name="TextBox 84"/>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6" name="TextBox 85"/>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7" name="TextBox 86"/>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8" name="TextBox 87"/>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9" name="TextBox 88"/>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0" name="TextBox 89"/>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1" name="TextBox 90"/>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2" name="TextBox 91"/>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3" name="TextBox 92"/>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4" name="TextBox 93"/>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5" name="TextBox 94"/>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6" name="TextBox 95"/>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7" name="TextBox 96"/>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8" name="TextBox 97"/>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9" name="TextBox 98"/>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0" name="TextBox 99"/>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1" name="TextBox 100"/>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2" name="TextBox 101"/>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3" name="TextBox 102"/>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4" name="TextBox 103"/>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5" name="TextBox 104"/>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6" name="TextBox 105"/>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7" name="TextBox 106"/>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8" name="TextBox 107"/>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9" name="TextBox 108"/>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0" name="TextBox 109"/>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1" name="TextBox 110"/>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2" name="TextBox 111"/>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3" name="TextBox 112"/>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4" name="TextBox 113"/>
          <p:cNvSpPr txBox="1"/>
          <p:nvPr/>
        </p:nvSpPr>
        <p:spPr>
          <a:xfrm>
            <a:off x="838200" y="2371725"/>
            <a:ext cx="2120186" cy="228600"/>
          </a:xfrm>
          <a:prstGeom prst="rect">
            <a:avLst/>
          </a:prstGeom>
          <a:noFill/>
        </p:spPr>
        <p:txBody>
          <a:bodyPr wrap="none" lIns="0" rIns="0" tIns="0" bIns="0" anchor="t">
            <a:spAutoFit/>
          </a:bodyPr>
          <a:lstStyle/>
          <a:p>
            <a:pPr algn="l"/>
            <a:r>
              <a:rPr b="1" sz="1500" i="0" u="none">
                <a:solidFill>
                  <a:srgbClr val="172B4D"/>
                </a:solidFill>
                <a:latin typeface="Inter"/>
              </a:rPr>
              <a:t>IDEA</a:t>
            </a:r>
          </a:p>
        </p:txBody>
      </p:sp>
      <p:sp>
        <p:nvSpPr>
          <p:cNvPr id="115" name="TextBox 114"/>
          <p:cNvSpPr txBox="1"/>
          <p:nvPr/>
        </p:nvSpPr>
        <p:spPr>
          <a:xfrm>
            <a:off x="838200" y="2752725"/>
            <a:ext cx="1710630" cy="571500"/>
          </a:xfrm>
          <a:prstGeom prst="rect">
            <a:avLst/>
          </a:prstGeom>
          <a:noFill/>
        </p:spPr>
        <p:txBody>
          <a:bodyPr wrap="square" lIns="0" rIns="0" tIns="0" bIns="0" anchor="t">
            <a:spAutoFit/>
          </a:bodyPr>
          <a:lstStyle/>
          <a:p>
            <a:pPr algn="l"/>
            <a:r>
              <a:rPr b="0" sz="1200" i="0" u="none">
                <a:solidFill>
                  <a:srgbClr val="5E6C84"/>
                </a:solidFill>
                <a:latin typeface="Inter"/>
              </a:rPr>
              <a:t>Potential work or high-level capability not yet executing.</a:t>
            </a:r>
          </a:p>
        </p:txBody>
      </p:sp>
      <p:sp>
        <p:nvSpPr>
          <p:cNvPr id="116" name="TextBox 115"/>
          <p:cNvSpPr txBox="1"/>
          <p:nvPr/>
        </p:nvSpPr>
        <p:spPr>
          <a:xfrm>
            <a:off x="3063180" y="2371725"/>
            <a:ext cx="2120186" cy="228600"/>
          </a:xfrm>
          <a:prstGeom prst="rect">
            <a:avLst/>
          </a:prstGeom>
          <a:noFill/>
        </p:spPr>
        <p:txBody>
          <a:bodyPr wrap="none" lIns="0" rIns="0" tIns="0" bIns="0" anchor="t">
            <a:spAutoFit/>
          </a:bodyPr>
          <a:lstStyle/>
          <a:p>
            <a:pPr algn="l"/>
            <a:r>
              <a:rPr b="1" sz="1500" i="0" u="none">
                <a:solidFill>
                  <a:srgbClr val="172B4D"/>
                </a:solidFill>
                <a:latin typeface="Inter"/>
              </a:rPr>
              <a:t>TO DO</a:t>
            </a:r>
          </a:p>
        </p:txBody>
      </p:sp>
      <p:sp>
        <p:nvSpPr>
          <p:cNvPr id="117" name="TextBox 116"/>
          <p:cNvSpPr txBox="1"/>
          <p:nvPr/>
        </p:nvSpPr>
        <p:spPr>
          <a:xfrm>
            <a:off x="3063180" y="2752725"/>
            <a:ext cx="1710630" cy="571500"/>
          </a:xfrm>
          <a:prstGeom prst="rect">
            <a:avLst/>
          </a:prstGeom>
          <a:noFill/>
        </p:spPr>
        <p:txBody>
          <a:bodyPr wrap="square" lIns="0" rIns="0" tIns="0" bIns="0" anchor="t">
            <a:spAutoFit/>
          </a:bodyPr>
          <a:lstStyle/>
          <a:p>
            <a:pPr algn="l"/>
            <a:r>
              <a:rPr b="0" sz="1200" i="0" u="none">
                <a:solidFill>
                  <a:srgbClr val="5E6C84"/>
                </a:solidFill>
                <a:latin typeface="Inter"/>
              </a:rPr>
              <a:t>Refined work queued and awaiting active execution.</a:t>
            </a:r>
          </a:p>
        </p:txBody>
      </p:sp>
      <p:sp>
        <p:nvSpPr>
          <p:cNvPr id="118" name="TextBox 117"/>
          <p:cNvSpPr txBox="1"/>
          <p:nvPr/>
        </p:nvSpPr>
        <p:spPr>
          <a:xfrm>
            <a:off x="5288160" y="2371725"/>
            <a:ext cx="2120186" cy="228600"/>
          </a:xfrm>
          <a:prstGeom prst="rect">
            <a:avLst/>
          </a:prstGeom>
          <a:noFill/>
        </p:spPr>
        <p:txBody>
          <a:bodyPr wrap="none" lIns="0" rIns="0" tIns="0" bIns="0" anchor="t">
            <a:spAutoFit/>
          </a:bodyPr>
          <a:lstStyle/>
          <a:p>
            <a:pPr algn="l"/>
            <a:r>
              <a:rPr b="1" sz="1500" i="0" u="none">
                <a:solidFill>
                  <a:srgbClr val="172B4D"/>
                </a:solidFill>
                <a:latin typeface="Inter"/>
              </a:rPr>
              <a:t>IN PROGRESS</a:t>
            </a:r>
          </a:p>
        </p:txBody>
      </p:sp>
      <p:sp>
        <p:nvSpPr>
          <p:cNvPr id="119" name="TextBox 118"/>
          <p:cNvSpPr txBox="1"/>
          <p:nvPr/>
        </p:nvSpPr>
        <p:spPr>
          <a:xfrm>
            <a:off x="5288160" y="2752725"/>
            <a:ext cx="1710630" cy="381000"/>
          </a:xfrm>
          <a:prstGeom prst="rect">
            <a:avLst/>
          </a:prstGeom>
          <a:noFill/>
        </p:spPr>
        <p:txBody>
          <a:bodyPr wrap="square" lIns="0" rIns="0" tIns="0" bIns="0" anchor="t">
            <a:spAutoFit/>
          </a:bodyPr>
          <a:lstStyle/>
          <a:p>
            <a:pPr algn="l"/>
            <a:r>
              <a:rPr b="0" sz="1200" i="0" u="none">
                <a:solidFill>
                  <a:srgbClr val="5E6C84"/>
                </a:solidFill>
                <a:latin typeface="Inter"/>
              </a:rPr>
              <a:t>Active implementation underway.</a:t>
            </a:r>
          </a:p>
        </p:txBody>
      </p:sp>
      <p:sp>
        <p:nvSpPr>
          <p:cNvPr id="120" name="TextBox 119"/>
          <p:cNvSpPr txBox="1"/>
          <p:nvPr/>
        </p:nvSpPr>
        <p:spPr>
          <a:xfrm>
            <a:off x="7513141" y="2371725"/>
            <a:ext cx="2120186" cy="228600"/>
          </a:xfrm>
          <a:prstGeom prst="rect">
            <a:avLst/>
          </a:prstGeom>
          <a:noFill/>
        </p:spPr>
        <p:txBody>
          <a:bodyPr wrap="none" lIns="0" rIns="0" tIns="0" bIns="0" anchor="t">
            <a:spAutoFit/>
          </a:bodyPr>
          <a:lstStyle/>
          <a:p>
            <a:pPr algn="l"/>
            <a:r>
              <a:rPr b="1" sz="1500" i="0" u="none">
                <a:solidFill>
                  <a:srgbClr val="172B4D"/>
                </a:solidFill>
                <a:latin typeface="Inter"/>
              </a:rPr>
              <a:t>IN REVIEW</a:t>
            </a:r>
          </a:p>
        </p:txBody>
      </p:sp>
      <p:sp>
        <p:nvSpPr>
          <p:cNvPr id="121" name="TextBox 120"/>
          <p:cNvSpPr txBox="1"/>
          <p:nvPr/>
        </p:nvSpPr>
        <p:spPr>
          <a:xfrm>
            <a:off x="7513141" y="2752725"/>
            <a:ext cx="1710630" cy="381000"/>
          </a:xfrm>
          <a:prstGeom prst="rect">
            <a:avLst/>
          </a:prstGeom>
          <a:noFill/>
        </p:spPr>
        <p:txBody>
          <a:bodyPr wrap="square" lIns="0" rIns="0" tIns="0" bIns="0" anchor="t">
            <a:spAutoFit/>
          </a:bodyPr>
          <a:lstStyle/>
          <a:p>
            <a:pPr algn="l"/>
            <a:r>
              <a:rPr b="0" sz="1200" i="0" u="none">
                <a:solidFill>
                  <a:srgbClr val="5E6C84"/>
                </a:solidFill>
                <a:latin typeface="Inter"/>
              </a:rPr>
              <a:t>Testing, peer review, or validation phase.</a:t>
            </a:r>
          </a:p>
        </p:txBody>
      </p:sp>
      <p:sp>
        <p:nvSpPr>
          <p:cNvPr id="122" name="TextBox 121"/>
          <p:cNvSpPr txBox="1"/>
          <p:nvPr/>
        </p:nvSpPr>
        <p:spPr>
          <a:xfrm>
            <a:off x="9738121" y="2371725"/>
            <a:ext cx="2120186" cy="228600"/>
          </a:xfrm>
          <a:prstGeom prst="rect">
            <a:avLst/>
          </a:prstGeom>
          <a:noFill/>
        </p:spPr>
        <p:txBody>
          <a:bodyPr wrap="none" lIns="0" rIns="0" tIns="0" bIns="0" anchor="t">
            <a:spAutoFit/>
          </a:bodyPr>
          <a:lstStyle/>
          <a:p>
            <a:pPr algn="l"/>
            <a:r>
              <a:rPr b="1" sz="1500" i="0" u="none">
                <a:solidFill>
                  <a:srgbClr val="172B4D"/>
                </a:solidFill>
                <a:latin typeface="Inter"/>
              </a:rPr>
              <a:t>DONE</a:t>
            </a:r>
          </a:p>
        </p:txBody>
      </p:sp>
      <p:sp>
        <p:nvSpPr>
          <p:cNvPr id="123" name="TextBox 122"/>
          <p:cNvSpPr txBox="1"/>
          <p:nvPr/>
        </p:nvSpPr>
        <p:spPr>
          <a:xfrm>
            <a:off x="9738121" y="2752725"/>
            <a:ext cx="1710630" cy="571500"/>
          </a:xfrm>
          <a:prstGeom prst="rect">
            <a:avLst/>
          </a:prstGeom>
          <a:noFill/>
        </p:spPr>
        <p:txBody>
          <a:bodyPr wrap="square" lIns="0" rIns="0" tIns="0" bIns="0" anchor="t">
            <a:spAutoFit/>
          </a:bodyPr>
          <a:lstStyle/>
          <a:p>
            <a:pPr algn="l"/>
            <a:r>
              <a:rPr b="0" sz="1200" i="0" u="none">
                <a:solidFill>
                  <a:srgbClr val="5E6C84"/>
                </a:solidFill>
                <a:latin typeface="Inter"/>
              </a:rPr>
              <a:t>Work satisfies project completion quality gates.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48400" y="1871662"/>
            <a:ext cx="5334000" cy="752475"/>
          </a:xfrm>
          <a:prstGeom prst="roundRect">
            <a:avLst>
              <a:gd name="adj" fmla="val 10126"/>
            </a:avLst>
          </a:prstGeom>
          <a:solidFill>
            <a:srgbClr val="E3F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2776537"/>
            <a:ext cx="5334000" cy="752475"/>
          </a:xfrm>
          <a:prstGeom prst="roundRect">
            <a:avLst>
              <a:gd name="adj" fmla="val 10126"/>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48400" y="3681412"/>
            <a:ext cx="5334000" cy="752475"/>
          </a:xfrm>
          <a:prstGeom prst="roundRect">
            <a:avLst>
              <a:gd name="adj" fmla="val 10126"/>
            </a:avLst>
          </a:prstGeom>
          <a:solidFill>
            <a:srgbClr val="FFF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8400" y="4586287"/>
            <a:ext cx="5334000" cy="752475"/>
          </a:xfrm>
          <a:prstGeom prst="roundRect">
            <a:avLst>
              <a:gd name="adj" fmla="val 1012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609600" y="1971675"/>
            <a:ext cx="5334000" cy="3562350"/>
          </a:xfrm>
          <a:prstGeom prst="rect">
            <a:avLst/>
          </a:prstGeom>
        </p:spPr>
      </p:pic>
      <p:graphicFrame>
        <p:nvGraphicFramePr>
          <p:cNvPr id="12" name="Table 11"/>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3" name="TextBox 12"/>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Current Project Status Snapshot</a:t>
            </a:r>
          </a:p>
        </p:txBody>
      </p:sp>
      <p:sp>
        <p:nvSpPr>
          <p:cNvPr id="14" name="TextBox 13"/>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5" name="TextBox 14"/>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6" name="TextBox 15"/>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7" name="TextBox 16"/>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8" name="TextBox 17"/>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9" name="TextBox 18"/>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0" name="TextBox 19"/>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1" name="TextBox 20"/>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2" name="TextBox 21"/>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3" name="TextBox 22"/>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4" name="TextBox 23"/>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5" name="TextBox 24"/>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6" name="TextBox 25"/>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7" name="TextBox 26"/>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8" name="TextBox 27"/>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9" name="TextBox 28"/>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0" name="TextBox 29"/>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1" name="TextBox 30"/>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2" name="TextBox 31"/>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3" name="TextBox 32"/>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4" name="TextBox 33"/>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5" name="TextBox 34"/>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6" name="TextBox 35"/>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7" name="TextBox 36"/>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8" name="TextBox 37"/>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9" name="TextBox 38"/>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0" name="TextBox 39"/>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1" name="TextBox 40"/>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2" name="TextBox 41"/>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3" name="TextBox 42"/>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4" name="TextBox 43"/>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5" name="TextBox 44"/>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6" name="TextBox 45"/>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7" name="TextBox 46"/>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8" name="TextBox 47"/>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9" name="TextBox 48"/>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0" name="TextBox 49"/>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1" name="TextBox 50"/>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2" name="TextBox 51"/>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3" name="TextBox 52"/>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4" name="TextBox 53"/>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5" name="TextBox 54"/>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6" name="TextBox 55"/>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7" name="TextBox 56"/>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8" name="TextBox 57"/>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9" name="TextBox 58"/>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0" name="TextBox 59"/>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1" name="TextBox 60"/>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2" name="TextBox 61"/>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3" name="TextBox 62"/>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4" name="TextBox 63"/>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5" name="TextBox 64"/>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6" name="TextBox 65"/>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7" name="TextBox 66"/>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8" name="TextBox 67"/>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9" name="TextBox 68"/>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0" name="TextBox 69"/>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1" name="TextBox 70"/>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2" name="TextBox 71"/>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3" name="TextBox 72"/>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4" name="TextBox 73"/>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5" name="TextBox 74"/>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6" name="TextBox 75"/>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7" name="TextBox 76"/>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8" name="TextBox 77"/>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9" name="TextBox 78"/>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0" name="TextBox 79"/>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1" name="TextBox 80"/>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2" name="TextBox 81"/>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3" name="TextBox 82"/>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4" name="TextBox 83"/>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5" name="TextBox 84"/>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6" name="TextBox 85"/>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7" name="TextBox 86"/>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8" name="TextBox 87"/>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9" name="TextBox 88"/>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0" name="TextBox 89"/>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1" name="TextBox 90"/>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2" name="TextBox 91"/>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3" name="TextBox 92"/>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4" name="TextBox 93"/>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5" name="TextBox 94"/>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6" name="TextBox 95"/>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7" name="TextBox 96"/>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8" name="TextBox 97"/>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9" name="TextBox 98"/>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0" name="TextBox 99"/>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1" name="TextBox 100"/>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2" name="TextBox 101"/>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3" name="TextBox 102"/>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4" name="TextBox 103"/>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5" name="TextBox 104"/>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6" name="TextBox 105"/>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7" name="TextBox 106"/>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8" name="TextBox 107"/>
          <p:cNvSpPr txBox="1"/>
          <p:nvPr/>
        </p:nvSpPr>
        <p:spPr>
          <a:xfrm>
            <a:off x="-57150" y="5686425"/>
            <a:ext cx="6667500" cy="161925"/>
          </a:xfrm>
          <a:prstGeom prst="rect">
            <a:avLst/>
          </a:prstGeom>
          <a:noFill/>
        </p:spPr>
        <p:txBody>
          <a:bodyPr wrap="none" lIns="0" rIns="0" tIns="0" bIns="0" anchor="t">
            <a:spAutoFit/>
          </a:bodyPr>
          <a:lstStyle/>
          <a:p>
            <a:pPr algn="ctr"/>
            <a:r>
              <a:rPr b="0" sz="1050" i="1" u="none">
                <a:solidFill>
                  <a:srgbClr val="5E6C84"/>
                </a:solidFill>
                <a:latin typeface="Inter"/>
              </a:rPr>
              <a:t>Figure 7. Jira Summary showing 88 total issues active on board.</a:t>
            </a:r>
          </a:p>
        </p:txBody>
      </p:sp>
      <p:sp>
        <p:nvSpPr>
          <p:cNvPr id="109" name="TextBox 108"/>
          <p:cNvSpPr txBox="1"/>
          <p:nvPr/>
        </p:nvSpPr>
        <p:spPr>
          <a:xfrm>
            <a:off x="6248400" y="5567362"/>
            <a:ext cx="5429250" cy="381000"/>
          </a:xfrm>
          <a:prstGeom prst="rect">
            <a:avLst/>
          </a:prstGeom>
          <a:noFill/>
        </p:spPr>
        <p:txBody>
          <a:bodyPr wrap="square" lIns="0" rIns="0" tIns="0" bIns="0" anchor="t">
            <a:spAutoFit/>
          </a:bodyPr>
          <a:lstStyle/>
          <a:p>
            <a:pPr algn="l"/>
            <a:r>
              <a:rPr b="1" sz="1200" i="0" u="none">
                <a:solidFill>
                  <a:srgbClr val="5E6C84"/>
                </a:solidFill>
                <a:latin typeface="Inter"/>
              </a:rPr>
              <a:t>Note: Snapshot of active Agile work visualization, not historical sprint completion.</a:t>
            </a:r>
          </a:p>
        </p:txBody>
      </p:sp>
      <p:sp>
        <p:nvSpPr>
          <p:cNvPr id="110" name="TextBox 109"/>
          <p:cNvSpPr txBox="1"/>
          <p:nvPr/>
        </p:nvSpPr>
        <p:spPr>
          <a:xfrm>
            <a:off x="6438900" y="2109787"/>
            <a:ext cx="942975" cy="276225"/>
          </a:xfrm>
          <a:prstGeom prst="rect">
            <a:avLst/>
          </a:prstGeom>
          <a:noFill/>
        </p:spPr>
        <p:txBody>
          <a:bodyPr wrap="none" lIns="0" rIns="0" tIns="0" bIns="0" anchor="t">
            <a:spAutoFit/>
          </a:bodyPr>
          <a:lstStyle/>
          <a:p>
            <a:pPr algn="l"/>
            <a:r>
              <a:rPr b="1" sz="1800" i="0" u="none">
                <a:solidFill>
                  <a:srgbClr val="006644"/>
                </a:solidFill>
                <a:latin typeface="Inter"/>
              </a:rPr>
              <a:t>DONE</a:t>
            </a:r>
          </a:p>
        </p:txBody>
      </p:sp>
      <p:sp>
        <p:nvSpPr>
          <p:cNvPr id="111" name="TextBox 110"/>
          <p:cNvSpPr txBox="1"/>
          <p:nvPr/>
        </p:nvSpPr>
        <p:spPr>
          <a:xfrm>
            <a:off x="10991850" y="2062162"/>
            <a:ext cx="685800" cy="371475"/>
          </a:xfrm>
          <a:prstGeom prst="rect">
            <a:avLst/>
          </a:prstGeom>
          <a:noFill/>
        </p:spPr>
        <p:txBody>
          <a:bodyPr wrap="none" lIns="0" rIns="0" tIns="0" bIns="0" anchor="t">
            <a:spAutoFit/>
          </a:bodyPr>
          <a:lstStyle/>
          <a:p>
            <a:pPr algn="l"/>
            <a:r>
              <a:rPr b="1" sz="2400" i="0" u="none">
                <a:solidFill>
                  <a:srgbClr val="006644"/>
                </a:solidFill>
                <a:latin typeface="Inter"/>
              </a:rPr>
              <a:t>38</a:t>
            </a:r>
          </a:p>
        </p:txBody>
      </p:sp>
      <p:sp>
        <p:nvSpPr>
          <p:cNvPr id="112" name="TextBox 111"/>
          <p:cNvSpPr txBox="1"/>
          <p:nvPr/>
        </p:nvSpPr>
        <p:spPr>
          <a:xfrm>
            <a:off x="6438900" y="3014662"/>
            <a:ext cx="1940718" cy="276225"/>
          </a:xfrm>
          <a:prstGeom prst="rect">
            <a:avLst/>
          </a:prstGeom>
          <a:noFill/>
        </p:spPr>
        <p:txBody>
          <a:bodyPr wrap="none" lIns="0" rIns="0" tIns="0" bIns="0" anchor="t">
            <a:spAutoFit/>
          </a:bodyPr>
          <a:lstStyle/>
          <a:p>
            <a:pPr algn="l"/>
            <a:r>
              <a:rPr b="1" sz="1800" i="0" u="none">
                <a:solidFill>
                  <a:srgbClr val="0052CC"/>
                </a:solidFill>
                <a:latin typeface="Inter"/>
              </a:rPr>
              <a:t>IN PROGRESS</a:t>
            </a:r>
          </a:p>
        </p:txBody>
      </p:sp>
      <p:sp>
        <p:nvSpPr>
          <p:cNvPr id="113" name="TextBox 112"/>
          <p:cNvSpPr txBox="1"/>
          <p:nvPr/>
        </p:nvSpPr>
        <p:spPr>
          <a:xfrm>
            <a:off x="11125200" y="2967037"/>
            <a:ext cx="552450" cy="371475"/>
          </a:xfrm>
          <a:prstGeom prst="rect">
            <a:avLst/>
          </a:prstGeom>
          <a:noFill/>
        </p:spPr>
        <p:txBody>
          <a:bodyPr wrap="none" lIns="0" rIns="0" tIns="0" bIns="0" anchor="t">
            <a:spAutoFit/>
          </a:bodyPr>
          <a:lstStyle/>
          <a:p>
            <a:pPr algn="l"/>
            <a:r>
              <a:rPr b="1" sz="2400" i="0" u="none">
                <a:solidFill>
                  <a:srgbClr val="0052CC"/>
                </a:solidFill>
                <a:latin typeface="Inter"/>
              </a:rPr>
              <a:t>11</a:t>
            </a:r>
          </a:p>
        </p:txBody>
      </p:sp>
      <p:sp>
        <p:nvSpPr>
          <p:cNvPr id="114" name="TextBox 113"/>
          <p:cNvSpPr txBox="1"/>
          <p:nvPr/>
        </p:nvSpPr>
        <p:spPr>
          <a:xfrm>
            <a:off x="6438900" y="3919537"/>
            <a:ext cx="1512093" cy="276225"/>
          </a:xfrm>
          <a:prstGeom prst="rect">
            <a:avLst/>
          </a:prstGeom>
          <a:noFill/>
        </p:spPr>
        <p:txBody>
          <a:bodyPr wrap="none" lIns="0" rIns="0" tIns="0" bIns="0" anchor="t">
            <a:spAutoFit/>
          </a:bodyPr>
          <a:lstStyle/>
          <a:p>
            <a:pPr algn="l"/>
            <a:r>
              <a:rPr b="1" sz="1800" i="0" u="none">
                <a:solidFill>
                  <a:srgbClr val="0F172A"/>
                </a:solidFill>
                <a:latin typeface="Inter"/>
              </a:rPr>
              <a:t>IN REVIEW</a:t>
            </a:r>
          </a:p>
        </p:txBody>
      </p:sp>
      <p:sp>
        <p:nvSpPr>
          <p:cNvPr id="115" name="TextBox 114"/>
          <p:cNvSpPr txBox="1"/>
          <p:nvPr/>
        </p:nvSpPr>
        <p:spPr>
          <a:xfrm>
            <a:off x="11191875" y="3871912"/>
            <a:ext cx="485775" cy="371475"/>
          </a:xfrm>
          <a:prstGeom prst="rect">
            <a:avLst/>
          </a:prstGeom>
          <a:noFill/>
        </p:spPr>
        <p:txBody>
          <a:bodyPr wrap="none" lIns="0" rIns="0" tIns="0" bIns="0" anchor="t">
            <a:spAutoFit/>
          </a:bodyPr>
          <a:lstStyle/>
          <a:p>
            <a:pPr algn="l"/>
            <a:r>
              <a:rPr b="1" sz="2400" i="0" u="none">
                <a:solidFill>
                  <a:srgbClr val="0F172A"/>
                </a:solidFill>
                <a:latin typeface="Inter"/>
              </a:rPr>
              <a:t>9</a:t>
            </a:r>
          </a:p>
        </p:txBody>
      </p:sp>
      <p:sp>
        <p:nvSpPr>
          <p:cNvPr id="116" name="TextBox 115"/>
          <p:cNvSpPr txBox="1"/>
          <p:nvPr/>
        </p:nvSpPr>
        <p:spPr>
          <a:xfrm>
            <a:off x="6438900" y="4824412"/>
            <a:ext cx="1833562" cy="276225"/>
          </a:xfrm>
          <a:prstGeom prst="rect">
            <a:avLst/>
          </a:prstGeom>
          <a:noFill/>
        </p:spPr>
        <p:txBody>
          <a:bodyPr wrap="none" lIns="0" rIns="0" tIns="0" bIns="0" anchor="t">
            <a:spAutoFit/>
          </a:bodyPr>
          <a:lstStyle/>
          <a:p>
            <a:pPr algn="l"/>
            <a:r>
              <a:rPr b="1" sz="1800" i="0" u="none">
                <a:solidFill>
                  <a:srgbClr val="42526E"/>
                </a:solidFill>
                <a:latin typeface="Inter"/>
              </a:rPr>
              <a:t>TO DO / IDEA</a:t>
            </a:r>
          </a:p>
        </p:txBody>
      </p:sp>
      <p:sp>
        <p:nvSpPr>
          <p:cNvPr id="117" name="TextBox 116"/>
          <p:cNvSpPr txBox="1"/>
          <p:nvPr/>
        </p:nvSpPr>
        <p:spPr>
          <a:xfrm>
            <a:off x="10982325" y="4776787"/>
            <a:ext cx="695325" cy="371475"/>
          </a:xfrm>
          <a:prstGeom prst="rect">
            <a:avLst/>
          </a:prstGeom>
          <a:noFill/>
        </p:spPr>
        <p:txBody>
          <a:bodyPr wrap="none" lIns="0" rIns="0" tIns="0" bIns="0" anchor="t">
            <a:spAutoFit/>
          </a:bodyPr>
          <a:lstStyle/>
          <a:p>
            <a:pPr algn="l"/>
            <a:r>
              <a:rPr b="1" sz="2400" i="0" u="none">
                <a:solidFill>
                  <a:srgbClr val="42526E"/>
                </a:solidFill>
                <a:latin typeface="Inter"/>
              </a:rPr>
              <a:t>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5753100"/>
            <a:ext cx="10972800" cy="495300"/>
          </a:xfrm>
          <a:prstGeom prst="roundRect">
            <a:avLst>
              <a:gd name="adj" fmla="val 7692"/>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45766" y="3757612"/>
            <a:ext cx="1083766" cy="3810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8099" y="3757612"/>
            <a:ext cx="1083766" cy="3810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90432" y="3757612"/>
            <a:ext cx="1083766" cy="3810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62764" y="3757612"/>
            <a:ext cx="1083766" cy="3810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5753100"/>
            <a:ext cx="38100" cy="495300"/>
          </a:xfrm>
          <a:prstGeom prst="rect">
            <a:avLst/>
          </a:prstGeom>
          <a:solidFill>
            <a:srgbClr val="FF9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6683" y="3295650"/>
            <a:ext cx="609600" cy="609600"/>
          </a:xfrm>
          <a:prstGeom prst="roundRect">
            <a:avLst>
              <a:gd name="adj" fmla="val 50000"/>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19016" y="3195637"/>
            <a:ext cx="609600" cy="609600"/>
          </a:xfrm>
          <a:prstGeom prst="roundRect">
            <a:avLst>
              <a:gd name="adj" fmla="val 50000"/>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791348" y="3295650"/>
            <a:ext cx="609600" cy="609600"/>
          </a:xfrm>
          <a:prstGeom prst="roundRect">
            <a:avLst>
              <a:gd name="adj" fmla="val 50000"/>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3681" y="3295650"/>
            <a:ext cx="609600" cy="609600"/>
          </a:xfrm>
          <a:prstGeom prst="roundRect">
            <a:avLst>
              <a:gd name="adj" fmla="val 50000"/>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736014" y="3195637"/>
            <a:ext cx="609600" cy="609600"/>
          </a:xfrm>
          <a:prstGeom prst="roundRect">
            <a:avLst>
              <a:gd name="adj" fmla="val 50000"/>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9" name="TextBox 18"/>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Release &amp; Phase Management</a:t>
            </a:r>
          </a:p>
        </p:txBody>
      </p:sp>
      <p:sp>
        <p:nvSpPr>
          <p:cNvPr id="20" name="TextBox 19"/>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Jira Versions group work into sequential delivery phases.</a:t>
            </a:r>
          </a:p>
        </p:txBody>
      </p:sp>
      <p:sp>
        <p:nvSpPr>
          <p:cNvPr id="21" name="TextBox 20"/>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2" name="TextBox 21"/>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3" name="TextBox 22"/>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4" name="TextBox 23"/>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5" name="TextBox 24"/>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6" name="TextBox 25"/>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7" name="TextBox 26"/>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8" name="TextBox 27"/>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9" name="TextBox 28"/>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30" name="TextBox 29"/>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1" name="TextBox 30"/>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2" name="TextBox 31"/>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3" name="TextBox 32"/>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4" name="TextBox 33"/>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5" name="TextBox 34"/>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6" name="TextBox 35"/>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7" name="TextBox 36"/>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8" name="TextBox 37"/>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9" name="TextBox 38"/>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40" name="TextBox 39"/>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1" name="TextBox 40"/>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2" name="TextBox 41"/>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3" name="TextBox 42"/>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4" name="TextBox 43"/>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5" name="TextBox 44"/>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6" name="TextBox 45"/>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7" name="TextBox 46"/>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8" name="TextBox 47"/>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9" name="TextBox 48"/>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50" name="TextBox 49"/>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1" name="TextBox 50"/>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2" name="TextBox 51"/>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3" name="TextBox 52"/>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4" name="TextBox 53"/>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5" name="TextBox 54"/>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6" name="TextBox 55"/>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7" name="TextBox 56"/>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8" name="TextBox 57"/>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9" name="TextBox 58"/>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60" name="TextBox 59"/>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1" name="TextBox 60"/>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2" name="TextBox 61"/>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3" name="TextBox 62"/>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4" name="TextBox 63"/>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5" name="TextBox 64"/>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6" name="TextBox 65"/>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7" name="TextBox 66"/>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8" name="TextBox 67"/>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9" name="TextBox 68"/>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70" name="TextBox 69"/>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1" name="TextBox 70"/>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2" name="TextBox 71"/>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3" name="TextBox 72"/>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4" name="TextBox 73"/>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5" name="TextBox 74"/>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6" name="TextBox 75"/>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7" name="TextBox 76"/>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8" name="TextBox 77"/>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9" name="TextBox 78"/>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80" name="TextBox 79"/>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1" name="TextBox 80"/>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2" name="TextBox 81"/>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3" name="TextBox 82"/>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4" name="TextBox 83"/>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5" name="TextBox 84"/>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6" name="TextBox 85"/>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7" name="TextBox 86"/>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8" name="TextBox 87"/>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9" name="TextBox 88"/>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90" name="TextBox 89"/>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1" name="TextBox 90"/>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2" name="TextBox 91"/>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3" name="TextBox 92"/>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4" name="TextBox 93"/>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5" name="TextBox 94"/>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6" name="TextBox 95"/>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7" name="TextBox 96"/>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8" name="TextBox 97"/>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9" name="TextBox 98"/>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100" name="TextBox 99"/>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1" name="TextBox 100"/>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2" name="TextBox 101"/>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3" name="TextBox 102"/>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4" name="TextBox 103"/>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5" name="TextBox 104"/>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6" name="TextBox 105"/>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7" name="TextBox 106"/>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8" name="TextBox 107"/>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9" name="TextBox 108"/>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10" name="TextBox 109"/>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1" name="TextBox 110"/>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2" name="TextBox 111"/>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3" name="TextBox 112"/>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4" name="TextBox 113"/>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5" name="TextBox 114"/>
          <p:cNvSpPr txBox="1"/>
          <p:nvPr/>
        </p:nvSpPr>
        <p:spPr>
          <a:xfrm>
            <a:off x="800100" y="5905500"/>
            <a:ext cx="11391900" cy="190500"/>
          </a:xfrm>
          <a:prstGeom prst="rect">
            <a:avLst/>
          </a:prstGeom>
          <a:noFill/>
        </p:spPr>
        <p:txBody>
          <a:bodyPr wrap="none" lIns="0" rIns="0" tIns="0" bIns="0" anchor="t">
            <a:spAutoFit/>
          </a:bodyPr>
          <a:lstStyle/>
          <a:p>
            <a:pPr algn="l"/>
            <a:r>
              <a:rPr b="1" sz="1200" i="0" u="none">
                <a:solidFill>
                  <a:srgbClr val="172B4D"/>
                </a:solidFill>
                <a:latin typeface="Inter"/>
              </a:rPr>
              <a:t>Distinction:</a:t>
            </a:r>
            <a:r>
              <a:rPr b="1" sz="1200" i="0" u="none">
                <a:solidFill>
                  <a:srgbClr val="172B4D"/>
                </a:solidFill>
                <a:latin typeface="Inter"/>
              </a:rPr>
              <a:t> Version = Product Release Grouping. Sprint = Time-boxed Scrum Iteration.</a:t>
            </a:r>
          </a:p>
        </p:txBody>
      </p:sp>
      <p:sp>
        <p:nvSpPr>
          <p:cNvPr id="116" name="TextBox 115"/>
          <p:cNvSpPr txBox="1"/>
          <p:nvPr/>
        </p:nvSpPr>
        <p:spPr>
          <a:xfrm>
            <a:off x="703808" y="3295650"/>
            <a:ext cx="895350" cy="609600"/>
          </a:xfrm>
          <a:prstGeom prst="rect">
            <a:avLst/>
          </a:prstGeom>
          <a:noFill/>
        </p:spPr>
        <p:txBody>
          <a:bodyPr wrap="square" lIns="0" rIns="0" tIns="0" bIns="0" anchor="ctr">
            <a:spAutoFit/>
          </a:bodyPr>
          <a:lstStyle/>
          <a:p>
            <a:pPr algn="ctr"/>
            <a:r>
              <a:rPr b="1" sz="1800" i="0" u="none">
                <a:solidFill>
                  <a:srgbClr val="FFFFFF"/>
                </a:solidFill>
                <a:latin typeface="Inter"/>
              </a:rPr>
              <a:t>1</a:t>
            </a:r>
          </a:p>
        </p:txBody>
      </p:sp>
      <p:sp>
        <p:nvSpPr>
          <p:cNvPr id="117" name="TextBox 116"/>
          <p:cNvSpPr txBox="1"/>
          <p:nvPr/>
        </p:nvSpPr>
        <p:spPr>
          <a:xfrm>
            <a:off x="541883" y="4057650"/>
            <a:ext cx="1219200" cy="200025"/>
          </a:xfrm>
          <a:prstGeom prst="rect">
            <a:avLst/>
          </a:prstGeom>
          <a:noFill/>
        </p:spPr>
        <p:txBody>
          <a:bodyPr wrap="none" lIns="0" rIns="0" tIns="0" bIns="0" anchor="t">
            <a:spAutoFit/>
          </a:bodyPr>
          <a:lstStyle/>
          <a:p>
            <a:pPr algn="ctr"/>
            <a:r>
              <a:rPr b="1" sz="1350" i="0" u="none">
                <a:solidFill>
                  <a:srgbClr val="172B4D"/>
                </a:solidFill>
                <a:latin typeface="Inter"/>
              </a:rPr>
              <a:t>Foundation</a:t>
            </a:r>
          </a:p>
        </p:txBody>
      </p:sp>
      <p:sp>
        <p:nvSpPr>
          <p:cNvPr id="118" name="TextBox 117"/>
          <p:cNvSpPr txBox="1"/>
          <p:nvPr/>
        </p:nvSpPr>
        <p:spPr>
          <a:xfrm>
            <a:off x="3176141" y="3195637"/>
            <a:ext cx="895350" cy="609600"/>
          </a:xfrm>
          <a:prstGeom prst="rect">
            <a:avLst/>
          </a:prstGeom>
          <a:noFill/>
        </p:spPr>
        <p:txBody>
          <a:bodyPr wrap="square" lIns="0" rIns="0" tIns="0" bIns="0" anchor="ctr">
            <a:spAutoFit/>
          </a:bodyPr>
          <a:lstStyle/>
          <a:p>
            <a:pPr algn="ctr"/>
            <a:r>
              <a:rPr b="1" sz="1800" i="0" u="none">
                <a:solidFill>
                  <a:srgbClr val="FFFFFF"/>
                </a:solidFill>
                <a:latin typeface="Inter"/>
              </a:rPr>
              <a:t>2</a:t>
            </a:r>
          </a:p>
        </p:txBody>
      </p:sp>
      <p:sp>
        <p:nvSpPr>
          <p:cNvPr id="119" name="TextBox 118"/>
          <p:cNvSpPr txBox="1"/>
          <p:nvPr/>
        </p:nvSpPr>
        <p:spPr>
          <a:xfrm>
            <a:off x="2939057" y="3957637"/>
            <a:ext cx="1369516" cy="400050"/>
          </a:xfrm>
          <a:prstGeom prst="rect">
            <a:avLst/>
          </a:prstGeom>
          <a:noFill/>
        </p:spPr>
        <p:txBody>
          <a:bodyPr wrap="square" lIns="0" rIns="0" tIns="0" bIns="0" anchor="t">
            <a:spAutoFit/>
          </a:bodyPr>
          <a:lstStyle/>
          <a:p>
            <a:pPr algn="ctr"/>
            <a:r>
              <a:rPr b="1" sz="1350" i="0" u="none">
                <a:solidFill>
                  <a:srgbClr val="172B4D"/>
                </a:solidFill>
                <a:latin typeface="Inter"/>
              </a:rPr>
              <a:t>Mentorship &amp; Career</a:t>
            </a:r>
          </a:p>
        </p:txBody>
      </p:sp>
      <p:sp>
        <p:nvSpPr>
          <p:cNvPr id="120" name="TextBox 119"/>
          <p:cNvSpPr txBox="1"/>
          <p:nvPr/>
        </p:nvSpPr>
        <p:spPr>
          <a:xfrm>
            <a:off x="5648473" y="3295650"/>
            <a:ext cx="895350" cy="609600"/>
          </a:xfrm>
          <a:prstGeom prst="rect">
            <a:avLst/>
          </a:prstGeom>
          <a:noFill/>
        </p:spPr>
        <p:txBody>
          <a:bodyPr wrap="square" lIns="0" rIns="0" tIns="0" bIns="0" anchor="ctr">
            <a:spAutoFit/>
          </a:bodyPr>
          <a:lstStyle/>
          <a:p>
            <a:pPr algn="ctr"/>
            <a:r>
              <a:rPr b="1" sz="1800" i="0" u="none">
                <a:solidFill>
                  <a:srgbClr val="FFFFFF"/>
                </a:solidFill>
                <a:latin typeface="Inter"/>
              </a:rPr>
              <a:t>3</a:t>
            </a:r>
          </a:p>
        </p:txBody>
      </p:sp>
      <p:sp>
        <p:nvSpPr>
          <p:cNvPr id="121" name="TextBox 120"/>
          <p:cNvSpPr txBox="1"/>
          <p:nvPr/>
        </p:nvSpPr>
        <p:spPr>
          <a:xfrm>
            <a:off x="5553223" y="4057650"/>
            <a:ext cx="1085850" cy="200025"/>
          </a:xfrm>
          <a:prstGeom prst="rect">
            <a:avLst/>
          </a:prstGeom>
          <a:noFill/>
        </p:spPr>
        <p:txBody>
          <a:bodyPr wrap="none" lIns="0" rIns="0" tIns="0" bIns="0" anchor="t">
            <a:spAutoFit/>
          </a:bodyPr>
          <a:lstStyle/>
          <a:p>
            <a:pPr algn="ctr"/>
            <a:r>
              <a:rPr b="1" sz="1350" i="0" u="none">
                <a:solidFill>
                  <a:srgbClr val="172B4D"/>
                </a:solidFill>
                <a:latin typeface="Inter"/>
              </a:rPr>
              <a:t>DevPulse</a:t>
            </a:r>
          </a:p>
        </p:txBody>
      </p:sp>
      <p:sp>
        <p:nvSpPr>
          <p:cNvPr id="122" name="TextBox 121"/>
          <p:cNvSpPr txBox="1"/>
          <p:nvPr/>
        </p:nvSpPr>
        <p:spPr>
          <a:xfrm>
            <a:off x="8120806" y="3295650"/>
            <a:ext cx="895350" cy="609600"/>
          </a:xfrm>
          <a:prstGeom prst="rect">
            <a:avLst/>
          </a:prstGeom>
          <a:noFill/>
        </p:spPr>
        <p:txBody>
          <a:bodyPr wrap="square" lIns="0" rIns="0" tIns="0" bIns="0" anchor="ctr">
            <a:spAutoFit/>
          </a:bodyPr>
          <a:lstStyle/>
          <a:p>
            <a:pPr algn="ctr"/>
            <a:r>
              <a:rPr b="1" sz="1800" i="0" u="none">
                <a:solidFill>
                  <a:srgbClr val="FFFFFF"/>
                </a:solidFill>
                <a:latin typeface="Inter"/>
              </a:rPr>
              <a:t>4</a:t>
            </a:r>
          </a:p>
        </p:txBody>
      </p:sp>
      <p:sp>
        <p:nvSpPr>
          <p:cNvPr id="123" name="TextBox 122"/>
          <p:cNvSpPr txBox="1"/>
          <p:nvPr/>
        </p:nvSpPr>
        <p:spPr>
          <a:xfrm>
            <a:off x="7930306" y="4057650"/>
            <a:ext cx="1276350" cy="200025"/>
          </a:xfrm>
          <a:prstGeom prst="rect">
            <a:avLst/>
          </a:prstGeom>
          <a:noFill/>
        </p:spPr>
        <p:txBody>
          <a:bodyPr wrap="none" lIns="0" rIns="0" tIns="0" bIns="0" anchor="t">
            <a:spAutoFit/>
          </a:bodyPr>
          <a:lstStyle/>
          <a:p>
            <a:pPr algn="ctr"/>
            <a:r>
              <a:rPr b="1" sz="1350" i="0" u="none">
                <a:solidFill>
                  <a:srgbClr val="172B4D"/>
                </a:solidFill>
                <a:latin typeface="Inter"/>
              </a:rPr>
              <a:t>AI &amp; Comms</a:t>
            </a:r>
          </a:p>
        </p:txBody>
      </p:sp>
      <p:sp>
        <p:nvSpPr>
          <p:cNvPr id="124" name="TextBox 123"/>
          <p:cNvSpPr txBox="1"/>
          <p:nvPr/>
        </p:nvSpPr>
        <p:spPr>
          <a:xfrm>
            <a:off x="10593139" y="3195637"/>
            <a:ext cx="895350" cy="609600"/>
          </a:xfrm>
          <a:prstGeom prst="rect">
            <a:avLst/>
          </a:prstGeom>
          <a:noFill/>
        </p:spPr>
        <p:txBody>
          <a:bodyPr wrap="square" lIns="0" rIns="0" tIns="0" bIns="0" anchor="ctr">
            <a:spAutoFit/>
          </a:bodyPr>
          <a:lstStyle/>
          <a:p>
            <a:pPr algn="ctr"/>
            <a:r>
              <a:rPr b="1" sz="1800" i="0" u="none">
                <a:solidFill>
                  <a:srgbClr val="FFFFFF"/>
                </a:solidFill>
                <a:latin typeface="Inter"/>
              </a:rPr>
              <a:t>5</a:t>
            </a:r>
          </a:p>
        </p:txBody>
      </p:sp>
      <p:sp>
        <p:nvSpPr>
          <p:cNvPr id="125" name="TextBox 124"/>
          <p:cNvSpPr txBox="1"/>
          <p:nvPr/>
        </p:nvSpPr>
        <p:spPr>
          <a:xfrm>
            <a:off x="10356056" y="3957637"/>
            <a:ext cx="1369516" cy="400050"/>
          </a:xfrm>
          <a:prstGeom prst="rect">
            <a:avLst/>
          </a:prstGeom>
          <a:noFill/>
        </p:spPr>
        <p:txBody>
          <a:bodyPr wrap="square" lIns="0" rIns="0" tIns="0" bIns="0" anchor="t">
            <a:spAutoFit/>
          </a:bodyPr>
          <a:lstStyle/>
          <a:p>
            <a:pPr algn="ctr"/>
            <a:r>
              <a:rPr b="1" sz="1350" i="0" u="none">
                <a:solidFill>
                  <a:srgbClr val="172B4D"/>
                </a:solidFill>
                <a:latin typeface="Inter"/>
              </a:rPr>
              <a:t>Mobile &amp; Reliability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528887"/>
            <a:ext cx="5791200" cy="2762250"/>
          </a:xfrm>
          <a:prstGeom prst="roundRect">
            <a:avLst>
              <a:gd name="adj" fmla="val 2758"/>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9" name="TextBox 8"/>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Agile Estimation Baseline</a:t>
            </a:r>
          </a:p>
        </p:txBody>
      </p:sp>
      <p:sp>
        <p:nvSpPr>
          <p:cNvPr id="10" name="TextBox 9"/>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1" name="TextBox 10"/>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2" name="TextBox 11"/>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3" name="TextBox 12"/>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4" name="TextBox 13"/>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5" name="TextBox 14"/>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6" name="TextBox 15"/>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7" name="TextBox 16"/>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18" name="TextBox 17"/>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19" name="TextBox 18"/>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0" name="TextBox 19"/>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1" name="TextBox 20"/>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2" name="TextBox 21"/>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3" name="TextBox 22"/>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4" name="TextBox 23"/>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5" name="TextBox 24"/>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6" name="TextBox 25"/>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7" name="TextBox 26"/>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28" name="TextBox 27"/>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29" name="TextBox 28"/>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0" name="TextBox 29"/>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1" name="TextBox 30"/>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2" name="TextBox 31"/>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3" name="TextBox 32"/>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4" name="TextBox 33"/>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5" name="TextBox 34"/>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6" name="TextBox 35"/>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7" name="TextBox 36"/>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38" name="TextBox 37"/>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39" name="TextBox 38"/>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0" name="TextBox 39"/>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1" name="TextBox 40"/>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2" name="TextBox 41"/>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3" name="TextBox 42"/>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4" name="TextBox 43"/>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5" name="TextBox 44"/>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6" name="TextBox 45"/>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7" name="TextBox 46"/>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48" name="TextBox 47"/>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49" name="TextBox 48"/>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0" name="TextBox 49"/>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1" name="TextBox 50"/>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2" name="TextBox 51"/>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3" name="TextBox 52"/>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4" name="TextBox 53"/>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5" name="TextBox 54"/>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6" name="TextBox 55"/>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7" name="TextBox 56"/>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58" name="TextBox 57"/>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59" name="TextBox 58"/>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0" name="TextBox 59"/>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1" name="TextBox 60"/>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2" name="TextBox 61"/>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3" name="TextBox 62"/>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4" name="TextBox 63"/>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5" name="TextBox 64"/>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6" name="TextBox 65"/>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7" name="TextBox 66"/>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68" name="TextBox 67"/>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69" name="TextBox 68"/>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0" name="TextBox 69"/>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1" name="TextBox 70"/>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2" name="TextBox 71"/>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3" name="TextBox 72"/>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4" name="TextBox 73"/>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5" name="TextBox 74"/>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6" name="TextBox 75"/>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7" name="TextBox 76"/>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78" name="TextBox 77"/>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79" name="TextBox 78"/>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0" name="TextBox 79"/>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1" name="TextBox 80"/>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2" name="TextBox 81"/>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3" name="TextBox 82"/>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4" name="TextBox 83"/>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5" name="TextBox 84"/>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6" name="TextBox 85"/>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7" name="TextBox 86"/>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88" name="TextBox 87"/>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89" name="TextBox 88"/>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0" name="TextBox 89"/>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1" name="TextBox 90"/>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2" name="TextBox 91"/>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3" name="TextBox 92"/>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4" name="TextBox 93"/>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5" name="TextBox 94"/>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6" name="TextBox 95"/>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7" name="TextBox 96"/>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98" name="TextBox 97"/>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99" name="TextBox 98"/>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0" name="TextBox 99"/>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1" name="TextBox 100"/>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2" name="TextBox 101"/>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3" name="TextBox 102"/>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4" name="TextBox 103"/>
          <p:cNvSpPr txBox="1"/>
          <p:nvPr/>
        </p:nvSpPr>
        <p:spPr>
          <a:xfrm>
            <a:off x="2400300" y="2986087"/>
            <a:ext cx="2762250" cy="1143000"/>
          </a:xfrm>
          <a:prstGeom prst="rect">
            <a:avLst/>
          </a:prstGeom>
          <a:noFill/>
        </p:spPr>
        <p:txBody>
          <a:bodyPr wrap="none" lIns="0" rIns="0" tIns="0" bIns="0" anchor="t">
            <a:spAutoFit/>
          </a:bodyPr>
          <a:lstStyle/>
          <a:p>
            <a:pPr algn="l">
              <a:lnSpc>
                <a:spcPts val="9000"/>
              </a:lnSpc>
            </a:pPr>
            <a:r>
              <a:rPr b="1" sz="9000" i="0" u="none">
                <a:solidFill>
                  <a:srgbClr val="0052CC"/>
                </a:solidFill>
                <a:latin typeface="Inter"/>
              </a:rPr>
              <a:t>256</a:t>
            </a:r>
          </a:p>
        </p:txBody>
      </p:sp>
      <p:sp>
        <p:nvSpPr>
          <p:cNvPr id="105" name="TextBox 104"/>
          <p:cNvSpPr txBox="1"/>
          <p:nvPr/>
        </p:nvSpPr>
        <p:spPr>
          <a:xfrm>
            <a:off x="2238375" y="4281487"/>
            <a:ext cx="3167062" cy="276225"/>
          </a:xfrm>
          <a:prstGeom prst="rect">
            <a:avLst/>
          </a:prstGeom>
          <a:noFill/>
        </p:spPr>
        <p:txBody>
          <a:bodyPr wrap="none" lIns="0" rIns="0" tIns="0" bIns="0" anchor="t">
            <a:spAutoFit/>
          </a:bodyPr>
          <a:lstStyle/>
          <a:p>
            <a:pPr algn="l"/>
            <a:r>
              <a:rPr b="1" sz="1800" i="0" u="none">
                <a:solidFill>
                  <a:srgbClr val="172B4D"/>
                </a:solidFill>
                <a:latin typeface="Inter"/>
              </a:rPr>
              <a:t>Total Suggested Points</a:t>
            </a:r>
          </a:p>
        </p:txBody>
      </p:sp>
      <p:sp>
        <p:nvSpPr>
          <p:cNvPr id="106" name="TextBox 105"/>
          <p:cNvSpPr txBox="1"/>
          <p:nvPr/>
        </p:nvSpPr>
        <p:spPr>
          <a:xfrm>
            <a:off x="2557462" y="4633912"/>
            <a:ext cx="2369343" cy="200025"/>
          </a:xfrm>
          <a:prstGeom prst="rect">
            <a:avLst/>
          </a:prstGeom>
          <a:noFill/>
        </p:spPr>
        <p:txBody>
          <a:bodyPr wrap="none" lIns="0" rIns="0" tIns="0" bIns="0" anchor="t">
            <a:spAutoFit/>
          </a:bodyPr>
          <a:lstStyle/>
          <a:p>
            <a:pPr algn="l"/>
            <a:r>
              <a:rPr b="0" sz="1350" i="0" u="none">
                <a:solidFill>
                  <a:srgbClr val="5E6C84"/>
                </a:solidFill>
                <a:latin typeface="Inter"/>
              </a:rPr>
              <a:t>Across 53 User Stories</a:t>
            </a:r>
          </a:p>
        </p:txBody>
      </p:sp>
      <p:sp>
        <p:nvSpPr>
          <p:cNvPr id="107" name="TextBox 106"/>
          <p:cNvSpPr txBox="1"/>
          <p:nvPr/>
        </p:nvSpPr>
        <p:spPr>
          <a:xfrm>
            <a:off x="6705600" y="2305050"/>
            <a:ext cx="5486400" cy="276225"/>
          </a:xfrm>
          <a:prstGeom prst="rect">
            <a:avLst/>
          </a:prstGeom>
          <a:noFill/>
        </p:spPr>
        <p:txBody>
          <a:bodyPr wrap="none" lIns="0" rIns="0" tIns="0" bIns="0" anchor="t">
            <a:spAutoFit/>
          </a:bodyPr>
          <a:lstStyle/>
          <a:p>
            <a:pPr algn="l"/>
            <a:r>
              <a:rPr b="1" sz="1800" i="0" u="none">
                <a:solidFill>
                  <a:srgbClr val="172B4D"/>
                </a:solidFill>
                <a:latin typeface="Inter"/>
              </a:rPr>
              <a:t>Estimate Distribution:</a:t>
            </a:r>
          </a:p>
        </p:txBody>
      </p:sp>
      <p:sp>
        <p:nvSpPr>
          <p:cNvPr id="108" name="TextBox 107"/>
          <p:cNvSpPr txBox="1"/>
          <p:nvPr/>
        </p:nvSpPr>
        <p:spPr>
          <a:xfrm>
            <a:off x="6705600" y="5133975"/>
            <a:ext cx="4972050" cy="381000"/>
          </a:xfrm>
          <a:prstGeom prst="rect">
            <a:avLst/>
          </a:prstGeom>
          <a:noFill/>
        </p:spPr>
        <p:txBody>
          <a:bodyPr wrap="square" lIns="0" rIns="0" tIns="0" bIns="0" anchor="t">
            <a:spAutoFit/>
          </a:bodyPr>
          <a:lstStyle/>
          <a:p>
            <a:pPr algn="l"/>
            <a:r>
              <a:rPr b="1" sz="1200" i="0" u="none">
                <a:solidFill>
                  <a:srgbClr val="5E6C84"/>
                </a:solidFill>
                <a:latin typeface="Inter"/>
              </a:rPr>
              <a:t>Jira Constraint: Estimates documented in Story descriptions due to KAN project metadata limitations.</a:t>
            </a:r>
          </a:p>
        </p:txBody>
      </p:sp>
      <p:sp>
        <p:nvSpPr>
          <p:cNvPr id="109" name="TextBox 108"/>
          <p:cNvSpPr txBox="1"/>
          <p:nvPr/>
        </p:nvSpPr>
        <p:spPr>
          <a:xfrm>
            <a:off x="6705600" y="2809875"/>
            <a:ext cx="1028700" cy="228600"/>
          </a:xfrm>
          <a:prstGeom prst="rect">
            <a:avLst/>
          </a:prstGeom>
          <a:noFill/>
        </p:spPr>
        <p:txBody>
          <a:bodyPr wrap="none" lIns="0" rIns="0" tIns="0" bIns="0" anchor="t">
            <a:spAutoFit/>
          </a:bodyPr>
          <a:lstStyle/>
          <a:p>
            <a:pPr algn="l"/>
            <a:r>
              <a:rPr b="0" sz="1500" i="0" u="none">
                <a:solidFill>
                  <a:srgbClr val="172B4D"/>
                </a:solidFill>
                <a:latin typeface="Inter"/>
              </a:rPr>
              <a:t>5 Points</a:t>
            </a:r>
          </a:p>
        </p:txBody>
      </p:sp>
      <p:sp>
        <p:nvSpPr>
          <p:cNvPr id="110" name="TextBox 109"/>
          <p:cNvSpPr txBox="1"/>
          <p:nvPr/>
        </p:nvSpPr>
        <p:spPr>
          <a:xfrm>
            <a:off x="10639425" y="2809875"/>
            <a:ext cx="1228725" cy="228600"/>
          </a:xfrm>
          <a:prstGeom prst="rect">
            <a:avLst/>
          </a:prstGeom>
          <a:noFill/>
        </p:spPr>
        <p:txBody>
          <a:bodyPr wrap="none" lIns="0" rIns="0" tIns="0" bIns="0" anchor="t">
            <a:spAutoFit/>
          </a:bodyPr>
          <a:lstStyle/>
          <a:p>
            <a:pPr algn="l"/>
            <a:r>
              <a:rPr b="1" sz="1500" i="0" u="none">
                <a:solidFill>
                  <a:srgbClr val="172B4D"/>
                </a:solidFill>
                <a:latin typeface="Inter"/>
              </a:rPr>
              <a:t>29 Stories</a:t>
            </a:r>
          </a:p>
        </p:txBody>
      </p:sp>
      <p:sp>
        <p:nvSpPr>
          <p:cNvPr id="111" name="TextBox 110"/>
          <p:cNvSpPr txBox="1"/>
          <p:nvPr/>
        </p:nvSpPr>
        <p:spPr>
          <a:xfrm>
            <a:off x="6705600" y="3352800"/>
            <a:ext cx="1028700" cy="228600"/>
          </a:xfrm>
          <a:prstGeom prst="rect">
            <a:avLst/>
          </a:prstGeom>
          <a:noFill/>
        </p:spPr>
        <p:txBody>
          <a:bodyPr wrap="none" lIns="0" rIns="0" tIns="0" bIns="0" anchor="t">
            <a:spAutoFit/>
          </a:bodyPr>
          <a:lstStyle/>
          <a:p>
            <a:pPr algn="l"/>
            <a:r>
              <a:rPr b="0" sz="1500" i="0" u="none">
                <a:solidFill>
                  <a:srgbClr val="172B4D"/>
                </a:solidFill>
                <a:latin typeface="Inter"/>
              </a:rPr>
              <a:t>3 Points</a:t>
            </a:r>
          </a:p>
        </p:txBody>
      </p:sp>
      <p:sp>
        <p:nvSpPr>
          <p:cNvPr id="112" name="TextBox 111"/>
          <p:cNvSpPr txBox="1"/>
          <p:nvPr/>
        </p:nvSpPr>
        <p:spPr>
          <a:xfrm>
            <a:off x="10687050" y="3352800"/>
            <a:ext cx="1181100" cy="228600"/>
          </a:xfrm>
          <a:prstGeom prst="rect">
            <a:avLst/>
          </a:prstGeom>
          <a:noFill/>
        </p:spPr>
        <p:txBody>
          <a:bodyPr wrap="none" lIns="0" rIns="0" tIns="0" bIns="0" anchor="t">
            <a:spAutoFit/>
          </a:bodyPr>
          <a:lstStyle/>
          <a:p>
            <a:pPr algn="l"/>
            <a:r>
              <a:rPr b="1" sz="1500" i="0" u="none">
                <a:solidFill>
                  <a:srgbClr val="172B4D"/>
                </a:solidFill>
                <a:latin typeface="Inter"/>
              </a:rPr>
              <a:t>15 Stories</a:t>
            </a:r>
          </a:p>
        </p:txBody>
      </p:sp>
      <p:sp>
        <p:nvSpPr>
          <p:cNvPr id="113" name="TextBox 112"/>
          <p:cNvSpPr txBox="1"/>
          <p:nvPr/>
        </p:nvSpPr>
        <p:spPr>
          <a:xfrm>
            <a:off x="6705600" y="3895725"/>
            <a:ext cx="1028700" cy="228600"/>
          </a:xfrm>
          <a:prstGeom prst="rect">
            <a:avLst/>
          </a:prstGeom>
          <a:noFill/>
        </p:spPr>
        <p:txBody>
          <a:bodyPr wrap="none" lIns="0" rIns="0" tIns="0" bIns="0" anchor="t">
            <a:spAutoFit/>
          </a:bodyPr>
          <a:lstStyle/>
          <a:p>
            <a:pPr algn="l"/>
            <a:r>
              <a:rPr b="0" sz="1500" i="0" u="none">
                <a:solidFill>
                  <a:srgbClr val="172B4D"/>
                </a:solidFill>
                <a:latin typeface="Inter"/>
              </a:rPr>
              <a:t>8 Points</a:t>
            </a:r>
          </a:p>
        </p:txBody>
      </p:sp>
      <p:sp>
        <p:nvSpPr>
          <p:cNvPr id="114" name="TextBox 113"/>
          <p:cNvSpPr txBox="1"/>
          <p:nvPr/>
        </p:nvSpPr>
        <p:spPr>
          <a:xfrm>
            <a:off x="10763250" y="3895725"/>
            <a:ext cx="1104900" cy="228600"/>
          </a:xfrm>
          <a:prstGeom prst="rect">
            <a:avLst/>
          </a:prstGeom>
          <a:noFill/>
        </p:spPr>
        <p:txBody>
          <a:bodyPr wrap="none" lIns="0" rIns="0" tIns="0" bIns="0" anchor="t">
            <a:spAutoFit/>
          </a:bodyPr>
          <a:lstStyle/>
          <a:p>
            <a:pPr algn="l"/>
            <a:r>
              <a:rPr b="1" sz="1500" i="0" u="none">
                <a:solidFill>
                  <a:srgbClr val="172B4D"/>
                </a:solidFill>
                <a:latin typeface="Inter"/>
              </a:rPr>
              <a:t>8 Stories</a:t>
            </a:r>
          </a:p>
        </p:txBody>
      </p:sp>
      <p:sp>
        <p:nvSpPr>
          <p:cNvPr id="115" name="TextBox 114"/>
          <p:cNvSpPr txBox="1"/>
          <p:nvPr/>
        </p:nvSpPr>
        <p:spPr>
          <a:xfrm>
            <a:off x="6705600" y="4438650"/>
            <a:ext cx="1028700" cy="228600"/>
          </a:xfrm>
          <a:prstGeom prst="rect">
            <a:avLst/>
          </a:prstGeom>
          <a:noFill/>
        </p:spPr>
        <p:txBody>
          <a:bodyPr wrap="none" lIns="0" rIns="0" tIns="0" bIns="0" anchor="t">
            <a:spAutoFit/>
          </a:bodyPr>
          <a:lstStyle/>
          <a:p>
            <a:pPr algn="l"/>
            <a:r>
              <a:rPr b="0" sz="1500" i="0" u="none">
                <a:solidFill>
                  <a:srgbClr val="172B4D"/>
                </a:solidFill>
                <a:latin typeface="Inter"/>
              </a:rPr>
              <a:t>2 Points</a:t>
            </a:r>
          </a:p>
        </p:txBody>
      </p:sp>
      <p:sp>
        <p:nvSpPr>
          <p:cNvPr id="116" name="TextBox 115"/>
          <p:cNvSpPr txBox="1"/>
          <p:nvPr/>
        </p:nvSpPr>
        <p:spPr>
          <a:xfrm>
            <a:off x="10953750" y="4438650"/>
            <a:ext cx="914400" cy="228600"/>
          </a:xfrm>
          <a:prstGeom prst="rect">
            <a:avLst/>
          </a:prstGeom>
          <a:noFill/>
        </p:spPr>
        <p:txBody>
          <a:bodyPr wrap="none" lIns="0" rIns="0" tIns="0" bIns="0" anchor="t">
            <a:spAutoFit/>
          </a:bodyPr>
          <a:lstStyle/>
          <a:p>
            <a:pPr algn="l"/>
            <a:r>
              <a:rPr b="1" sz="1500" i="0" u="none">
                <a:solidFill>
                  <a:srgbClr val="172B4D"/>
                </a:solidFill>
                <a:latin typeface="Inter"/>
              </a:rPr>
              <a:t>1 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257425"/>
            <a:ext cx="3454449" cy="914400"/>
          </a:xfrm>
          <a:prstGeom prst="roundRect">
            <a:avLst>
              <a:gd name="adj" fmla="val 416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84312" y="3324225"/>
            <a:ext cx="904875" cy="238125"/>
          </a:xfrm>
          <a:prstGeom prst="roundRect">
            <a:avLst>
              <a:gd name="adj" fmla="val 50000"/>
            </a:avLst>
          </a:prstGeom>
          <a:solidFill>
            <a:srgbClr val="FF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3714750"/>
            <a:ext cx="3454449" cy="914400"/>
          </a:xfrm>
          <a:prstGeom prst="roundRect">
            <a:avLst>
              <a:gd name="adj" fmla="val 416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8849" y="2257425"/>
            <a:ext cx="3454449" cy="914400"/>
          </a:xfrm>
          <a:prstGeom prst="roundRect">
            <a:avLst>
              <a:gd name="adj" fmla="val 416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43562" y="3324225"/>
            <a:ext cx="904875" cy="238125"/>
          </a:xfrm>
          <a:prstGeom prst="roundRect">
            <a:avLst>
              <a:gd name="adj" fmla="val 50000"/>
            </a:avLst>
          </a:prstGeom>
          <a:solidFill>
            <a:srgbClr val="FF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68849" y="3714750"/>
            <a:ext cx="3454449" cy="914400"/>
          </a:xfrm>
          <a:prstGeom prst="roundRect">
            <a:avLst>
              <a:gd name="adj" fmla="val 416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28099" y="2257425"/>
            <a:ext cx="3454449" cy="914400"/>
          </a:xfrm>
          <a:prstGeom prst="roundRect">
            <a:avLst>
              <a:gd name="adj" fmla="val 416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02812" y="3324225"/>
            <a:ext cx="904875" cy="238125"/>
          </a:xfrm>
          <a:prstGeom prst="roundRect">
            <a:avLst>
              <a:gd name="adj" fmla="val 50000"/>
            </a:avLst>
          </a:prstGeom>
          <a:solidFill>
            <a:srgbClr val="FF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28099" y="3714750"/>
            <a:ext cx="3454449" cy="914400"/>
          </a:xfrm>
          <a:prstGeom prst="roundRect">
            <a:avLst>
              <a:gd name="adj" fmla="val 4166"/>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2570112" y="3381375"/>
            <a:ext cx="104775" cy="133350"/>
          </a:xfrm>
          <a:prstGeom prst="rect">
            <a:avLst/>
          </a:prstGeom>
        </p:spPr>
      </p:pic>
      <p:pic>
        <p:nvPicPr>
          <p:cNvPr id="17" name="Picture 16" descr="image.png"/>
          <p:cNvPicPr>
            <a:picLocks noChangeAspect="1"/>
          </p:cNvPicPr>
          <p:nvPr/>
        </p:nvPicPr>
        <p:blipFill>
          <a:blip r:embed="rId2"/>
          <a:stretch>
            <a:fillRect/>
          </a:stretch>
        </p:blipFill>
        <p:spPr>
          <a:xfrm>
            <a:off x="6329362" y="3381375"/>
            <a:ext cx="104775" cy="133350"/>
          </a:xfrm>
          <a:prstGeom prst="rect">
            <a:avLst/>
          </a:prstGeom>
        </p:spPr>
      </p:pic>
      <p:pic>
        <p:nvPicPr>
          <p:cNvPr id="18" name="Picture 17" descr="image.png"/>
          <p:cNvPicPr>
            <a:picLocks noChangeAspect="1"/>
          </p:cNvPicPr>
          <p:nvPr/>
        </p:nvPicPr>
        <p:blipFill>
          <a:blip r:embed="rId3"/>
          <a:stretch>
            <a:fillRect/>
          </a:stretch>
        </p:blipFill>
        <p:spPr>
          <a:xfrm>
            <a:off x="10088612" y="3381375"/>
            <a:ext cx="104775" cy="133350"/>
          </a:xfrm>
          <a:prstGeom prst="rect">
            <a:avLst/>
          </a:prstGeom>
        </p:spPr>
      </p:pic>
      <p:graphicFrame>
        <p:nvGraphicFramePr>
          <p:cNvPr id="19" name="Table 18"/>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20" name="TextBox 19"/>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Dependency Management</a:t>
            </a:r>
          </a:p>
        </p:txBody>
      </p:sp>
      <p:sp>
        <p:nvSpPr>
          <p:cNvPr id="21" name="TextBox 20"/>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8 "Blocks" relationships documented to expose sequencing risks.</a:t>
            </a:r>
          </a:p>
        </p:txBody>
      </p:sp>
      <p:sp>
        <p:nvSpPr>
          <p:cNvPr id="22" name="TextBox 21"/>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3" name="TextBox 22"/>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4" name="TextBox 23"/>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5" name="TextBox 24"/>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6" name="TextBox 25"/>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7" name="TextBox 26"/>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8" name="TextBox 27"/>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9" name="TextBox 28"/>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30" name="TextBox 29"/>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31" name="TextBox 30"/>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2" name="TextBox 31"/>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3" name="TextBox 32"/>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4" name="TextBox 33"/>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5" name="TextBox 34"/>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6" name="TextBox 35"/>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7" name="TextBox 36"/>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8" name="TextBox 37"/>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9" name="TextBox 38"/>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40" name="TextBox 39"/>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41" name="TextBox 40"/>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2" name="TextBox 41"/>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3" name="TextBox 42"/>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4" name="TextBox 43"/>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5" name="TextBox 44"/>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6" name="TextBox 45"/>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7" name="TextBox 46"/>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8" name="TextBox 47"/>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9" name="TextBox 48"/>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50" name="TextBox 49"/>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51" name="TextBox 50"/>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2" name="TextBox 51"/>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3" name="TextBox 52"/>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4" name="TextBox 53"/>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5" name="TextBox 54"/>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6" name="TextBox 55"/>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7" name="TextBox 56"/>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8" name="TextBox 57"/>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9" name="TextBox 58"/>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60" name="TextBox 59"/>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61" name="TextBox 60"/>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2" name="TextBox 61"/>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3" name="TextBox 62"/>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4" name="TextBox 63"/>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5" name="TextBox 64"/>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6" name="TextBox 65"/>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7" name="TextBox 66"/>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8" name="TextBox 67"/>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9" name="TextBox 68"/>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70" name="TextBox 69"/>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71" name="TextBox 70"/>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2" name="TextBox 71"/>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3" name="TextBox 72"/>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4" name="TextBox 73"/>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5" name="TextBox 74"/>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6" name="TextBox 75"/>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7" name="TextBox 76"/>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8" name="TextBox 77"/>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9" name="TextBox 78"/>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80" name="TextBox 79"/>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81" name="TextBox 80"/>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2" name="TextBox 81"/>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3" name="TextBox 82"/>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4" name="TextBox 83"/>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5" name="TextBox 84"/>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6" name="TextBox 85"/>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7" name="TextBox 86"/>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8" name="TextBox 87"/>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9" name="TextBox 88"/>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90" name="TextBox 89"/>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91" name="TextBox 90"/>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2" name="TextBox 91"/>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3" name="TextBox 92"/>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4" name="TextBox 93"/>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5" name="TextBox 94"/>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6" name="TextBox 95"/>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7" name="TextBox 96"/>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8" name="TextBox 97"/>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9" name="TextBox 98"/>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100" name="TextBox 99"/>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101" name="TextBox 100"/>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2" name="TextBox 101"/>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3" name="TextBox 102"/>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4" name="TextBox 103"/>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5" name="TextBox 104"/>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6" name="TextBox 105"/>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7" name="TextBox 106"/>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8" name="TextBox 107"/>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9" name="TextBox 108"/>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10" name="TextBox 109"/>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11" name="TextBox 110"/>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2" name="TextBox 111"/>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3" name="TextBox 112"/>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4" name="TextBox 113"/>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5" name="TextBox 114"/>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6" name="TextBox 115"/>
          <p:cNvSpPr txBox="1"/>
          <p:nvPr/>
        </p:nvSpPr>
        <p:spPr>
          <a:xfrm>
            <a:off x="1998612" y="3362325"/>
            <a:ext cx="771525" cy="161925"/>
          </a:xfrm>
          <a:prstGeom prst="rect">
            <a:avLst/>
          </a:prstGeom>
          <a:noFill/>
        </p:spPr>
        <p:txBody>
          <a:bodyPr wrap="square" lIns="0" rIns="0" tIns="0" bIns="0" anchor="t">
            <a:spAutoFit/>
          </a:bodyPr>
          <a:lstStyle/>
          <a:p>
            <a:pPr algn="l"/>
            <a:r>
              <a:rPr b="1" sz="1050" i="0" u="none">
                <a:solidFill>
                  <a:srgbClr val="0F172A"/>
                </a:solidFill>
                <a:latin typeface="Inter"/>
              </a:rPr>
              <a:t>BLOCKS</a:t>
            </a:r>
          </a:p>
        </p:txBody>
      </p:sp>
      <p:sp>
        <p:nvSpPr>
          <p:cNvPr id="117" name="TextBox 116"/>
          <p:cNvSpPr txBox="1"/>
          <p:nvPr/>
        </p:nvSpPr>
        <p:spPr>
          <a:xfrm>
            <a:off x="5757862" y="3362325"/>
            <a:ext cx="771525" cy="161925"/>
          </a:xfrm>
          <a:prstGeom prst="rect">
            <a:avLst/>
          </a:prstGeom>
          <a:noFill/>
        </p:spPr>
        <p:txBody>
          <a:bodyPr wrap="square" lIns="0" rIns="0" tIns="0" bIns="0" anchor="t">
            <a:spAutoFit/>
          </a:bodyPr>
          <a:lstStyle/>
          <a:p>
            <a:pPr algn="l"/>
            <a:r>
              <a:rPr b="1" sz="1050" i="0" u="none">
                <a:solidFill>
                  <a:srgbClr val="0F172A"/>
                </a:solidFill>
                <a:latin typeface="Inter"/>
              </a:rPr>
              <a:t>BLOCKS</a:t>
            </a:r>
          </a:p>
        </p:txBody>
      </p:sp>
      <p:sp>
        <p:nvSpPr>
          <p:cNvPr id="118" name="TextBox 117"/>
          <p:cNvSpPr txBox="1"/>
          <p:nvPr/>
        </p:nvSpPr>
        <p:spPr>
          <a:xfrm>
            <a:off x="9517112" y="3362325"/>
            <a:ext cx="771525" cy="161925"/>
          </a:xfrm>
          <a:prstGeom prst="rect">
            <a:avLst/>
          </a:prstGeom>
          <a:noFill/>
        </p:spPr>
        <p:txBody>
          <a:bodyPr wrap="square" lIns="0" rIns="0" tIns="0" bIns="0" anchor="t">
            <a:spAutoFit/>
          </a:bodyPr>
          <a:lstStyle/>
          <a:p>
            <a:pPr algn="l"/>
            <a:r>
              <a:rPr b="1" sz="1050" i="0" u="none">
                <a:solidFill>
                  <a:srgbClr val="0F172A"/>
                </a:solidFill>
                <a:latin typeface="Inter"/>
              </a:rPr>
              <a:t>BLOCKS</a:t>
            </a:r>
          </a:p>
        </p:txBody>
      </p:sp>
      <p:sp>
        <p:nvSpPr>
          <p:cNvPr id="119" name="TextBox 118"/>
          <p:cNvSpPr txBox="1"/>
          <p:nvPr/>
        </p:nvSpPr>
        <p:spPr>
          <a:xfrm>
            <a:off x="463543" y="2486025"/>
            <a:ext cx="3746562" cy="190500"/>
          </a:xfrm>
          <a:prstGeom prst="rect">
            <a:avLst/>
          </a:prstGeom>
          <a:noFill/>
        </p:spPr>
        <p:txBody>
          <a:bodyPr wrap="none" lIns="0" rIns="0" tIns="0" bIns="0" anchor="t">
            <a:spAutoFit/>
          </a:bodyPr>
          <a:lstStyle/>
          <a:p>
            <a:pPr algn="ctr"/>
            <a:r>
              <a:rPr b="1" sz="1200" i="0" u="none">
                <a:solidFill>
                  <a:srgbClr val="5E6C84"/>
                </a:solidFill>
                <a:latin typeface="Inter"/>
              </a:rPr>
              <a:t>KAN-33</a:t>
            </a:r>
          </a:p>
        </p:txBody>
      </p:sp>
      <p:sp>
        <p:nvSpPr>
          <p:cNvPr id="120" name="TextBox 119"/>
          <p:cNvSpPr txBox="1"/>
          <p:nvPr/>
        </p:nvSpPr>
        <p:spPr>
          <a:xfrm>
            <a:off x="463543" y="2714625"/>
            <a:ext cx="3746562" cy="228600"/>
          </a:xfrm>
          <a:prstGeom prst="rect">
            <a:avLst/>
          </a:prstGeom>
          <a:noFill/>
        </p:spPr>
        <p:txBody>
          <a:bodyPr wrap="none" lIns="0" rIns="0" tIns="0" bIns="0" anchor="t">
            <a:spAutoFit/>
          </a:bodyPr>
          <a:lstStyle/>
          <a:p>
            <a:pPr algn="ctr"/>
            <a:r>
              <a:rPr b="1" sz="1500" i="0" u="none">
                <a:solidFill>
                  <a:srgbClr val="172B4D"/>
                </a:solidFill>
                <a:latin typeface="Inter"/>
              </a:rPr>
              <a:t>AI Career Mentor</a:t>
            </a:r>
          </a:p>
        </p:txBody>
      </p:sp>
      <p:sp>
        <p:nvSpPr>
          <p:cNvPr id="121" name="TextBox 120"/>
          <p:cNvSpPr txBox="1"/>
          <p:nvPr/>
        </p:nvSpPr>
        <p:spPr>
          <a:xfrm>
            <a:off x="463543" y="3943350"/>
            <a:ext cx="3746562" cy="190500"/>
          </a:xfrm>
          <a:prstGeom prst="rect">
            <a:avLst/>
          </a:prstGeom>
          <a:noFill/>
        </p:spPr>
        <p:txBody>
          <a:bodyPr wrap="none" lIns="0" rIns="0" tIns="0" bIns="0" anchor="t">
            <a:spAutoFit/>
          </a:bodyPr>
          <a:lstStyle/>
          <a:p>
            <a:pPr algn="ctr"/>
            <a:r>
              <a:rPr b="1" sz="1200" i="0" u="none">
                <a:solidFill>
                  <a:srgbClr val="5E6C84"/>
                </a:solidFill>
                <a:latin typeface="Inter"/>
              </a:rPr>
              <a:t>KAN-36</a:t>
            </a:r>
          </a:p>
        </p:txBody>
      </p:sp>
      <p:sp>
        <p:nvSpPr>
          <p:cNvPr id="122" name="TextBox 121"/>
          <p:cNvSpPr txBox="1"/>
          <p:nvPr/>
        </p:nvSpPr>
        <p:spPr>
          <a:xfrm>
            <a:off x="463543" y="4171950"/>
            <a:ext cx="3746562" cy="228600"/>
          </a:xfrm>
          <a:prstGeom prst="rect">
            <a:avLst/>
          </a:prstGeom>
          <a:noFill/>
        </p:spPr>
        <p:txBody>
          <a:bodyPr wrap="none" lIns="0" rIns="0" tIns="0" bIns="0" anchor="t">
            <a:spAutoFit/>
          </a:bodyPr>
          <a:lstStyle/>
          <a:p>
            <a:pPr algn="ctr"/>
            <a:r>
              <a:rPr b="1" sz="1500" i="0" u="none">
                <a:solidFill>
                  <a:srgbClr val="172B4D"/>
                </a:solidFill>
                <a:latin typeface="Inter"/>
              </a:rPr>
              <a:t>AI Provider Failover</a:t>
            </a:r>
          </a:p>
        </p:txBody>
      </p:sp>
      <p:sp>
        <p:nvSpPr>
          <p:cNvPr id="123" name="TextBox 122"/>
          <p:cNvSpPr txBox="1"/>
          <p:nvPr/>
        </p:nvSpPr>
        <p:spPr>
          <a:xfrm>
            <a:off x="4222793" y="2486025"/>
            <a:ext cx="3746562" cy="190500"/>
          </a:xfrm>
          <a:prstGeom prst="rect">
            <a:avLst/>
          </a:prstGeom>
          <a:noFill/>
        </p:spPr>
        <p:txBody>
          <a:bodyPr wrap="none" lIns="0" rIns="0" tIns="0" bIns="0" anchor="t">
            <a:spAutoFit/>
          </a:bodyPr>
          <a:lstStyle/>
          <a:p>
            <a:pPr algn="ctr"/>
            <a:r>
              <a:rPr b="1" sz="1200" i="0" u="none">
                <a:solidFill>
                  <a:srgbClr val="5E6C84"/>
                </a:solidFill>
                <a:latin typeface="Inter"/>
              </a:rPr>
              <a:t>KAN-45</a:t>
            </a:r>
          </a:p>
        </p:txBody>
      </p:sp>
      <p:sp>
        <p:nvSpPr>
          <p:cNvPr id="124" name="TextBox 123"/>
          <p:cNvSpPr txBox="1"/>
          <p:nvPr/>
        </p:nvSpPr>
        <p:spPr>
          <a:xfrm>
            <a:off x="4222793" y="2714625"/>
            <a:ext cx="3746562" cy="228600"/>
          </a:xfrm>
          <a:prstGeom prst="rect">
            <a:avLst/>
          </a:prstGeom>
          <a:noFill/>
        </p:spPr>
        <p:txBody>
          <a:bodyPr wrap="none" lIns="0" rIns="0" tIns="0" bIns="0" anchor="t">
            <a:spAutoFit/>
          </a:bodyPr>
          <a:lstStyle/>
          <a:p>
            <a:pPr algn="ctr"/>
            <a:r>
              <a:rPr b="1" sz="1500" i="0" u="none">
                <a:solidFill>
                  <a:srgbClr val="172B4D"/>
                </a:solidFill>
                <a:latin typeface="Inter"/>
              </a:rPr>
              <a:t>Android Wrapper</a:t>
            </a:r>
          </a:p>
        </p:txBody>
      </p:sp>
      <p:sp>
        <p:nvSpPr>
          <p:cNvPr id="125" name="TextBox 124"/>
          <p:cNvSpPr txBox="1"/>
          <p:nvPr/>
        </p:nvSpPr>
        <p:spPr>
          <a:xfrm>
            <a:off x="4222793" y="3943350"/>
            <a:ext cx="3746562" cy="190500"/>
          </a:xfrm>
          <a:prstGeom prst="rect">
            <a:avLst/>
          </a:prstGeom>
          <a:noFill/>
        </p:spPr>
        <p:txBody>
          <a:bodyPr wrap="none" lIns="0" rIns="0" tIns="0" bIns="0" anchor="t">
            <a:spAutoFit/>
          </a:bodyPr>
          <a:lstStyle/>
          <a:p>
            <a:pPr algn="ctr"/>
            <a:r>
              <a:rPr b="1" sz="1200" i="0" u="none">
                <a:solidFill>
                  <a:srgbClr val="5E6C84"/>
                </a:solidFill>
                <a:latin typeface="Inter"/>
              </a:rPr>
              <a:t>KAN-46</a:t>
            </a:r>
          </a:p>
        </p:txBody>
      </p:sp>
      <p:sp>
        <p:nvSpPr>
          <p:cNvPr id="126" name="TextBox 125"/>
          <p:cNvSpPr txBox="1"/>
          <p:nvPr/>
        </p:nvSpPr>
        <p:spPr>
          <a:xfrm>
            <a:off x="4222793" y="4171950"/>
            <a:ext cx="3746562" cy="228600"/>
          </a:xfrm>
          <a:prstGeom prst="rect">
            <a:avLst/>
          </a:prstGeom>
          <a:noFill/>
        </p:spPr>
        <p:txBody>
          <a:bodyPr wrap="none" lIns="0" rIns="0" tIns="0" bIns="0" anchor="t">
            <a:spAutoFit/>
          </a:bodyPr>
          <a:lstStyle/>
          <a:p>
            <a:pPr algn="ctr"/>
            <a:r>
              <a:rPr b="1" sz="1500" i="0" u="none">
                <a:solidFill>
                  <a:srgbClr val="172B4D"/>
                </a:solidFill>
                <a:latin typeface="Inter"/>
              </a:rPr>
              <a:t>Mobile Authentication</a:t>
            </a:r>
          </a:p>
        </p:txBody>
      </p:sp>
      <p:sp>
        <p:nvSpPr>
          <p:cNvPr id="127" name="TextBox 126"/>
          <p:cNvSpPr txBox="1"/>
          <p:nvPr/>
        </p:nvSpPr>
        <p:spPr>
          <a:xfrm>
            <a:off x="7982043" y="2486025"/>
            <a:ext cx="3746562" cy="190500"/>
          </a:xfrm>
          <a:prstGeom prst="rect">
            <a:avLst/>
          </a:prstGeom>
          <a:noFill/>
        </p:spPr>
        <p:txBody>
          <a:bodyPr wrap="none" lIns="0" rIns="0" tIns="0" bIns="0" anchor="t">
            <a:spAutoFit/>
          </a:bodyPr>
          <a:lstStyle/>
          <a:p>
            <a:pPr algn="ctr"/>
            <a:r>
              <a:rPr b="1" sz="1200" i="0" u="none">
                <a:solidFill>
                  <a:srgbClr val="5E6C84"/>
                </a:solidFill>
                <a:latin typeface="Inter"/>
              </a:rPr>
              <a:t>KAN-48</a:t>
            </a:r>
          </a:p>
        </p:txBody>
      </p:sp>
      <p:sp>
        <p:nvSpPr>
          <p:cNvPr id="128" name="TextBox 127"/>
          <p:cNvSpPr txBox="1"/>
          <p:nvPr/>
        </p:nvSpPr>
        <p:spPr>
          <a:xfrm>
            <a:off x="7982043" y="2714625"/>
            <a:ext cx="3746562" cy="228600"/>
          </a:xfrm>
          <a:prstGeom prst="rect">
            <a:avLst/>
          </a:prstGeom>
          <a:noFill/>
        </p:spPr>
        <p:txBody>
          <a:bodyPr wrap="none" lIns="0" rIns="0" tIns="0" bIns="0" anchor="t">
            <a:spAutoFit/>
          </a:bodyPr>
          <a:lstStyle/>
          <a:p>
            <a:pPr algn="ctr"/>
            <a:r>
              <a:rPr b="1" sz="1500" i="0" u="none">
                <a:solidFill>
                  <a:srgbClr val="172B4D"/>
                </a:solidFill>
                <a:latin typeface="Inter"/>
              </a:rPr>
              <a:t>Mobile Notifications</a:t>
            </a:r>
          </a:p>
        </p:txBody>
      </p:sp>
      <p:sp>
        <p:nvSpPr>
          <p:cNvPr id="129" name="TextBox 128"/>
          <p:cNvSpPr txBox="1"/>
          <p:nvPr/>
        </p:nvSpPr>
        <p:spPr>
          <a:xfrm>
            <a:off x="7982043" y="3943350"/>
            <a:ext cx="3746562" cy="190500"/>
          </a:xfrm>
          <a:prstGeom prst="rect">
            <a:avLst/>
          </a:prstGeom>
          <a:noFill/>
        </p:spPr>
        <p:txBody>
          <a:bodyPr wrap="none" lIns="0" rIns="0" tIns="0" bIns="0" anchor="t">
            <a:spAutoFit/>
          </a:bodyPr>
          <a:lstStyle/>
          <a:p>
            <a:pPr algn="ctr"/>
            <a:r>
              <a:rPr b="1" sz="1200" i="0" u="none">
                <a:solidFill>
                  <a:srgbClr val="5E6C84"/>
                </a:solidFill>
                <a:latin typeface="Inter"/>
              </a:rPr>
              <a:t>KAN-66</a:t>
            </a:r>
          </a:p>
        </p:txBody>
      </p:sp>
      <p:sp>
        <p:nvSpPr>
          <p:cNvPr id="130" name="TextBox 129"/>
          <p:cNvSpPr txBox="1"/>
          <p:nvPr/>
        </p:nvSpPr>
        <p:spPr>
          <a:xfrm>
            <a:off x="7982043" y="4171950"/>
            <a:ext cx="3746562" cy="228600"/>
          </a:xfrm>
          <a:prstGeom prst="rect">
            <a:avLst/>
          </a:prstGeom>
          <a:noFill/>
        </p:spPr>
        <p:txBody>
          <a:bodyPr wrap="none" lIns="0" rIns="0" tIns="0" bIns="0" anchor="t">
            <a:spAutoFit/>
          </a:bodyPr>
          <a:lstStyle/>
          <a:p>
            <a:pPr algn="ctr"/>
            <a:r>
              <a:rPr b="1" sz="1500" i="0" u="none">
                <a:solidFill>
                  <a:srgbClr val="172B4D"/>
                </a:solidFill>
                <a:latin typeface="Inter"/>
              </a:rPr>
              <a:t>FCM Delivery Failure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09600" y="2028825"/>
          <a:ext cx="10972798" cy="4219575"/>
        </p:xfrm>
        <a:graphic>
          <a:graphicData uri="http://schemas.openxmlformats.org/drawingml/2006/table">
            <a:tbl>
              <a:tblPr firstRow="0" bandRow="0">
                <a:lnL>
                  <a:noFill/>
                </a:lnL>
                <a:lnR>
                  <a:noFill/>
                </a:lnR>
                <a:lnT>
                  <a:noFill/>
                </a:lnT>
                <a:lnB>
                  <a:noFill/>
                </a:lnB>
                <a:lnV>
                  <a:noFill/>
                </a:lnV>
                <a:lnH>
                  <a:noFill/>
                </a:lnH>
              </a:tblPr>
              <a:tblGrid>
                <a:gridCol w="1511349"/>
                <a:gridCol w="3415307"/>
                <a:gridCol w="6046142"/>
              </a:tblGrid>
              <a:tr h="703262">
                <a:tc>
                  <a:txBody>
                    <a:bodyPr/>
                    <a:lstStyle/>
                    <a:p>
                      <a:pPr algn="l"/>
                      <a:r>
                        <a:rPr b="1" sz="1350" i="0" u="none">
                          <a:solidFill>
                            <a:srgbClr val="172B4D"/>
                          </a:solidFill>
                          <a:latin typeface="Inter"/>
                        </a:rPr>
                        <a:t>Bug ID</a:t>
                      </a:r>
                    </a:p>
                  </a:txBody>
                  <a:tcPr anchor="ctr" marL="63500" marR="63500" marT="25400" marB="25400">
                    <a:lnL>
                      <a:noFill/>
                    </a:lnL>
                    <a:lnR>
                      <a:noFill/>
                    </a:lnR>
                    <a:lnT>
                      <a:noFill/>
                    </a:lnT>
                    <a:lnB>
                      <a:noFill/>
                    </a:lnB>
                    <a:solidFill>
                      <a:srgbClr val="F4F5F7"/>
                    </a:solidFill>
                  </a:tcPr>
                </a:tc>
                <a:tc>
                  <a:txBody>
                    <a:bodyPr/>
                    <a:lstStyle/>
                    <a:p>
                      <a:pPr algn="l"/>
                      <a:r>
                        <a:rPr b="1" sz="1350" i="0" u="none">
                          <a:solidFill>
                            <a:srgbClr val="172B4D"/>
                          </a:solidFill>
                          <a:latin typeface="Inter"/>
                        </a:rPr>
                        <a:t>Problem Area</a:t>
                      </a:r>
                    </a:p>
                  </a:txBody>
                  <a:tcPr anchor="ctr" marL="63500" marR="63500" marT="25400" marB="25400">
                    <a:lnL>
                      <a:noFill/>
                    </a:lnL>
                    <a:lnR>
                      <a:noFill/>
                    </a:lnR>
                    <a:lnT>
                      <a:noFill/>
                    </a:lnT>
                    <a:lnB>
                      <a:noFill/>
                    </a:lnB>
                    <a:solidFill>
                      <a:srgbClr val="F4F5F7"/>
                    </a:solidFill>
                  </a:tcPr>
                </a:tc>
                <a:tc>
                  <a:txBody>
                    <a:bodyPr/>
                    <a:lstStyle/>
                    <a:p>
                      <a:pPr algn="l"/>
                      <a:r>
                        <a:rPr b="1" sz="1350" i="0" u="none">
                          <a:solidFill>
                            <a:srgbClr val="172B4D"/>
                          </a:solidFill>
                          <a:latin typeface="Inter"/>
                        </a:rPr>
                        <a:t>Fix Intent</a:t>
                      </a:r>
                    </a:p>
                  </a:txBody>
                  <a:tcPr anchor="ctr" marL="63500" marR="63500" marT="25400" marB="25400">
                    <a:lnL>
                      <a:noFill/>
                    </a:lnL>
                    <a:lnR>
                      <a:noFill/>
                    </a:lnR>
                    <a:lnT>
                      <a:noFill/>
                    </a:lnT>
                    <a:lnB>
                      <a:noFill/>
                    </a:lnB>
                    <a:solidFill>
                      <a:srgbClr val="F4F5F7"/>
                    </a:solidFill>
                  </a:tcPr>
                </a:tc>
              </a:tr>
              <a:tr h="703262">
                <a:tc>
                  <a:txBody>
                    <a:bodyPr/>
                    <a:lstStyle/>
                    <a:p>
                      <a:pPr algn="l"/>
                      <a:r>
                        <a:rPr b="1" sz="1350" i="0" u="none">
                          <a:solidFill>
                            <a:srgbClr val="BF2600"/>
                          </a:solidFill>
                          <a:latin typeface="Inter"/>
                        </a:rPr>
                        <a:t>KAN-64</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DevPulse Streak Sync</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Persist goal completion via idempotent sync.</a:t>
                      </a:r>
                    </a:p>
                  </a:txBody>
                  <a:tcPr anchor="ctr" marL="63500" marR="63500" marT="25400" marB="25400">
                    <a:lnL>
                      <a:noFill/>
                    </a:lnL>
                    <a:lnR>
                      <a:noFill/>
                    </a:lnR>
                    <a:lnT>
                      <a:noFill/>
                    </a:lnT>
                    <a:lnB>
                      <a:noFill/>
                    </a:lnB>
                    <a:solidFill>
                      <a:srgbClr val="FFFFFF"/>
                    </a:solidFill>
                  </a:tcPr>
                </a:tc>
              </a:tr>
              <a:tr h="703262">
                <a:tc>
                  <a:txBody>
                    <a:bodyPr/>
                    <a:lstStyle/>
                    <a:p>
                      <a:pPr algn="l"/>
                      <a:r>
                        <a:rPr b="1" sz="1350" i="0" u="none">
                          <a:solidFill>
                            <a:srgbClr val="BF2600"/>
                          </a:solidFill>
                          <a:latin typeface="Inter"/>
                        </a:rPr>
                        <a:t>KAN-65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Duplicate Notifications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Deduplicate by event ID across channels.</a:t>
                      </a:r>
                    </a:p>
                  </a:txBody>
                  <a:tcPr anchor="ctr" marL="63500" marR="63500" marT="25400" marB="25400">
                    <a:lnL>
                      <a:noFill/>
                    </a:lnL>
                    <a:lnR>
                      <a:noFill/>
                    </a:lnR>
                    <a:lnT>
                      <a:noFill/>
                    </a:lnT>
                    <a:lnB>
                      <a:noFill/>
                    </a:lnB>
                    <a:solidFill>
                      <a:srgbClr val="FFFFFF"/>
                    </a:solidFill>
                  </a:tcPr>
                </a:tc>
              </a:tr>
              <a:tr h="703262">
                <a:tc>
                  <a:txBody>
                    <a:bodyPr/>
                    <a:lstStyle/>
                    <a:p>
                      <a:pPr algn="l"/>
                      <a:r>
                        <a:rPr b="1" sz="1350" i="0" u="none">
                          <a:solidFill>
                            <a:srgbClr val="BF2600"/>
                          </a:solidFill>
                          <a:latin typeface="Inter"/>
                        </a:rPr>
                        <a:t>KAN-66</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FCM Mobile Delivery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Validate token lifecycle and delivery logging.</a:t>
                      </a:r>
                    </a:p>
                  </a:txBody>
                  <a:tcPr anchor="ctr" marL="63500" marR="63500" marT="25400" marB="25400">
                    <a:lnL>
                      <a:noFill/>
                    </a:lnL>
                    <a:lnR>
                      <a:noFill/>
                    </a:lnR>
                    <a:lnT>
                      <a:noFill/>
                    </a:lnT>
                    <a:lnB>
                      <a:noFill/>
                    </a:lnB>
                    <a:solidFill>
                      <a:srgbClr val="FFFFFF"/>
                    </a:solidFill>
                  </a:tcPr>
                </a:tc>
              </a:tr>
              <a:tr h="703262">
                <a:tc>
                  <a:txBody>
                    <a:bodyPr/>
                    <a:lstStyle/>
                    <a:p>
                      <a:pPr algn="l"/>
                      <a:r>
                        <a:rPr b="1" sz="1350" i="0" u="none">
                          <a:solidFill>
                            <a:srgbClr val="BF2600"/>
                          </a:solidFill>
                          <a:latin typeface="Inter"/>
                        </a:rPr>
                        <a:t>KAN-67</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Google OAuth Redirect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Align authorized URIs with backend callback.</a:t>
                      </a:r>
                    </a:p>
                  </a:txBody>
                  <a:tcPr anchor="ctr" marL="63500" marR="63500" marT="25400" marB="25400">
                    <a:lnL>
                      <a:noFill/>
                    </a:lnL>
                    <a:lnR>
                      <a:noFill/>
                    </a:lnR>
                    <a:lnT>
                      <a:noFill/>
                    </a:lnT>
                    <a:lnB>
                      <a:noFill/>
                    </a:lnB>
                    <a:solidFill>
                      <a:srgbClr val="FFFFFF"/>
                    </a:solidFill>
                  </a:tcPr>
                </a:tc>
              </a:tr>
              <a:tr h="703265">
                <a:tc>
                  <a:txBody>
                    <a:bodyPr/>
                    <a:lstStyle/>
                    <a:p>
                      <a:pPr algn="l"/>
                      <a:r>
                        <a:rPr b="1" sz="1350" i="0" u="none">
                          <a:solidFill>
                            <a:srgbClr val="BF2600"/>
                          </a:solidFill>
                          <a:latin typeface="Inter"/>
                        </a:rPr>
                        <a:t>KAN-68</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Calendar Scope Denied</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Review scopes and handle denial gracefully.</a:t>
                      </a:r>
                    </a:p>
                  </a:txBody>
                  <a:tcPr anchor="ctr" marL="63500" marR="63500" marT="25400" marB="25400">
                    <a:lnL>
                      <a:noFill/>
                    </a:lnL>
                    <a:lnR>
                      <a:noFill/>
                    </a:lnR>
                    <a:lnT>
                      <a:noFill/>
                    </a:lnT>
                    <a:lnB>
                      <a:noFill/>
                    </a:lnB>
                    <a:solidFill>
                      <a:srgbClr val="FFFFFF"/>
                    </a:solidFill>
                  </a:tcPr>
                </a:tc>
              </a:tr>
            </a:tbl>
          </a:graphicData>
        </a:graphic>
      </p:graphicFrame>
      <p:graphicFrame>
        <p:nvGraphicFramePr>
          <p:cNvPr id="8" name="Table 7"/>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9" name="TextBox 8"/>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Bug Management</a:t>
            </a:r>
          </a:p>
        </p:txBody>
      </p:sp>
      <p:sp>
        <p:nvSpPr>
          <p:cNvPr id="10" name="TextBox 9"/>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Bugs treated as visible backlog work requiring a full lifecycle fix.</a:t>
            </a:r>
          </a:p>
        </p:txBody>
      </p:sp>
      <p:sp>
        <p:nvSpPr>
          <p:cNvPr id="11" name="TextBox 10"/>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2" name="TextBox 11"/>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3" name="TextBox 12"/>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4" name="TextBox 13"/>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5" name="TextBox 14"/>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6" name="TextBox 15"/>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7" name="TextBox 16"/>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8" name="TextBox 17"/>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19" name="TextBox 18"/>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0" name="TextBox 19"/>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1" name="TextBox 20"/>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2" name="TextBox 21"/>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3" name="TextBox 22"/>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4" name="TextBox 23"/>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5" name="TextBox 24"/>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6" name="TextBox 25"/>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7" name="TextBox 26"/>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8" name="TextBox 27"/>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29" name="TextBox 28"/>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0" name="TextBox 29"/>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1" name="TextBox 30"/>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2" name="TextBox 31"/>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3" name="TextBox 32"/>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4" name="TextBox 33"/>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5" name="TextBox 34"/>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6" name="TextBox 35"/>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7" name="TextBox 36"/>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8" name="TextBox 37"/>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39" name="TextBox 38"/>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0" name="TextBox 39"/>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1" name="TextBox 40"/>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2" name="TextBox 41"/>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3" name="TextBox 42"/>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4" name="TextBox 43"/>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5" name="TextBox 44"/>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6" name="TextBox 45"/>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7" name="TextBox 46"/>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8" name="TextBox 47"/>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49" name="TextBox 48"/>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0" name="TextBox 49"/>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1" name="TextBox 50"/>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2" name="TextBox 51"/>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3" name="TextBox 52"/>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4" name="TextBox 53"/>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5" name="TextBox 54"/>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6" name="TextBox 55"/>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7" name="TextBox 56"/>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8" name="TextBox 57"/>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59" name="TextBox 58"/>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0" name="TextBox 59"/>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1" name="TextBox 60"/>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2" name="TextBox 61"/>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3" name="TextBox 62"/>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4" name="TextBox 63"/>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5" name="TextBox 64"/>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6" name="TextBox 65"/>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7" name="TextBox 66"/>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8" name="TextBox 67"/>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69" name="TextBox 68"/>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0" name="TextBox 69"/>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1" name="TextBox 70"/>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2" name="TextBox 71"/>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3" name="TextBox 72"/>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4" name="TextBox 73"/>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5" name="TextBox 74"/>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6" name="TextBox 75"/>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7" name="TextBox 76"/>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8" name="TextBox 77"/>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79" name="TextBox 78"/>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0" name="TextBox 79"/>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1" name="TextBox 80"/>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2" name="TextBox 81"/>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3" name="TextBox 82"/>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4" name="TextBox 83"/>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5" name="TextBox 84"/>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6" name="TextBox 85"/>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7" name="TextBox 86"/>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8" name="TextBox 87"/>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89" name="TextBox 88"/>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0" name="TextBox 89"/>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1" name="TextBox 90"/>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2" name="TextBox 91"/>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3" name="TextBox 92"/>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4" name="TextBox 93"/>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5" name="TextBox 94"/>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6" name="TextBox 95"/>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7" name="TextBox 96"/>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8" name="TextBox 97"/>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99" name="TextBox 98"/>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0" name="TextBox 99"/>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1" name="TextBox 100"/>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2" name="TextBox 101"/>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3" name="TextBox 102"/>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4" name="TextBox 103"/>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676400" y="2476500"/>
            <a:ext cx="3200400" cy="685800"/>
          </a:xfrm>
          <a:prstGeom prst="roundRect">
            <a:avLst>
              <a:gd name="adj" fmla="val 11111"/>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57550" y="3162300"/>
            <a:ext cx="38100" cy="3810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43000" y="3543300"/>
            <a:ext cx="4267200" cy="733425"/>
          </a:xfrm>
          <a:prstGeom prst="roundRect">
            <a:avLst>
              <a:gd name="adj" fmla="val 10389"/>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57550" y="4276725"/>
            <a:ext cx="38100" cy="3810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676400" y="4657725"/>
            <a:ext cx="3200400" cy="685800"/>
          </a:xfrm>
          <a:prstGeom prst="roundRect">
            <a:avLst>
              <a:gd name="adj" fmla="val 11111"/>
            </a:avLst>
          </a:prstGeom>
          <a:solidFill>
            <a:srgbClr val="E3F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6248400" y="3224212"/>
            <a:ext cx="190500" cy="200025"/>
          </a:xfrm>
          <a:prstGeom prst="rect">
            <a:avLst/>
          </a:prstGeom>
        </p:spPr>
      </p:pic>
      <p:pic>
        <p:nvPicPr>
          <p:cNvPr id="13" name="Picture 12" descr="image.png"/>
          <p:cNvPicPr>
            <a:picLocks noChangeAspect="1"/>
          </p:cNvPicPr>
          <p:nvPr/>
        </p:nvPicPr>
        <p:blipFill>
          <a:blip r:embed="rId2"/>
          <a:stretch>
            <a:fillRect/>
          </a:stretch>
        </p:blipFill>
        <p:spPr>
          <a:xfrm>
            <a:off x="6248400" y="3605212"/>
            <a:ext cx="190500" cy="200025"/>
          </a:xfrm>
          <a:prstGeom prst="rect">
            <a:avLst/>
          </a:prstGeom>
        </p:spPr>
      </p:pic>
      <p:pic>
        <p:nvPicPr>
          <p:cNvPr id="14" name="Picture 13" descr="image.png"/>
          <p:cNvPicPr>
            <a:picLocks noChangeAspect="1"/>
          </p:cNvPicPr>
          <p:nvPr/>
        </p:nvPicPr>
        <p:blipFill>
          <a:blip r:embed="rId2"/>
          <a:stretch>
            <a:fillRect/>
          </a:stretch>
        </p:blipFill>
        <p:spPr>
          <a:xfrm>
            <a:off x="6248400" y="3986212"/>
            <a:ext cx="190500" cy="200025"/>
          </a:xfrm>
          <a:prstGeom prst="rect">
            <a:avLst/>
          </a:prstGeom>
        </p:spPr>
      </p:pic>
      <p:pic>
        <p:nvPicPr>
          <p:cNvPr id="15" name="Picture 14" descr="image.png"/>
          <p:cNvPicPr>
            <a:picLocks noChangeAspect="1"/>
          </p:cNvPicPr>
          <p:nvPr/>
        </p:nvPicPr>
        <p:blipFill>
          <a:blip r:embed="rId2"/>
          <a:stretch>
            <a:fillRect/>
          </a:stretch>
        </p:blipFill>
        <p:spPr>
          <a:xfrm>
            <a:off x="6248400" y="4367212"/>
            <a:ext cx="190500" cy="200025"/>
          </a:xfrm>
          <a:prstGeom prst="rect">
            <a:avLst/>
          </a:prstGeom>
        </p:spPr>
      </p:pic>
      <p:pic>
        <p:nvPicPr>
          <p:cNvPr id="16" name="Picture 15" descr="image.png"/>
          <p:cNvPicPr>
            <a:picLocks noChangeAspect="1"/>
          </p:cNvPicPr>
          <p:nvPr/>
        </p:nvPicPr>
        <p:blipFill>
          <a:blip r:embed="rId2"/>
          <a:stretch>
            <a:fillRect/>
          </a:stretch>
        </p:blipFill>
        <p:spPr>
          <a:xfrm>
            <a:off x="6248400" y="4748212"/>
            <a:ext cx="190500" cy="200025"/>
          </a:xfrm>
          <a:prstGeom prst="rect">
            <a:avLst/>
          </a:prstGeom>
        </p:spPr>
      </p:pic>
      <p:graphicFrame>
        <p:nvGraphicFramePr>
          <p:cNvPr id="17" name="Table 16"/>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8" name="TextBox 17"/>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Definition of Ready (DoR)</a:t>
            </a:r>
          </a:p>
        </p:txBody>
      </p:sp>
      <p:sp>
        <p:nvSpPr>
          <p:cNvPr id="19" name="TextBox 18"/>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0" name="TextBox 19"/>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1" name="TextBox 20"/>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2" name="TextBox 21"/>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3" name="TextBox 22"/>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4" name="TextBox 23"/>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5" name="TextBox 24"/>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6" name="TextBox 25"/>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7" name="TextBox 26"/>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8" name="TextBox 27"/>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9" name="TextBox 28"/>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0" name="TextBox 29"/>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1" name="TextBox 30"/>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2" name="TextBox 31"/>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3" name="TextBox 32"/>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4" name="TextBox 33"/>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5" name="TextBox 34"/>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6" name="TextBox 35"/>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7" name="TextBox 36"/>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8" name="TextBox 37"/>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9" name="TextBox 38"/>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0" name="TextBox 39"/>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1" name="TextBox 40"/>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2" name="TextBox 41"/>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3" name="TextBox 42"/>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4" name="TextBox 43"/>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5" name="TextBox 44"/>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6" name="TextBox 45"/>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7" name="TextBox 46"/>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8" name="TextBox 47"/>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9" name="TextBox 48"/>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0" name="TextBox 49"/>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1" name="TextBox 50"/>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2" name="TextBox 51"/>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3" name="TextBox 52"/>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4" name="TextBox 53"/>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5" name="TextBox 54"/>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6" name="TextBox 55"/>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7" name="TextBox 56"/>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8" name="TextBox 57"/>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9" name="TextBox 58"/>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0" name="TextBox 59"/>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1" name="TextBox 60"/>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2" name="TextBox 61"/>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3" name="TextBox 62"/>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4" name="TextBox 63"/>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5" name="TextBox 64"/>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6" name="TextBox 65"/>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7" name="TextBox 66"/>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8" name="TextBox 67"/>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9" name="TextBox 68"/>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0" name="TextBox 69"/>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1" name="TextBox 70"/>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2" name="TextBox 71"/>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3" name="TextBox 72"/>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4" name="TextBox 73"/>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5" name="TextBox 74"/>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6" name="TextBox 75"/>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7" name="TextBox 76"/>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8" name="TextBox 77"/>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9" name="TextBox 78"/>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0" name="TextBox 79"/>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1" name="TextBox 80"/>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2" name="TextBox 81"/>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3" name="TextBox 82"/>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4" name="TextBox 83"/>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5" name="TextBox 84"/>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6" name="TextBox 85"/>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7" name="TextBox 86"/>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8" name="TextBox 87"/>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9" name="TextBox 88"/>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0" name="TextBox 89"/>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1" name="TextBox 90"/>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2" name="TextBox 91"/>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3" name="TextBox 92"/>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4" name="TextBox 93"/>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5" name="TextBox 94"/>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6" name="TextBox 95"/>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7" name="TextBox 96"/>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8" name="TextBox 97"/>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9" name="TextBox 98"/>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0" name="TextBox 99"/>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1" name="TextBox 100"/>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2" name="TextBox 101"/>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3" name="TextBox 102"/>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4" name="TextBox 103"/>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5" name="TextBox 104"/>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6" name="TextBox 105"/>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7" name="TextBox 106"/>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8" name="TextBox 107"/>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9" name="TextBox 108"/>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0" name="TextBox 109"/>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1" name="TextBox 110"/>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2" name="TextBox 111"/>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3" name="TextBox 112"/>
          <p:cNvSpPr txBox="1"/>
          <p:nvPr/>
        </p:nvSpPr>
        <p:spPr>
          <a:xfrm>
            <a:off x="1504950" y="2705100"/>
            <a:ext cx="3543300" cy="228600"/>
          </a:xfrm>
          <a:prstGeom prst="rect">
            <a:avLst/>
          </a:prstGeom>
          <a:noFill/>
        </p:spPr>
        <p:txBody>
          <a:bodyPr wrap="square" lIns="0" rIns="0" tIns="0" bIns="0" anchor="t">
            <a:spAutoFit/>
          </a:bodyPr>
          <a:lstStyle/>
          <a:p>
            <a:pPr algn="ctr"/>
            <a:r>
              <a:rPr b="1" sz="1500" i="0" u="none">
                <a:solidFill>
                  <a:srgbClr val="172B4D"/>
                </a:solidFill>
                <a:latin typeface="Inter"/>
              </a:rPr>
              <a:t>BACKLOG</a:t>
            </a:r>
          </a:p>
        </p:txBody>
      </p:sp>
      <p:sp>
        <p:nvSpPr>
          <p:cNvPr id="114" name="TextBox 113"/>
          <p:cNvSpPr txBox="1"/>
          <p:nvPr/>
        </p:nvSpPr>
        <p:spPr>
          <a:xfrm>
            <a:off x="838200" y="3771900"/>
            <a:ext cx="4876800" cy="276225"/>
          </a:xfrm>
          <a:prstGeom prst="rect">
            <a:avLst/>
          </a:prstGeom>
          <a:noFill/>
        </p:spPr>
        <p:txBody>
          <a:bodyPr wrap="square" lIns="0" rIns="0" tIns="0" bIns="0" anchor="t">
            <a:spAutoFit/>
          </a:bodyPr>
          <a:lstStyle/>
          <a:p>
            <a:pPr algn="ctr"/>
            <a:r>
              <a:rPr b="1" sz="1800" i="0" u="none">
                <a:solidFill>
                  <a:srgbClr val="FFFFFF"/>
                </a:solidFill>
                <a:latin typeface="Inter"/>
              </a:rPr>
              <a:t>DoR GATE</a:t>
            </a:r>
          </a:p>
        </p:txBody>
      </p:sp>
      <p:sp>
        <p:nvSpPr>
          <p:cNvPr id="115" name="TextBox 114"/>
          <p:cNvSpPr txBox="1"/>
          <p:nvPr/>
        </p:nvSpPr>
        <p:spPr>
          <a:xfrm>
            <a:off x="1504950" y="4886325"/>
            <a:ext cx="3543300" cy="228600"/>
          </a:xfrm>
          <a:prstGeom prst="rect">
            <a:avLst/>
          </a:prstGeom>
          <a:noFill/>
        </p:spPr>
        <p:txBody>
          <a:bodyPr wrap="square" lIns="0" rIns="0" tIns="0" bIns="0" anchor="t">
            <a:spAutoFit/>
          </a:bodyPr>
          <a:lstStyle/>
          <a:p>
            <a:pPr algn="ctr"/>
            <a:r>
              <a:rPr b="1" sz="1500" i="0" u="none">
                <a:solidFill>
                  <a:srgbClr val="006644"/>
                </a:solidFill>
                <a:latin typeface="Inter"/>
              </a:rPr>
              <a:t>EXECUTION</a:t>
            </a:r>
          </a:p>
        </p:txBody>
      </p:sp>
      <p:sp>
        <p:nvSpPr>
          <p:cNvPr id="116" name="TextBox 115"/>
          <p:cNvSpPr txBox="1"/>
          <p:nvPr/>
        </p:nvSpPr>
        <p:spPr>
          <a:xfrm>
            <a:off x="6248400" y="2705100"/>
            <a:ext cx="5943600" cy="276225"/>
          </a:xfrm>
          <a:prstGeom prst="rect">
            <a:avLst/>
          </a:prstGeom>
          <a:noFill/>
        </p:spPr>
        <p:txBody>
          <a:bodyPr wrap="none" lIns="0" rIns="0" tIns="0" bIns="0" anchor="t">
            <a:spAutoFit/>
          </a:bodyPr>
          <a:lstStyle/>
          <a:p>
            <a:pPr algn="l"/>
            <a:r>
              <a:rPr b="1" sz="1800" i="0" u="none">
                <a:solidFill>
                  <a:srgbClr val="172B4D"/>
                </a:solidFill>
                <a:latin typeface="Inter"/>
              </a:rPr>
              <a:t>Protects work entering execution.</a:t>
            </a:r>
          </a:p>
        </p:txBody>
      </p:sp>
      <p:sp>
        <p:nvSpPr>
          <p:cNvPr id="117" name="TextBox 116"/>
          <p:cNvSpPr txBox="1"/>
          <p:nvPr/>
        </p:nvSpPr>
        <p:spPr>
          <a:xfrm>
            <a:off x="6248400" y="3209925"/>
            <a:ext cx="5943600" cy="228600"/>
          </a:xfrm>
          <a:prstGeom prst="rect">
            <a:avLst/>
          </a:prstGeom>
          <a:noFill/>
        </p:spPr>
        <p:txBody>
          <a:bodyPr wrap="none" lIns="304800" rIns="0" tIns="0" bIns="0" anchor="t">
            <a:spAutoFit/>
          </a:bodyPr>
          <a:lstStyle/>
          <a:p>
            <a:pPr algn="l"/>
            <a:r>
              <a:rPr b="0" sz="1500" i="0" u="none">
                <a:solidFill>
                  <a:srgbClr val="172B4D"/>
                </a:solidFill>
                <a:latin typeface="Inter"/>
              </a:rPr>
              <a:t>Clear user outcome defined.</a:t>
            </a:r>
          </a:p>
        </p:txBody>
      </p:sp>
      <p:sp>
        <p:nvSpPr>
          <p:cNvPr id="118" name="TextBox 117"/>
          <p:cNvSpPr txBox="1"/>
          <p:nvPr/>
        </p:nvSpPr>
        <p:spPr>
          <a:xfrm>
            <a:off x="6248400" y="3590925"/>
            <a:ext cx="5943600" cy="228600"/>
          </a:xfrm>
          <a:prstGeom prst="rect">
            <a:avLst/>
          </a:prstGeom>
          <a:noFill/>
        </p:spPr>
        <p:txBody>
          <a:bodyPr wrap="none" lIns="304800" rIns="0" tIns="0" bIns="0" anchor="t">
            <a:spAutoFit/>
          </a:bodyPr>
          <a:lstStyle/>
          <a:p>
            <a:pPr algn="l"/>
            <a:r>
              <a:rPr b="0" sz="1500" i="0" u="none">
                <a:solidFill>
                  <a:srgbClr val="172B4D"/>
                </a:solidFill>
                <a:latin typeface="Inter"/>
              </a:rPr>
              <a:t>Testable acceptance criteria.</a:t>
            </a:r>
          </a:p>
        </p:txBody>
      </p:sp>
      <p:sp>
        <p:nvSpPr>
          <p:cNvPr id="119" name="TextBox 118"/>
          <p:cNvSpPr txBox="1"/>
          <p:nvPr/>
        </p:nvSpPr>
        <p:spPr>
          <a:xfrm>
            <a:off x="6248400" y="3971925"/>
            <a:ext cx="5943600" cy="228600"/>
          </a:xfrm>
          <a:prstGeom prst="rect">
            <a:avLst/>
          </a:prstGeom>
          <a:noFill/>
        </p:spPr>
        <p:txBody>
          <a:bodyPr wrap="none" lIns="304800" rIns="0" tIns="0" bIns="0" anchor="t">
            <a:spAutoFit/>
          </a:bodyPr>
          <a:lstStyle/>
          <a:p>
            <a:pPr algn="l"/>
            <a:r>
              <a:rPr b="0" sz="1500" i="0" u="none">
                <a:solidFill>
                  <a:srgbClr val="172B4D"/>
                </a:solidFill>
                <a:latin typeface="Inter"/>
              </a:rPr>
              <a:t>Dependencies identified.</a:t>
            </a:r>
          </a:p>
        </p:txBody>
      </p:sp>
      <p:sp>
        <p:nvSpPr>
          <p:cNvPr id="120" name="TextBox 119"/>
          <p:cNvSpPr txBox="1"/>
          <p:nvPr/>
        </p:nvSpPr>
        <p:spPr>
          <a:xfrm>
            <a:off x="6248400" y="4352925"/>
            <a:ext cx="5943600" cy="228600"/>
          </a:xfrm>
          <a:prstGeom prst="rect">
            <a:avLst/>
          </a:prstGeom>
          <a:noFill/>
        </p:spPr>
        <p:txBody>
          <a:bodyPr wrap="none" lIns="304800" rIns="0" tIns="0" bIns="0" anchor="t">
            <a:spAutoFit/>
          </a:bodyPr>
          <a:lstStyle/>
          <a:p>
            <a:pPr algn="l"/>
            <a:r>
              <a:rPr b="0" sz="1500" i="0" u="none">
                <a:solidFill>
                  <a:srgbClr val="172B4D"/>
                </a:solidFill>
                <a:latin typeface="Inter"/>
              </a:rPr>
              <a:t>Appropriate sprint scope sizing.</a:t>
            </a:r>
          </a:p>
        </p:txBody>
      </p:sp>
      <p:sp>
        <p:nvSpPr>
          <p:cNvPr id="121" name="TextBox 120"/>
          <p:cNvSpPr txBox="1"/>
          <p:nvPr/>
        </p:nvSpPr>
        <p:spPr>
          <a:xfrm>
            <a:off x="6248400" y="4733925"/>
            <a:ext cx="5943600" cy="228600"/>
          </a:xfrm>
          <a:prstGeom prst="rect">
            <a:avLst/>
          </a:prstGeom>
          <a:noFill/>
        </p:spPr>
        <p:txBody>
          <a:bodyPr wrap="none" lIns="304800" rIns="0" tIns="0" bIns="0" anchor="t">
            <a:spAutoFit/>
          </a:bodyPr>
          <a:lstStyle/>
          <a:p>
            <a:pPr algn="l"/>
            <a:r>
              <a:rPr b="0" sz="1500" i="0" u="none">
                <a:solidFill>
                  <a:srgbClr val="172B4D"/>
                </a:solidFill>
                <a:latin typeface="Inter"/>
              </a:rPr>
              <a:t>Observable success evidence identified.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0212" y="3338512"/>
            <a:ext cx="1143000" cy="1143000"/>
          </a:xfrm>
          <a:prstGeom prst="roundRect">
            <a:avLst>
              <a:gd name="adj" fmla="val 50000"/>
            </a:avLst>
          </a:prstGeom>
          <a:solidFill>
            <a:srgbClr val="008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67587" y="2443162"/>
            <a:ext cx="1381125" cy="4953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9525" y="3052762"/>
            <a:ext cx="857250" cy="4953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19987" y="3662362"/>
            <a:ext cx="1076325" cy="4953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48550" y="4271962"/>
            <a:ext cx="1219200" cy="4953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72350" y="4881562"/>
            <a:ext cx="1371600" cy="4953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8901112" y="3757612"/>
            <a:ext cx="266700" cy="304800"/>
          </a:xfrm>
          <a:prstGeom prst="rect">
            <a:avLst/>
          </a:prstGeom>
        </p:spPr>
      </p:pic>
      <p:pic>
        <p:nvPicPr>
          <p:cNvPr id="14" name="Picture 13" descr="image.png"/>
          <p:cNvPicPr>
            <a:picLocks noChangeAspect="1"/>
          </p:cNvPicPr>
          <p:nvPr/>
        </p:nvPicPr>
        <p:blipFill>
          <a:blip r:embed="rId3"/>
          <a:stretch>
            <a:fillRect/>
          </a:stretch>
        </p:blipFill>
        <p:spPr>
          <a:xfrm>
            <a:off x="609600" y="3224212"/>
            <a:ext cx="171450" cy="200025"/>
          </a:xfrm>
          <a:prstGeom prst="rect">
            <a:avLst/>
          </a:prstGeom>
        </p:spPr>
      </p:pic>
      <p:pic>
        <p:nvPicPr>
          <p:cNvPr id="15" name="Picture 14" descr="image.png"/>
          <p:cNvPicPr>
            <a:picLocks noChangeAspect="1"/>
          </p:cNvPicPr>
          <p:nvPr/>
        </p:nvPicPr>
        <p:blipFill>
          <a:blip r:embed="rId3"/>
          <a:stretch>
            <a:fillRect/>
          </a:stretch>
        </p:blipFill>
        <p:spPr>
          <a:xfrm>
            <a:off x="609600" y="3605212"/>
            <a:ext cx="171450" cy="200025"/>
          </a:xfrm>
          <a:prstGeom prst="rect">
            <a:avLst/>
          </a:prstGeom>
        </p:spPr>
      </p:pic>
      <p:pic>
        <p:nvPicPr>
          <p:cNvPr id="16" name="Picture 15" descr="image.png"/>
          <p:cNvPicPr>
            <a:picLocks noChangeAspect="1"/>
          </p:cNvPicPr>
          <p:nvPr/>
        </p:nvPicPr>
        <p:blipFill>
          <a:blip r:embed="rId3"/>
          <a:stretch>
            <a:fillRect/>
          </a:stretch>
        </p:blipFill>
        <p:spPr>
          <a:xfrm>
            <a:off x="609600" y="3986212"/>
            <a:ext cx="171450" cy="200025"/>
          </a:xfrm>
          <a:prstGeom prst="rect">
            <a:avLst/>
          </a:prstGeom>
        </p:spPr>
      </p:pic>
      <p:pic>
        <p:nvPicPr>
          <p:cNvPr id="17" name="Picture 16" descr="image.png"/>
          <p:cNvPicPr>
            <a:picLocks noChangeAspect="1"/>
          </p:cNvPicPr>
          <p:nvPr/>
        </p:nvPicPr>
        <p:blipFill>
          <a:blip r:embed="rId3"/>
          <a:stretch>
            <a:fillRect/>
          </a:stretch>
        </p:blipFill>
        <p:spPr>
          <a:xfrm>
            <a:off x="609600" y="4367212"/>
            <a:ext cx="171450" cy="200025"/>
          </a:xfrm>
          <a:prstGeom prst="rect">
            <a:avLst/>
          </a:prstGeom>
        </p:spPr>
      </p:pic>
      <p:pic>
        <p:nvPicPr>
          <p:cNvPr id="18" name="Picture 17" descr="image.png"/>
          <p:cNvPicPr>
            <a:picLocks noChangeAspect="1"/>
          </p:cNvPicPr>
          <p:nvPr/>
        </p:nvPicPr>
        <p:blipFill>
          <a:blip r:embed="rId3"/>
          <a:stretch>
            <a:fillRect/>
          </a:stretch>
        </p:blipFill>
        <p:spPr>
          <a:xfrm>
            <a:off x="609600" y="4748212"/>
            <a:ext cx="171450" cy="200025"/>
          </a:xfrm>
          <a:prstGeom prst="rect">
            <a:avLst/>
          </a:prstGeom>
        </p:spPr>
      </p:pic>
      <p:graphicFrame>
        <p:nvGraphicFramePr>
          <p:cNvPr id="19" name="Table 18"/>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20" name="TextBox 19"/>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Definition of Done (DoD)</a:t>
            </a:r>
          </a:p>
        </p:txBody>
      </p:sp>
      <p:sp>
        <p:nvSpPr>
          <p:cNvPr id="21" name="TextBox 20"/>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2" name="TextBox 21"/>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3" name="TextBox 22"/>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4" name="TextBox 23"/>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5" name="TextBox 24"/>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6" name="TextBox 25"/>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7" name="TextBox 26"/>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8" name="TextBox 27"/>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9" name="TextBox 28"/>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30" name="TextBox 29"/>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1" name="TextBox 30"/>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2" name="TextBox 31"/>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3" name="TextBox 32"/>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4" name="TextBox 33"/>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5" name="TextBox 34"/>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6" name="TextBox 35"/>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7" name="TextBox 36"/>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8" name="TextBox 37"/>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9" name="TextBox 38"/>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40" name="TextBox 39"/>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1" name="TextBox 40"/>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2" name="TextBox 41"/>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3" name="TextBox 42"/>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4" name="TextBox 43"/>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5" name="TextBox 44"/>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6" name="TextBox 45"/>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7" name="TextBox 46"/>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8" name="TextBox 47"/>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9" name="TextBox 48"/>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50" name="TextBox 49"/>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1" name="TextBox 50"/>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2" name="TextBox 51"/>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3" name="TextBox 52"/>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4" name="TextBox 53"/>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5" name="TextBox 54"/>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6" name="TextBox 55"/>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7" name="TextBox 56"/>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8" name="TextBox 57"/>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9" name="TextBox 58"/>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60" name="TextBox 59"/>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1" name="TextBox 60"/>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2" name="TextBox 61"/>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3" name="TextBox 62"/>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4" name="TextBox 63"/>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5" name="TextBox 64"/>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6" name="TextBox 65"/>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7" name="TextBox 66"/>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8" name="TextBox 67"/>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9" name="TextBox 68"/>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70" name="TextBox 69"/>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1" name="TextBox 70"/>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2" name="TextBox 71"/>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3" name="TextBox 72"/>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4" name="TextBox 73"/>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5" name="TextBox 74"/>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6" name="TextBox 75"/>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7" name="TextBox 76"/>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8" name="TextBox 77"/>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9" name="TextBox 78"/>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80" name="TextBox 79"/>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1" name="TextBox 80"/>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2" name="TextBox 81"/>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3" name="TextBox 82"/>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4" name="TextBox 83"/>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5" name="TextBox 84"/>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6" name="TextBox 85"/>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7" name="TextBox 86"/>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8" name="TextBox 87"/>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9" name="TextBox 88"/>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90" name="TextBox 89"/>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1" name="TextBox 90"/>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2" name="TextBox 91"/>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3" name="TextBox 92"/>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4" name="TextBox 93"/>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5" name="TextBox 94"/>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6" name="TextBox 95"/>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7" name="TextBox 96"/>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8" name="TextBox 97"/>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9" name="TextBox 98"/>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100" name="TextBox 99"/>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1" name="TextBox 100"/>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2" name="TextBox 101"/>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3" name="TextBox 102"/>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4" name="TextBox 103"/>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5" name="TextBox 104"/>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6" name="TextBox 105"/>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7" name="TextBox 106"/>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8" name="TextBox 107"/>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9" name="TextBox 108"/>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10" name="TextBox 109"/>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1" name="TextBox 110"/>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2" name="TextBox 111"/>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3" name="TextBox 112"/>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4" name="TextBox 113"/>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5" name="TextBox 114"/>
          <p:cNvSpPr txBox="1"/>
          <p:nvPr/>
        </p:nvSpPr>
        <p:spPr>
          <a:xfrm>
            <a:off x="609600" y="2705100"/>
            <a:ext cx="6667500" cy="276225"/>
          </a:xfrm>
          <a:prstGeom prst="rect">
            <a:avLst/>
          </a:prstGeom>
          <a:noFill/>
        </p:spPr>
        <p:txBody>
          <a:bodyPr wrap="none" lIns="0" rIns="0" tIns="0" bIns="0" anchor="t">
            <a:spAutoFit/>
          </a:bodyPr>
          <a:lstStyle/>
          <a:p>
            <a:pPr algn="l"/>
            <a:r>
              <a:rPr b="1" sz="1800" i="0" u="none">
                <a:solidFill>
                  <a:srgbClr val="172B4D"/>
                </a:solidFill>
                <a:latin typeface="Inter"/>
              </a:rPr>
              <a:t>Protects quality of completed work.</a:t>
            </a:r>
          </a:p>
        </p:txBody>
      </p:sp>
      <p:sp>
        <p:nvSpPr>
          <p:cNvPr id="116" name="TextBox 115"/>
          <p:cNvSpPr txBox="1"/>
          <p:nvPr/>
        </p:nvSpPr>
        <p:spPr>
          <a:xfrm>
            <a:off x="9482137" y="3643312"/>
            <a:ext cx="819150" cy="533400"/>
          </a:xfrm>
          <a:prstGeom prst="rect">
            <a:avLst/>
          </a:prstGeom>
          <a:noFill/>
        </p:spPr>
        <p:txBody>
          <a:bodyPr wrap="square" lIns="0" rIns="0" tIns="0" bIns="0" anchor="ctr">
            <a:spAutoFit/>
          </a:bodyPr>
          <a:lstStyle/>
          <a:p>
            <a:pPr algn="ctr"/>
            <a:r>
              <a:rPr b="1" sz="1800" i="0" u="none">
                <a:solidFill>
                  <a:srgbClr val="FFFFFF"/>
                </a:solidFill>
                <a:latin typeface="Inter"/>
              </a:rPr>
              <a:t>DONE</a:t>
            </a:r>
          </a:p>
        </p:txBody>
      </p:sp>
      <p:sp>
        <p:nvSpPr>
          <p:cNvPr id="117" name="TextBox 116"/>
          <p:cNvSpPr txBox="1"/>
          <p:nvPr/>
        </p:nvSpPr>
        <p:spPr>
          <a:xfrm>
            <a:off x="609600" y="3209925"/>
            <a:ext cx="6667500" cy="228600"/>
          </a:xfrm>
          <a:prstGeom prst="rect">
            <a:avLst/>
          </a:prstGeom>
          <a:noFill/>
        </p:spPr>
        <p:txBody>
          <a:bodyPr wrap="none" lIns="285750" rIns="0" tIns="0" bIns="0" anchor="t">
            <a:spAutoFit/>
          </a:bodyPr>
          <a:lstStyle/>
          <a:p>
            <a:pPr algn="l"/>
            <a:r>
              <a:rPr b="0" sz="1500" i="0" u="none">
                <a:solidFill>
                  <a:srgbClr val="172B4D"/>
                </a:solidFill>
                <a:latin typeface="Inter"/>
              </a:rPr>
              <a:t>Implementation complete.</a:t>
            </a:r>
          </a:p>
        </p:txBody>
      </p:sp>
      <p:sp>
        <p:nvSpPr>
          <p:cNvPr id="118" name="TextBox 117"/>
          <p:cNvSpPr txBox="1"/>
          <p:nvPr/>
        </p:nvSpPr>
        <p:spPr>
          <a:xfrm>
            <a:off x="609600" y="3590925"/>
            <a:ext cx="6667500" cy="228600"/>
          </a:xfrm>
          <a:prstGeom prst="rect">
            <a:avLst/>
          </a:prstGeom>
          <a:noFill/>
        </p:spPr>
        <p:txBody>
          <a:bodyPr wrap="none" lIns="285750" rIns="0" tIns="0" bIns="0" anchor="t">
            <a:spAutoFit/>
          </a:bodyPr>
          <a:lstStyle/>
          <a:p>
            <a:pPr algn="l"/>
            <a:r>
              <a:rPr b="0" sz="1500" i="0" u="none">
                <a:solidFill>
                  <a:srgbClr val="172B4D"/>
                </a:solidFill>
                <a:latin typeface="Inter"/>
              </a:rPr>
              <a:t>Acceptance criteria satisfied.</a:t>
            </a:r>
          </a:p>
        </p:txBody>
      </p:sp>
      <p:sp>
        <p:nvSpPr>
          <p:cNvPr id="119" name="TextBox 118"/>
          <p:cNvSpPr txBox="1"/>
          <p:nvPr/>
        </p:nvSpPr>
        <p:spPr>
          <a:xfrm>
            <a:off x="609600" y="3971925"/>
            <a:ext cx="6667500" cy="228600"/>
          </a:xfrm>
          <a:prstGeom prst="rect">
            <a:avLst/>
          </a:prstGeom>
          <a:noFill/>
        </p:spPr>
        <p:txBody>
          <a:bodyPr wrap="none" lIns="285750" rIns="0" tIns="0" bIns="0" anchor="t">
            <a:spAutoFit/>
          </a:bodyPr>
          <a:lstStyle/>
          <a:p>
            <a:pPr algn="l"/>
            <a:r>
              <a:rPr b="0" sz="1500" i="0" u="none">
                <a:solidFill>
                  <a:srgbClr val="172B4D"/>
                </a:solidFill>
                <a:latin typeface="Inter"/>
              </a:rPr>
              <a:t>Testing &amp; Review complete.</a:t>
            </a:r>
          </a:p>
        </p:txBody>
      </p:sp>
      <p:sp>
        <p:nvSpPr>
          <p:cNvPr id="120" name="TextBox 119"/>
          <p:cNvSpPr txBox="1"/>
          <p:nvPr/>
        </p:nvSpPr>
        <p:spPr>
          <a:xfrm>
            <a:off x="609600" y="4352925"/>
            <a:ext cx="6667500" cy="228600"/>
          </a:xfrm>
          <a:prstGeom prst="rect">
            <a:avLst/>
          </a:prstGeom>
          <a:noFill/>
        </p:spPr>
        <p:txBody>
          <a:bodyPr wrap="none" lIns="285750" rIns="0" tIns="0" bIns="0" anchor="t">
            <a:spAutoFit/>
          </a:bodyPr>
          <a:lstStyle/>
          <a:p>
            <a:pPr algn="l"/>
            <a:r>
              <a:rPr b="0" sz="1500" i="0" u="none">
                <a:solidFill>
                  <a:srgbClr val="172B4D"/>
                </a:solidFill>
                <a:latin typeface="Inter"/>
              </a:rPr>
              <a:t>Security/Privacy checked.</a:t>
            </a:r>
          </a:p>
        </p:txBody>
      </p:sp>
      <p:sp>
        <p:nvSpPr>
          <p:cNvPr id="121" name="TextBox 120"/>
          <p:cNvSpPr txBox="1"/>
          <p:nvPr/>
        </p:nvSpPr>
        <p:spPr>
          <a:xfrm>
            <a:off x="609600" y="4733925"/>
            <a:ext cx="6667500" cy="228600"/>
          </a:xfrm>
          <a:prstGeom prst="rect">
            <a:avLst/>
          </a:prstGeom>
          <a:noFill/>
        </p:spPr>
        <p:txBody>
          <a:bodyPr wrap="none" lIns="285750" rIns="0" tIns="0" bIns="0" anchor="t">
            <a:spAutoFit/>
          </a:bodyPr>
          <a:lstStyle/>
          <a:p>
            <a:pPr algn="l"/>
            <a:r>
              <a:rPr b="0" sz="1500" i="0" u="none">
                <a:solidFill>
                  <a:srgbClr val="172B4D"/>
                </a:solidFill>
                <a:latin typeface="Inter"/>
              </a:rPr>
              <a:t>Documentation updated.</a:t>
            </a:r>
          </a:p>
        </p:txBody>
      </p:sp>
      <p:sp>
        <p:nvSpPr>
          <p:cNvPr id="122" name="TextBox 121"/>
          <p:cNvSpPr txBox="1"/>
          <p:nvPr/>
        </p:nvSpPr>
        <p:spPr>
          <a:xfrm>
            <a:off x="7596187" y="2595562"/>
            <a:ext cx="1019175" cy="190500"/>
          </a:xfrm>
          <a:prstGeom prst="rect">
            <a:avLst/>
          </a:prstGeom>
          <a:noFill/>
        </p:spPr>
        <p:txBody>
          <a:bodyPr wrap="square" lIns="0" rIns="0" tIns="0" bIns="0" anchor="t">
            <a:spAutoFit/>
          </a:bodyPr>
          <a:lstStyle/>
          <a:p>
            <a:pPr algn="l"/>
            <a:r>
              <a:rPr b="1" sz="1200" i="0" u="none">
                <a:solidFill>
                  <a:srgbClr val="172B4D"/>
                </a:solidFill>
                <a:latin typeface="Inter"/>
              </a:rPr>
              <a:t>IMPLEMENT</a:t>
            </a:r>
          </a:p>
        </p:txBody>
      </p:sp>
      <p:sp>
        <p:nvSpPr>
          <p:cNvPr id="123" name="TextBox 122"/>
          <p:cNvSpPr txBox="1"/>
          <p:nvPr/>
        </p:nvSpPr>
        <p:spPr>
          <a:xfrm>
            <a:off x="7858125" y="3205162"/>
            <a:ext cx="495300" cy="190500"/>
          </a:xfrm>
          <a:prstGeom prst="rect">
            <a:avLst/>
          </a:prstGeom>
          <a:noFill/>
        </p:spPr>
        <p:txBody>
          <a:bodyPr wrap="square" lIns="0" rIns="0" tIns="0" bIns="0" anchor="t">
            <a:spAutoFit/>
          </a:bodyPr>
          <a:lstStyle/>
          <a:p>
            <a:pPr algn="l"/>
            <a:r>
              <a:rPr b="1" sz="1200" i="0" u="none">
                <a:solidFill>
                  <a:srgbClr val="172B4D"/>
                </a:solidFill>
                <a:latin typeface="Inter"/>
              </a:rPr>
              <a:t>TEST</a:t>
            </a:r>
          </a:p>
        </p:txBody>
      </p:sp>
      <p:sp>
        <p:nvSpPr>
          <p:cNvPr id="124" name="TextBox 123"/>
          <p:cNvSpPr txBox="1"/>
          <p:nvPr/>
        </p:nvSpPr>
        <p:spPr>
          <a:xfrm>
            <a:off x="7748587" y="3814762"/>
            <a:ext cx="714375" cy="190500"/>
          </a:xfrm>
          <a:prstGeom prst="rect">
            <a:avLst/>
          </a:prstGeom>
          <a:noFill/>
        </p:spPr>
        <p:txBody>
          <a:bodyPr wrap="square" lIns="0" rIns="0" tIns="0" bIns="0" anchor="t">
            <a:spAutoFit/>
          </a:bodyPr>
          <a:lstStyle/>
          <a:p>
            <a:pPr algn="l"/>
            <a:r>
              <a:rPr b="1" sz="1200" i="0" u="none">
                <a:solidFill>
                  <a:srgbClr val="172B4D"/>
                </a:solidFill>
                <a:latin typeface="Inter"/>
              </a:rPr>
              <a:t>REVIEW</a:t>
            </a:r>
          </a:p>
        </p:txBody>
      </p:sp>
      <p:sp>
        <p:nvSpPr>
          <p:cNvPr id="125" name="TextBox 124"/>
          <p:cNvSpPr txBox="1"/>
          <p:nvPr/>
        </p:nvSpPr>
        <p:spPr>
          <a:xfrm>
            <a:off x="7677150" y="4424362"/>
            <a:ext cx="857250" cy="190500"/>
          </a:xfrm>
          <a:prstGeom prst="rect">
            <a:avLst/>
          </a:prstGeom>
          <a:noFill/>
        </p:spPr>
        <p:txBody>
          <a:bodyPr wrap="square" lIns="0" rIns="0" tIns="0" bIns="0" anchor="t">
            <a:spAutoFit/>
          </a:bodyPr>
          <a:lstStyle/>
          <a:p>
            <a:pPr algn="l"/>
            <a:r>
              <a:rPr b="1" sz="1200" i="0" u="none">
                <a:solidFill>
                  <a:srgbClr val="172B4D"/>
                </a:solidFill>
                <a:latin typeface="Inter"/>
              </a:rPr>
              <a:t>VALIDATE</a:t>
            </a:r>
          </a:p>
        </p:txBody>
      </p:sp>
      <p:sp>
        <p:nvSpPr>
          <p:cNvPr id="126" name="TextBox 125"/>
          <p:cNvSpPr txBox="1"/>
          <p:nvPr/>
        </p:nvSpPr>
        <p:spPr>
          <a:xfrm>
            <a:off x="7600950" y="5033962"/>
            <a:ext cx="1009650" cy="190500"/>
          </a:xfrm>
          <a:prstGeom prst="rect">
            <a:avLst/>
          </a:prstGeom>
          <a:noFill/>
        </p:spPr>
        <p:txBody>
          <a:bodyPr wrap="square" lIns="0" rIns="0" tIns="0" bIns="0" anchor="t">
            <a:spAutoFit/>
          </a:bodyPr>
          <a:lstStyle/>
          <a:p>
            <a:pPr algn="l"/>
            <a:r>
              <a:rPr b="1" sz="1200" i="0" u="none">
                <a:solidFill>
                  <a:srgbClr val="172B4D"/>
                </a:solidFill>
                <a:latin typeface="Inter"/>
              </a:rPr>
              <a:t>DOCUMENT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543550"/>
            <a:ext cx="10972800" cy="704850"/>
          </a:xfrm>
          <a:prstGeom prst="rect">
            <a:avLst/>
          </a:prstGeom>
          <a:solidFill>
            <a:srgbClr val="FF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5543550"/>
            <a:ext cx="38100" cy="704850"/>
          </a:xfrm>
          <a:prstGeom prst="rect">
            <a:avLst/>
          </a:prstGeom>
          <a:solidFill>
            <a:srgbClr val="BF2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1952625"/>
            <a:ext cx="5372100" cy="2171700"/>
          </a:xfrm>
          <a:prstGeom prst="roundRect">
            <a:avLst>
              <a:gd name="adj" fmla="val 3508"/>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1" name="TextBox 10"/>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Scrum in Alumnex Connect</a:t>
            </a:r>
          </a:p>
        </p:txBody>
      </p:sp>
      <p:sp>
        <p:nvSpPr>
          <p:cNvPr id="12" name="TextBox 11"/>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3" name="TextBox 12"/>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4" name="TextBox 13"/>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5" name="TextBox 14"/>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6" name="TextBox 15"/>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7" name="TextBox 16"/>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8" name="TextBox 17"/>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9" name="TextBox 18"/>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0" name="TextBox 19"/>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1" name="TextBox 20"/>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2" name="TextBox 21"/>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3" name="TextBox 22"/>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4" name="TextBox 23"/>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5" name="TextBox 24"/>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6" name="TextBox 25"/>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7" name="TextBox 26"/>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8" name="TextBox 27"/>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9" name="TextBox 28"/>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0" name="TextBox 29"/>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1" name="TextBox 30"/>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2" name="TextBox 31"/>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3" name="TextBox 32"/>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4" name="TextBox 33"/>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5" name="TextBox 34"/>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6" name="TextBox 35"/>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7" name="TextBox 36"/>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8" name="TextBox 37"/>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9" name="TextBox 38"/>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0" name="TextBox 39"/>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1" name="TextBox 40"/>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2" name="TextBox 41"/>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3" name="TextBox 42"/>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4" name="TextBox 43"/>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5" name="TextBox 44"/>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6" name="TextBox 45"/>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7" name="TextBox 46"/>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8" name="TextBox 47"/>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9" name="TextBox 48"/>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0" name="TextBox 49"/>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1" name="TextBox 50"/>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2" name="TextBox 51"/>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3" name="TextBox 52"/>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4" name="TextBox 53"/>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5" name="TextBox 54"/>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6" name="TextBox 55"/>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7" name="TextBox 56"/>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8" name="TextBox 57"/>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9" name="TextBox 58"/>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0" name="TextBox 59"/>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1" name="TextBox 60"/>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2" name="TextBox 61"/>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3" name="TextBox 62"/>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4" name="TextBox 63"/>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5" name="TextBox 64"/>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6" name="TextBox 65"/>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7" name="TextBox 66"/>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8" name="TextBox 67"/>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9" name="TextBox 68"/>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0" name="TextBox 69"/>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1" name="TextBox 70"/>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2" name="TextBox 71"/>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3" name="TextBox 72"/>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4" name="TextBox 73"/>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5" name="TextBox 74"/>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6" name="TextBox 75"/>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7" name="TextBox 76"/>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8" name="TextBox 77"/>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9" name="TextBox 78"/>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0" name="TextBox 79"/>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1" name="TextBox 80"/>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2" name="TextBox 81"/>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3" name="TextBox 82"/>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4" name="TextBox 83"/>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5" name="TextBox 84"/>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6" name="TextBox 85"/>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7" name="TextBox 86"/>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8" name="TextBox 87"/>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9" name="TextBox 88"/>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0" name="TextBox 89"/>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1" name="TextBox 90"/>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2" name="TextBox 91"/>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3" name="TextBox 92"/>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4" name="TextBox 93"/>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5" name="TextBox 94"/>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6" name="TextBox 95"/>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7" name="TextBox 96"/>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8" name="TextBox 97"/>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9" name="TextBox 98"/>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0" name="TextBox 99"/>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1" name="TextBox 100"/>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2" name="TextBox 101"/>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3" name="TextBox 102"/>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4" name="TextBox 103"/>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5" name="TextBox 104"/>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6" name="TextBox 105"/>
          <p:cNvSpPr txBox="1"/>
          <p:nvPr/>
        </p:nvSpPr>
        <p:spPr>
          <a:xfrm>
            <a:off x="800100" y="5695950"/>
            <a:ext cx="10725150" cy="400050"/>
          </a:xfrm>
          <a:prstGeom prst="rect">
            <a:avLst/>
          </a:prstGeom>
          <a:noFill/>
        </p:spPr>
        <p:txBody>
          <a:bodyPr wrap="square" lIns="0" rIns="0" tIns="0" bIns="0" anchor="t">
            <a:spAutoFit/>
          </a:bodyPr>
          <a:lstStyle/>
          <a:p>
            <a:pPr algn="l"/>
            <a:r>
              <a:rPr b="1" sz="1350" i="0" u="none">
                <a:solidFill>
                  <a:srgbClr val="172B4D"/>
                </a:solidFill>
                <a:latin typeface="Inter"/>
              </a:rPr>
              <a:t>Important Note: These stories document the intended Scrum operating model. The current simple KAN board does not execute native Jira Scrum Sprints.</a:t>
            </a:r>
          </a:p>
        </p:txBody>
      </p:sp>
      <p:sp>
        <p:nvSpPr>
          <p:cNvPr id="107" name="TextBox 106"/>
          <p:cNvSpPr txBox="1"/>
          <p:nvPr/>
        </p:nvSpPr>
        <p:spPr>
          <a:xfrm>
            <a:off x="609600" y="1571625"/>
            <a:ext cx="6715125" cy="228600"/>
          </a:xfrm>
          <a:prstGeom prst="rect">
            <a:avLst/>
          </a:prstGeom>
          <a:noFill/>
        </p:spPr>
        <p:txBody>
          <a:bodyPr wrap="none" lIns="0" rIns="0" tIns="0" bIns="0" anchor="t">
            <a:spAutoFit/>
          </a:bodyPr>
          <a:lstStyle/>
          <a:p>
            <a:pPr algn="l"/>
            <a:r>
              <a:rPr b="1" sz="1500" i="0" u="none">
                <a:solidFill>
                  <a:srgbClr val="172B4D"/>
                </a:solidFill>
                <a:latin typeface="Inter"/>
              </a:rPr>
              <a:t>Scrum Framework Intent</a:t>
            </a:r>
          </a:p>
        </p:txBody>
      </p:sp>
      <p:sp>
        <p:nvSpPr>
          <p:cNvPr id="108" name="TextBox 107"/>
          <p:cNvSpPr txBox="1"/>
          <p:nvPr/>
        </p:nvSpPr>
        <p:spPr>
          <a:xfrm>
            <a:off x="6210300" y="1571625"/>
            <a:ext cx="5981700" cy="228600"/>
          </a:xfrm>
          <a:prstGeom prst="rect">
            <a:avLst/>
          </a:prstGeom>
          <a:noFill/>
        </p:spPr>
        <p:txBody>
          <a:bodyPr wrap="none" lIns="0" rIns="0" tIns="0" bIns="0" anchor="t">
            <a:spAutoFit/>
          </a:bodyPr>
          <a:lstStyle/>
          <a:p>
            <a:pPr algn="l"/>
            <a:r>
              <a:rPr b="1" sz="1500" i="0" u="none">
                <a:solidFill>
                  <a:srgbClr val="0052CC"/>
                </a:solidFill>
                <a:latin typeface="Inter"/>
              </a:rPr>
              <a:t>Mapped to Jira Governance Stories</a:t>
            </a:r>
          </a:p>
        </p:txBody>
      </p:sp>
      <p:sp>
        <p:nvSpPr>
          <p:cNvPr id="109" name="TextBox 108"/>
          <p:cNvSpPr txBox="1"/>
          <p:nvPr/>
        </p:nvSpPr>
        <p:spPr>
          <a:xfrm>
            <a:off x="838200" y="2181225"/>
            <a:ext cx="6143625" cy="190500"/>
          </a:xfrm>
          <a:prstGeom prst="rect">
            <a:avLst/>
          </a:prstGeom>
          <a:noFill/>
        </p:spPr>
        <p:txBody>
          <a:bodyPr wrap="none" lIns="0" rIns="0" tIns="0" bIns="0" anchor="t">
            <a:spAutoFit/>
          </a:bodyPr>
          <a:lstStyle/>
          <a:p>
            <a:pPr algn="l"/>
            <a:r>
              <a:rPr b="0" sz="1200" i="0" u="none">
                <a:solidFill>
                  <a:srgbClr val="172B4D"/>
                </a:solidFill>
                <a:latin typeface="Inter"/>
              </a:rPr>
              <a:t>1. Product Backlog Refinement</a:t>
            </a:r>
          </a:p>
        </p:txBody>
      </p:sp>
      <p:sp>
        <p:nvSpPr>
          <p:cNvPr id="110" name="TextBox 109"/>
          <p:cNvSpPr txBox="1"/>
          <p:nvPr/>
        </p:nvSpPr>
        <p:spPr>
          <a:xfrm>
            <a:off x="838200" y="2486025"/>
            <a:ext cx="6143625" cy="190500"/>
          </a:xfrm>
          <a:prstGeom prst="rect">
            <a:avLst/>
          </a:prstGeom>
          <a:noFill/>
        </p:spPr>
        <p:txBody>
          <a:bodyPr wrap="none" lIns="0" rIns="0" tIns="0" bIns="0" anchor="t">
            <a:spAutoFit/>
          </a:bodyPr>
          <a:lstStyle/>
          <a:p>
            <a:pPr algn="l"/>
            <a:r>
              <a:rPr b="0" sz="1200" i="0" u="none">
                <a:solidFill>
                  <a:srgbClr val="172B4D"/>
                </a:solidFill>
                <a:latin typeface="Inter"/>
              </a:rPr>
              <a:t>2. Sprint Planning &amp; Goal</a:t>
            </a:r>
          </a:p>
        </p:txBody>
      </p:sp>
      <p:sp>
        <p:nvSpPr>
          <p:cNvPr id="111" name="TextBox 110"/>
          <p:cNvSpPr txBox="1"/>
          <p:nvPr/>
        </p:nvSpPr>
        <p:spPr>
          <a:xfrm>
            <a:off x="838200" y="2790825"/>
            <a:ext cx="6143625" cy="190500"/>
          </a:xfrm>
          <a:prstGeom prst="rect">
            <a:avLst/>
          </a:prstGeom>
          <a:noFill/>
        </p:spPr>
        <p:txBody>
          <a:bodyPr wrap="none" lIns="0" rIns="0" tIns="0" bIns="0" anchor="t">
            <a:spAutoFit/>
          </a:bodyPr>
          <a:lstStyle/>
          <a:p>
            <a:pPr algn="l"/>
            <a:r>
              <a:rPr b="0" sz="1200" i="0" u="none">
                <a:solidFill>
                  <a:srgbClr val="172B4D"/>
                </a:solidFill>
                <a:latin typeface="Inter"/>
              </a:rPr>
              <a:t>3. Development &amp; Daily Scrum</a:t>
            </a:r>
          </a:p>
        </p:txBody>
      </p:sp>
      <p:sp>
        <p:nvSpPr>
          <p:cNvPr id="112" name="TextBox 111"/>
          <p:cNvSpPr txBox="1"/>
          <p:nvPr/>
        </p:nvSpPr>
        <p:spPr>
          <a:xfrm>
            <a:off x="838200" y="3095625"/>
            <a:ext cx="6143625" cy="190500"/>
          </a:xfrm>
          <a:prstGeom prst="rect">
            <a:avLst/>
          </a:prstGeom>
          <a:noFill/>
        </p:spPr>
        <p:txBody>
          <a:bodyPr wrap="none" lIns="0" rIns="0" tIns="0" bIns="0" anchor="t">
            <a:spAutoFit/>
          </a:bodyPr>
          <a:lstStyle/>
          <a:p>
            <a:pPr algn="l"/>
            <a:r>
              <a:rPr b="0" sz="1200" i="0" u="none">
                <a:solidFill>
                  <a:srgbClr val="172B4D"/>
                </a:solidFill>
                <a:latin typeface="Inter"/>
              </a:rPr>
              <a:t>4. Test &amp; Integrate</a:t>
            </a:r>
          </a:p>
        </p:txBody>
      </p:sp>
      <p:sp>
        <p:nvSpPr>
          <p:cNvPr id="113" name="TextBox 112"/>
          <p:cNvSpPr txBox="1"/>
          <p:nvPr/>
        </p:nvSpPr>
        <p:spPr>
          <a:xfrm>
            <a:off x="838200" y="3400425"/>
            <a:ext cx="6143625" cy="190500"/>
          </a:xfrm>
          <a:prstGeom prst="rect">
            <a:avLst/>
          </a:prstGeom>
          <a:noFill/>
        </p:spPr>
        <p:txBody>
          <a:bodyPr wrap="none" lIns="0" rIns="0" tIns="0" bIns="0" anchor="t">
            <a:spAutoFit/>
          </a:bodyPr>
          <a:lstStyle/>
          <a:p>
            <a:pPr algn="l"/>
            <a:r>
              <a:rPr b="0" sz="1200" i="0" u="none">
                <a:solidFill>
                  <a:srgbClr val="172B4D"/>
                </a:solidFill>
                <a:latin typeface="Inter"/>
              </a:rPr>
              <a:t>5. Sprint Review</a:t>
            </a:r>
          </a:p>
        </p:txBody>
      </p:sp>
      <p:sp>
        <p:nvSpPr>
          <p:cNvPr id="114" name="TextBox 113"/>
          <p:cNvSpPr txBox="1"/>
          <p:nvPr/>
        </p:nvSpPr>
        <p:spPr>
          <a:xfrm>
            <a:off x="838200" y="3705225"/>
            <a:ext cx="6143625" cy="190500"/>
          </a:xfrm>
          <a:prstGeom prst="rect">
            <a:avLst/>
          </a:prstGeom>
          <a:noFill/>
        </p:spPr>
        <p:txBody>
          <a:bodyPr wrap="none" lIns="0" rIns="0" tIns="0" bIns="0" anchor="t">
            <a:spAutoFit/>
          </a:bodyPr>
          <a:lstStyle/>
          <a:p>
            <a:pPr algn="l"/>
            <a:r>
              <a:rPr b="0" sz="1200" i="0" u="none">
                <a:solidFill>
                  <a:srgbClr val="172B4D"/>
                </a:solidFill>
                <a:latin typeface="Inter"/>
              </a:rPr>
              <a:t>6. Retrospective</a:t>
            </a:r>
          </a:p>
        </p:txBody>
      </p:sp>
      <p:sp>
        <p:nvSpPr>
          <p:cNvPr id="115" name="TextBox 114"/>
          <p:cNvSpPr txBox="1"/>
          <p:nvPr/>
        </p:nvSpPr>
        <p:spPr>
          <a:xfrm>
            <a:off x="6210300" y="1952625"/>
            <a:ext cx="5981700" cy="190500"/>
          </a:xfrm>
          <a:prstGeom prst="rect">
            <a:avLst/>
          </a:prstGeom>
          <a:noFill/>
        </p:spPr>
        <p:txBody>
          <a:bodyPr wrap="none" lIns="0" rIns="0" tIns="0" bIns="0" anchor="t">
            <a:spAutoFit/>
          </a:bodyPr>
          <a:lstStyle/>
          <a:p>
            <a:pPr algn="l"/>
            <a:r>
              <a:rPr b="1" sz="1200" i="0" u="none">
                <a:solidFill>
                  <a:srgbClr val="172B4D"/>
                </a:solidFill>
                <a:latin typeface="Inter"/>
              </a:rPr>
              <a:t>KAN-55:</a:t>
            </a:r>
            <a:r>
              <a:rPr b="0" sz="1200" i="0" u="none">
                <a:solidFill>
                  <a:srgbClr val="172B4D"/>
                </a:solidFill>
                <a:latin typeface="Inter"/>
              </a:rPr>
              <a:t> Product Backlog</a:t>
            </a:r>
          </a:p>
        </p:txBody>
      </p:sp>
      <p:sp>
        <p:nvSpPr>
          <p:cNvPr id="116" name="TextBox 115"/>
          <p:cNvSpPr txBox="1"/>
          <p:nvPr/>
        </p:nvSpPr>
        <p:spPr>
          <a:xfrm>
            <a:off x="6210300" y="2257425"/>
            <a:ext cx="5981700" cy="190500"/>
          </a:xfrm>
          <a:prstGeom prst="rect">
            <a:avLst/>
          </a:prstGeom>
          <a:noFill/>
        </p:spPr>
        <p:txBody>
          <a:bodyPr wrap="none" lIns="0" rIns="0" tIns="0" bIns="0" anchor="t">
            <a:spAutoFit/>
          </a:bodyPr>
          <a:lstStyle/>
          <a:p>
            <a:pPr algn="l"/>
            <a:r>
              <a:rPr b="1" sz="1200" i="0" u="none">
                <a:solidFill>
                  <a:srgbClr val="172B4D"/>
                </a:solidFill>
                <a:latin typeface="Inter"/>
              </a:rPr>
              <a:t>KAN-56:</a:t>
            </a:r>
            <a:r>
              <a:rPr b="0" sz="1200" i="0" u="none">
                <a:solidFill>
                  <a:srgbClr val="172B4D"/>
                </a:solidFill>
                <a:latin typeface="Inter"/>
              </a:rPr>
              <a:t> Sprint Planning</a:t>
            </a:r>
          </a:p>
        </p:txBody>
      </p:sp>
      <p:sp>
        <p:nvSpPr>
          <p:cNvPr id="117" name="TextBox 116"/>
          <p:cNvSpPr txBox="1"/>
          <p:nvPr/>
        </p:nvSpPr>
        <p:spPr>
          <a:xfrm>
            <a:off x="6210300" y="2562225"/>
            <a:ext cx="5981700" cy="190500"/>
          </a:xfrm>
          <a:prstGeom prst="rect">
            <a:avLst/>
          </a:prstGeom>
          <a:noFill/>
        </p:spPr>
        <p:txBody>
          <a:bodyPr wrap="none" lIns="0" rIns="0" tIns="0" bIns="0" anchor="t">
            <a:spAutoFit/>
          </a:bodyPr>
          <a:lstStyle/>
          <a:p>
            <a:pPr algn="l"/>
            <a:r>
              <a:rPr b="1" sz="1200" i="0" u="none">
                <a:solidFill>
                  <a:srgbClr val="172B4D"/>
                </a:solidFill>
                <a:latin typeface="Inter"/>
              </a:rPr>
              <a:t>KAN-57:</a:t>
            </a:r>
            <a:r>
              <a:rPr b="0" sz="1200" i="0" u="none">
                <a:solidFill>
                  <a:srgbClr val="172B4D"/>
                </a:solidFill>
                <a:latin typeface="Inter"/>
              </a:rPr>
              <a:t> Daily Scrum Tracking</a:t>
            </a:r>
          </a:p>
        </p:txBody>
      </p:sp>
      <p:sp>
        <p:nvSpPr>
          <p:cNvPr id="118" name="TextBox 117"/>
          <p:cNvSpPr txBox="1"/>
          <p:nvPr/>
        </p:nvSpPr>
        <p:spPr>
          <a:xfrm>
            <a:off x="6210300" y="2867025"/>
            <a:ext cx="5981700" cy="190500"/>
          </a:xfrm>
          <a:prstGeom prst="rect">
            <a:avLst/>
          </a:prstGeom>
          <a:noFill/>
        </p:spPr>
        <p:txBody>
          <a:bodyPr wrap="none" lIns="0" rIns="0" tIns="0" bIns="0" anchor="t">
            <a:spAutoFit/>
          </a:bodyPr>
          <a:lstStyle/>
          <a:p>
            <a:pPr algn="l"/>
            <a:r>
              <a:rPr b="1" sz="1200" i="0" u="none">
                <a:solidFill>
                  <a:srgbClr val="172B4D"/>
                </a:solidFill>
                <a:latin typeface="Inter"/>
              </a:rPr>
              <a:t>KAN-58:</a:t>
            </a:r>
            <a:r>
              <a:rPr b="0" sz="1200" i="0" u="none">
                <a:solidFill>
                  <a:srgbClr val="172B4D"/>
                </a:solidFill>
                <a:latin typeface="Inter"/>
              </a:rPr>
              <a:t> Sprint Review</a:t>
            </a:r>
          </a:p>
        </p:txBody>
      </p:sp>
      <p:sp>
        <p:nvSpPr>
          <p:cNvPr id="119" name="TextBox 118"/>
          <p:cNvSpPr txBox="1"/>
          <p:nvPr/>
        </p:nvSpPr>
        <p:spPr>
          <a:xfrm>
            <a:off x="6210300" y="3171825"/>
            <a:ext cx="5981700" cy="190500"/>
          </a:xfrm>
          <a:prstGeom prst="rect">
            <a:avLst/>
          </a:prstGeom>
          <a:noFill/>
        </p:spPr>
        <p:txBody>
          <a:bodyPr wrap="none" lIns="0" rIns="0" tIns="0" bIns="0" anchor="t">
            <a:spAutoFit/>
          </a:bodyPr>
          <a:lstStyle/>
          <a:p>
            <a:pPr algn="l"/>
            <a:r>
              <a:rPr b="1" sz="1200" i="0" u="none">
                <a:solidFill>
                  <a:srgbClr val="172B4D"/>
                </a:solidFill>
                <a:latin typeface="Inter"/>
              </a:rPr>
              <a:t>KAN-59:</a:t>
            </a:r>
            <a:r>
              <a:rPr b="0" sz="1200" i="0" u="none">
                <a:solidFill>
                  <a:srgbClr val="172B4D"/>
                </a:solidFill>
                <a:latin typeface="Inter"/>
              </a:rPr>
              <a:t> Retrospective</a:t>
            </a:r>
          </a:p>
        </p:txBody>
      </p:sp>
      <p:sp>
        <p:nvSpPr>
          <p:cNvPr id="120" name="TextBox 119"/>
          <p:cNvSpPr txBox="1"/>
          <p:nvPr/>
        </p:nvSpPr>
        <p:spPr>
          <a:xfrm>
            <a:off x="6210300" y="3476625"/>
            <a:ext cx="5981700" cy="190500"/>
          </a:xfrm>
          <a:prstGeom prst="rect">
            <a:avLst/>
          </a:prstGeom>
          <a:noFill/>
        </p:spPr>
        <p:txBody>
          <a:bodyPr wrap="none" lIns="0" rIns="0" tIns="0" bIns="0" anchor="t">
            <a:spAutoFit/>
          </a:bodyPr>
          <a:lstStyle/>
          <a:p>
            <a:pPr algn="l"/>
            <a:r>
              <a:rPr b="1" sz="1200" i="0" u="none">
                <a:solidFill>
                  <a:srgbClr val="172B4D"/>
                </a:solidFill>
                <a:latin typeface="Inter"/>
              </a:rPr>
              <a:t>KAN-60:</a:t>
            </a:r>
            <a:r>
              <a:rPr b="0" sz="1200" i="0" u="none">
                <a:solidFill>
                  <a:srgbClr val="172B4D"/>
                </a:solidFill>
                <a:latin typeface="Inter"/>
              </a:rPr>
              <a:t> DoR / DoD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2105025"/>
            <a:ext cx="5334000" cy="19240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48400" y="2105025"/>
            <a:ext cx="5334000" cy="19240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4333875"/>
            <a:ext cx="5334000" cy="1914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48400" y="4333875"/>
            <a:ext cx="5334000" cy="1914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4019550"/>
            <a:ext cx="533400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8400" y="4019550"/>
            <a:ext cx="533400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600" y="6238875"/>
            <a:ext cx="533400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6238875"/>
            <a:ext cx="533400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6" name="TextBox 15"/>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Kanban in Alumnex Connect</a:t>
            </a:r>
          </a:p>
        </p:txBody>
      </p:sp>
      <p:sp>
        <p:nvSpPr>
          <p:cNvPr id="17" name="TextBox 16"/>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Kanban is the strongest direct operational interpretation of the current Jira board.</a:t>
            </a:r>
          </a:p>
        </p:txBody>
      </p:sp>
      <p:sp>
        <p:nvSpPr>
          <p:cNvPr id="18" name="TextBox 17"/>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9" name="TextBox 18"/>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0" name="TextBox 19"/>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1" name="TextBox 20"/>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2" name="TextBox 21"/>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3" name="TextBox 22"/>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4" name="TextBox 23"/>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5" name="TextBox 24"/>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6" name="TextBox 25"/>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7" name="TextBox 26"/>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8" name="TextBox 27"/>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9" name="TextBox 28"/>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0" name="TextBox 29"/>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1" name="TextBox 30"/>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2" name="TextBox 31"/>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3" name="TextBox 32"/>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4" name="TextBox 33"/>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5" name="TextBox 34"/>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6" name="TextBox 35"/>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7" name="TextBox 36"/>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8" name="TextBox 37"/>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9" name="TextBox 38"/>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0" name="TextBox 39"/>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1" name="TextBox 40"/>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2" name="TextBox 41"/>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3" name="TextBox 42"/>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4" name="TextBox 43"/>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5" name="TextBox 44"/>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6" name="TextBox 45"/>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7" name="TextBox 46"/>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8" name="TextBox 47"/>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9" name="TextBox 48"/>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0" name="TextBox 49"/>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1" name="TextBox 50"/>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2" name="TextBox 51"/>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3" name="TextBox 52"/>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4" name="TextBox 53"/>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5" name="TextBox 54"/>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6" name="TextBox 55"/>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7" name="TextBox 56"/>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8" name="TextBox 57"/>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9" name="TextBox 58"/>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0" name="TextBox 59"/>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1" name="TextBox 60"/>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2" name="TextBox 61"/>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3" name="TextBox 62"/>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4" name="TextBox 63"/>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5" name="TextBox 64"/>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6" name="TextBox 65"/>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7" name="TextBox 66"/>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8" name="TextBox 67"/>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9" name="TextBox 68"/>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0" name="TextBox 69"/>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1" name="TextBox 70"/>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2" name="TextBox 71"/>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3" name="TextBox 72"/>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4" name="TextBox 73"/>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5" name="TextBox 74"/>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6" name="TextBox 75"/>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7" name="TextBox 76"/>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8" name="TextBox 77"/>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9" name="TextBox 78"/>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0" name="TextBox 79"/>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1" name="TextBox 80"/>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2" name="TextBox 81"/>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3" name="TextBox 82"/>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4" name="TextBox 83"/>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5" name="TextBox 84"/>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6" name="TextBox 85"/>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7" name="TextBox 86"/>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8" name="TextBox 87"/>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9" name="TextBox 88"/>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0" name="TextBox 89"/>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1" name="TextBox 90"/>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2" name="TextBox 91"/>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3" name="TextBox 92"/>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4" name="TextBox 93"/>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5" name="TextBox 94"/>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6" name="TextBox 95"/>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7" name="TextBox 96"/>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8" name="TextBox 97"/>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9" name="TextBox 98"/>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0" name="TextBox 99"/>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1" name="TextBox 100"/>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2" name="TextBox 101"/>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3" name="TextBox 102"/>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4" name="TextBox 103"/>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5" name="TextBox 104"/>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6" name="TextBox 105"/>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7" name="TextBox 106"/>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8" name="TextBox 107"/>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9" name="TextBox 108"/>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0" name="TextBox 109"/>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1" name="TextBox 110"/>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2" name="TextBox 111"/>
          <p:cNvSpPr txBox="1"/>
          <p:nvPr/>
        </p:nvSpPr>
        <p:spPr>
          <a:xfrm>
            <a:off x="609600" y="2105025"/>
            <a:ext cx="6667500" cy="228600"/>
          </a:xfrm>
          <a:prstGeom prst="rect">
            <a:avLst/>
          </a:prstGeom>
          <a:noFill/>
        </p:spPr>
        <p:txBody>
          <a:bodyPr wrap="none" lIns="0" rIns="0" tIns="0" bIns="0" anchor="t">
            <a:spAutoFit/>
          </a:bodyPr>
          <a:lstStyle/>
          <a:p>
            <a:pPr algn="l"/>
            <a:r>
              <a:rPr b="1" sz="1500" i="0" u="none">
                <a:solidFill>
                  <a:srgbClr val="0052CC"/>
                </a:solidFill>
                <a:latin typeface="Inter"/>
              </a:rPr>
              <a:t>Visualize Work</a:t>
            </a:r>
          </a:p>
        </p:txBody>
      </p:sp>
      <p:sp>
        <p:nvSpPr>
          <p:cNvPr id="113" name="TextBox 112"/>
          <p:cNvSpPr txBox="1"/>
          <p:nvPr/>
        </p:nvSpPr>
        <p:spPr>
          <a:xfrm>
            <a:off x="609600" y="2409825"/>
            <a:ext cx="6667500" cy="200025"/>
          </a:xfrm>
          <a:prstGeom prst="rect">
            <a:avLst/>
          </a:prstGeom>
          <a:noFill/>
        </p:spPr>
        <p:txBody>
          <a:bodyPr wrap="none" lIns="0" rIns="0" tIns="0" bIns="0" anchor="t">
            <a:spAutoFit/>
          </a:bodyPr>
          <a:lstStyle/>
          <a:p>
            <a:pPr algn="l"/>
            <a:r>
              <a:rPr b="0" sz="1350" i="0" u="none">
                <a:solidFill>
                  <a:srgbClr val="172B4D"/>
                </a:solidFill>
                <a:latin typeface="Inter"/>
              </a:rPr>
              <a:t>Achieved via the Jira Board UI.</a:t>
            </a:r>
          </a:p>
        </p:txBody>
      </p:sp>
      <p:sp>
        <p:nvSpPr>
          <p:cNvPr id="114" name="TextBox 113"/>
          <p:cNvSpPr txBox="1"/>
          <p:nvPr/>
        </p:nvSpPr>
        <p:spPr>
          <a:xfrm>
            <a:off x="6248400" y="2105025"/>
            <a:ext cx="5943600" cy="228600"/>
          </a:xfrm>
          <a:prstGeom prst="rect">
            <a:avLst/>
          </a:prstGeom>
          <a:noFill/>
        </p:spPr>
        <p:txBody>
          <a:bodyPr wrap="none" lIns="0" rIns="0" tIns="0" bIns="0" anchor="t">
            <a:spAutoFit/>
          </a:bodyPr>
          <a:lstStyle/>
          <a:p>
            <a:pPr algn="l"/>
            <a:r>
              <a:rPr b="1" sz="1500" i="0" u="none">
                <a:solidFill>
                  <a:srgbClr val="0052CC"/>
                </a:solidFill>
                <a:latin typeface="Inter"/>
              </a:rPr>
              <a:t>Continuous Flow</a:t>
            </a:r>
          </a:p>
        </p:txBody>
      </p:sp>
      <p:sp>
        <p:nvSpPr>
          <p:cNvPr id="115" name="TextBox 114"/>
          <p:cNvSpPr txBox="1"/>
          <p:nvPr/>
        </p:nvSpPr>
        <p:spPr>
          <a:xfrm>
            <a:off x="6248400" y="2409825"/>
            <a:ext cx="5943600" cy="209550"/>
          </a:xfrm>
          <a:prstGeom prst="rect">
            <a:avLst/>
          </a:prstGeom>
          <a:noFill/>
        </p:spPr>
        <p:txBody>
          <a:bodyPr wrap="none" lIns="0" rIns="0" tIns="0" bIns="0" anchor="t">
            <a:spAutoFit/>
          </a:bodyPr>
          <a:lstStyle/>
          <a:p>
            <a:pPr algn="l"/>
            <a:r>
              <a:rPr b="0" sz="1350" i="0" u="none">
                <a:solidFill>
                  <a:srgbClr val="172B4D"/>
                </a:solidFill>
                <a:latin typeface="Inter"/>
              </a:rPr>
              <a:t>Idea → To Do → In Progress → Review → Done.</a:t>
            </a:r>
          </a:p>
        </p:txBody>
      </p:sp>
      <p:sp>
        <p:nvSpPr>
          <p:cNvPr id="116" name="TextBox 115"/>
          <p:cNvSpPr txBox="1"/>
          <p:nvPr/>
        </p:nvSpPr>
        <p:spPr>
          <a:xfrm>
            <a:off x="609600" y="4333875"/>
            <a:ext cx="6667500" cy="228600"/>
          </a:xfrm>
          <a:prstGeom prst="rect">
            <a:avLst/>
          </a:prstGeom>
          <a:noFill/>
        </p:spPr>
        <p:txBody>
          <a:bodyPr wrap="none" lIns="0" rIns="0" tIns="0" bIns="0" anchor="t">
            <a:spAutoFit/>
          </a:bodyPr>
          <a:lstStyle/>
          <a:p>
            <a:pPr algn="l"/>
            <a:r>
              <a:rPr b="1" sz="1500" i="0" u="none">
                <a:solidFill>
                  <a:srgbClr val="0052CC"/>
                </a:solidFill>
                <a:latin typeface="Inter"/>
              </a:rPr>
              <a:t>Identify Bottlenecks</a:t>
            </a:r>
          </a:p>
        </p:txBody>
      </p:sp>
      <p:sp>
        <p:nvSpPr>
          <p:cNvPr id="117" name="TextBox 116"/>
          <p:cNvSpPr txBox="1"/>
          <p:nvPr/>
        </p:nvSpPr>
        <p:spPr>
          <a:xfrm>
            <a:off x="609600" y="4638675"/>
            <a:ext cx="6667500" cy="200025"/>
          </a:xfrm>
          <a:prstGeom prst="rect">
            <a:avLst/>
          </a:prstGeom>
          <a:noFill/>
        </p:spPr>
        <p:txBody>
          <a:bodyPr wrap="none" lIns="0" rIns="0" tIns="0" bIns="0" anchor="t">
            <a:spAutoFit/>
          </a:bodyPr>
          <a:lstStyle/>
          <a:p>
            <a:pPr algn="l"/>
            <a:r>
              <a:rPr b="0" sz="1350" i="0" u="none">
                <a:solidFill>
                  <a:srgbClr val="172B4D"/>
                </a:solidFill>
                <a:latin typeface="Inter"/>
              </a:rPr>
              <a:t>Visibility into 'In Review' vs 'In Progress' states.</a:t>
            </a:r>
          </a:p>
        </p:txBody>
      </p:sp>
      <p:sp>
        <p:nvSpPr>
          <p:cNvPr id="118" name="TextBox 117"/>
          <p:cNvSpPr txBox="1"/>
          <p:nvPr/>
        </p:nvSpPr>
        <p:spPr>
          <a:xfrm>
            <a:off x="6248400" y="4333875"/>
            <a:ext cx="5943600" cy="228600"/>
          </a:xfrm>
          <a:prstGeom prst="rect">
            <a:avLst/>
          </a:prstGeom>
          <a:noFill/>
        </p:spPr>
        <p:txBody>
          <a:bodyPr wrap="none" lIns="0" rIns="0" tIns="0" bIns="0" anchor="t">
            <a:spAutoFit/>
          </a:bodyPr>
          <a:lstStyle/>
          <a:p>
            <a:pPr algn="l"/>
            <a:r>
              <a:rPr b="1" sz="1500" i="0" u="none">
                <a:solidFill>
                  <a:srgbClr val="0052CC"/>
                </a:solidFill>
                <a:latin typeface="Inter"/>
              </a:rPr>
              <a:t>Continuous Delivery Mindset</a:t>
            </a:r>
          </a:p>
        </p:txBody>
      </p:sp>
      <p:sp>
        <p:nvSpPr>
          <p:cNvPr id="119" name="TextBox 118"/>
          <p:cNvSpPr txBox="1"/>
          <p:nvPr/>
        </p:nvSpPr>
        <p:spPr>
          <a:xfrm>
            <a:off x="6248400" y="4638675"/>
            <a:ext cx="5943600" cy="200025"/>
          </a:xfrm>
          <a:prstGeom prst="rect">
            <a:avLst/>
          </a:prstGeom>
          <a:noFill/>
        </p:spPr>
        <p:txBody>
          <a:bodyPr wrap="none" lIns="0" rIns="0" tIns="0" bIns="0" anchor="t">
            <a:spAutoFit/>
          </a:bodyPr>
          <a:lstStyle/>
          <a:p>
            <a:pPr algn="l"/>
            <a:r>
              <a:rPr b="0" sz="1350" i="0" u="none">
                <a:solidFill>
                  <a:srgbClr val="172B4D"/>
                </a:solidFill>
                <a:latin typeface="Inter"/>
              </a:rPr>
              <a:t>Pulling work through the workflow naturally.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105025"/>
            <a:ext cx="10972800" cy="609600"/>
          </a:xfrm>
          <a:prstGeom prst="roundRect">
            <a:avLst>
              <a:gd name="adj" fmla="val 12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2867025"/>
            <a:ext cx="10972800" cy="609600"/>
          </a:xfrm>
          <a:prstGeom prst="roundRect">
            <a:avLst>
              <a:gd name="adj" fmla="val 12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3629025"/>
            <a:ext cx="10972800" cy="609600"/>
          </a:xfrm>
          <a:prstGeom prst="roundRect">
            <a:avLst>
              <a:gd name="adj" fmla="val 12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4391025"/>
            <a:ext cx="10972800" cy="609600"/>
          </a:xfrm>
          <a:prstGeom prst="roundRect">
            <a:avLst>
              <a:gd name="adj" fmla="val 12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2" name="TextBox 11"/>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XP (Extreme Programming) Principles</a:t>
            </a:r>
          </a:p>
        </p:txBody>
      </p:sp>
      <p:sp>
        <p:nvSpPr>
          <p:cNvPr id="13" name="TextBox 12"/>
          <p:cNvSpPr txBox="1"/>
          <p:nvPr/>
        </p:nvSpPr>
        <p:spPr>
          <a:xfrm>
            <a:off x="609600" y="1571625"/>
            <a:ext cx="11582400" cy="228600"/>
          </a:xfrm>
          <a:prstGeom prst="rect">
            <a:avLst/>
          </a:prstGeom>
          <a:noFill/>
        </p:spPr>
        <p:txBody>
          <a:bodyPr wrap="none" lIns="0" rIns="0" tIns="0" bIns="0" anchor="t">
            <a:spAutoFit/>
          </a:bodyPr>
          <a:lstStyle/>
          <a:p>
            <a:pPr algn="l"/>
            <a:r>
              <a:rPr b="1" sz="1500" i="0" u="none">
                <a:solidFill>
                  <a:srgbClr val="172B4D"/>
                </a:solidFill>
                <a:latin typeface="Inter"/>
              </a:rPr>
              <a:t>XP engineering practices are represented as backlog and quality standards.</a:t>
            </a:r>
          </a:p>
        </p:txBody>
      </p:sp>
      <p:sp>
        <p:nvSpPr>
          <p:cNvPr id="14" name="TextBox 13"/>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5" name="TextBox 14"/>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6" name="TextBox 15"/>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7" name="TextBox 16"/>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8" name="TextBox 17"/>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9" name="TextBox 18"/>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0" name="TextBox 19"/>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1" name="TextBox 20"/>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2" name="TextBox 21"/>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3" name="TextBox 22"/>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4" name="TextBox 23"/>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5" name="TextBox 24"/>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6" name="TextBox 25"/>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7" name="TextBox 26"/>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8" name="TextBox 27"/>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9" name="TextBox 28"/>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0" name="TextBox 29"/>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1" name="TextBox 30"/>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2" name="TextBox 31"/>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3" name="TextBox 32"/>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4" name="TextBox 33"/>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5" name="TextBox 34"/>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6" name="TextBox 35"/>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7" name="TextBox 36"/>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8" name="TextBox 37"/>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9" name="TextBox 38"/>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0" name="TextBox 39"/>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1" name="TextBox 40"/>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2" name="TextBox 41"/>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3" name="TextBox 42"/>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4" name="TextBox 43"/>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5" name="TextBox 44"/>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6" name="TextBox 45"/>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7" name="TextBox 46"/>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8" name="TextBox 47"/>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9" name="TextBox 48"/>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0" name="TextBox 49"/>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1" name="TextBox 50"/>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2" name="TextBox 51"/>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3" name="TextBox 52"/>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4" name="TextBox 53"/>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5" name="TextBox 54"/>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6" name="TextBox 55"/>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7" name="TextBox 56"/>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8" name="TextBox 57"/>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9" name="TextBox 58"/>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0" name="TextBox 59"/>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1" name="TextBox 60"/>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2" name="TextBox 61"/>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3" name="TextBox 62"/>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4" name="TextBox 63"/>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5" name="TextBox 64"/>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6" name="TextBox 65"/>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7" name="TextBox 66"/>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8" name="TextBox 67"/>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9" name="TextBox 68"/>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0" name="TextBox 69"/>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1" name="TextBox 70"/>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2" name="TextBox 71"/>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3" name="TextBox 72"/>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4" name="TextBox 73"/>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5" name="TextBox 74"/>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6" name="TextBox 75"/>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7" name="TextBox 76"/>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8" name="TextBox 77"/>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9" name="TextBox 78"/>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0" name="TextBox 79"/>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1" name="TextBox 80"/>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2" name="TextBox 81"/>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3" name="TextBox 82"/>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4" name="TextBox 83"/>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5" name="TextBox 84"/>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6" name="TextBox 85"/>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7" name="TextBox 86"/>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8" name="TextBox 87"/>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9" name="TextBox 88"/>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0" name="TextBox 89"/>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1" name="TextBox 90"/>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2" name="TextBox 91"/>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3" name="TextBox 92"/>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4" name="TextBox 93"/>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5" name="TextBox 94"/>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6" name="TextBox 95"/>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7" name="TextBox 96"/>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8" name="TextBox 97"/>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9" name="TextBox 98"/>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0" name="TextBox 99"/>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1" name="TextBox 100"/>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2" name="TextBox 101"/>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3" name="TextBox 102"/>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4" name="TextBox 103"/>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5" name="TextBox 104"/>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6" name="TextBox 105"/>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7" name="TextBox 106"/>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8" name="TextBox 107"/>
          <p:cNvSpPr txBox="1"/>
          <p:nvPr/>
        </p:nvSpPr>
        <p:spPr>
          <a:xfrm>
            <a:off x="800100" y="2314575"/>
            <a:ext cx="1428750" cy="190500"/>
          </a:xfrm>
          <a:prstGeom prst="rect">
            <a:avLst/>
          </a:prstGeom>
          <a:noFill/>
        </p:spPr>
        <p:txBody>
          <a:bodyPr wrap="none" lIns="0" rIns="0" tIns="0" bIns="0" anchor="t">
            <a:spAutoFit/>
          </a:bodyPr>
          <a:lstStyle/>
          <a:p>
            <a:pPr algn="l"/>
            <a:r>
              <a:rPr b="1" sz="1200" i="0" u="none">
                <a:solidFill>
                  <a:srgbClr val="0052CC"/>
                </a:solidFill>
                <a:latin typeface="Inter"/>
              </a:rPr>
              <a:t>KAN-52</a:t>
            </a:r>
          </a:p>
        </p:txBody>
      </p:sp>
      <p:sp>
        <p:nvSpPr>
          <p:cNvPr id="109" name="TextBox 108"/>
          <p:cNvSpPr txBox="1"/>
          <p:nvPr/>
        </p:nvSpPr>
        <p:spPr>
          <a:xfrm>
            <a:off x="2171700" y="2295525"/>
            <a:ext cx="4191000" cy="228600"/>
          </a:xfrm>
          <a:prstGeom prst="rect">
            <a:avLst/>
          </a:prstGeom>
          <a:noFill/>
        </p:spPr>
        <p:txBody>
          <a:bodyPr wrap="none" lIns="0" rIns="0" tIns="0" bIns="0" anchor="t">
            <a:spAutoFit/>
          </a:bodyPr>
          <a:lstStyle/>
          <a:p>
            <a:pPr algn="l"/>
            <a:r>
              <a:rPr b="1" sz="1500" i="0" u="none">
                <a:solidFill>
                  <a:srgbClr val="172B4D"/>
                </a:solidFill>
                <a:latin typeface="Inter"/>
              </a:rPr>
              <a:t>Automated Testing implementations.</a:t>
            </a:r>
          </a:p>
        </p:txBody>
      </p:sp>
      <p:sp>
        <p:nvSpPr>
          <p:cNvPr id="110" name="TextBox 109"/>
          <p:cNvSpPr txBox="1"/>
          <p:nvPr/>
        </p:nvSpPr>
        <p:spPr>
          <a:xfrm>
            <a:off x="800100" y="3076575"/>
            <a:ext cx="1428750" cy="190500"/>
          </a:xfrm>
          <a:prstGeom prst="rect">
            <a:avLst/>
          </a:prstGeom>
          <a:noFill/>
        </p:spPr>
        <p:txBody>
          <a:bodyPr wrap="none" lIns="0" rIns="0" tIns="0" bIns="0" anchor="t">
            <a:spAutoFit/>
          </a:bodyPr>
          <a:lstStyle/>
          <a:p>
            <a:pPr algn="l"/>
            <a:r>
              <a:rPr b="1" sz="1200" i="0" u="none">
                <a:solidFill>
                  <a:srgbClr val="0052CC"/>
                </a:solidFill>
                <a:latin typeface="Inter"/>
              </a:rPr>
              <a:t>KAN-53</a:t>
            </a:r>
          </a:p>
        </p:txBody>
      </p:sp>
      <p:sp>
        <p:nvSpPr>
          <p:cNvPr id="111" name="TextBox 110"/>
          <p:cNvSpPr txBox="1"/>
          <p:nvPr/>
        </p:nvSpPr>
        <p:spPr>
          <a:xfrm>
            <a:off x="2171700" y="3057525"/>
            <a:ext cx="4548187" cy="228600"/>
          </a:xfrm>
          <a:prstGeom prst="rect">
            <a:avLst/>
          </a:prstGeom>
          <a:noFill/>
        </p:spPr>
        <p:txBody>
          <a:bodyPr wrap="none" lIns="0" rIns="0" tIns="0" bIns="0" anchor="t">
            <a:spAutoFit/>
          </a:bodyPr>
          <a:lstStyle/>
          <a:p>
            <a:pPr algn="l"/>
            <a:r>
              <a:rPr b="1" sz="1500" i="0" u="none">
                <a:solidFill>
                  <a:srgbClr val="172B4D"/>
                </a:solidFill>
                <a:latin typeface="Inter"/>
              </a:rPr>
              <a:t>CI/CD Pipeline and frequent integration.</a:t>
            </a:r>
          </a:p>
        </p:txBody>
      </p:sp>
      <p:sp>
        <p:nvSpPr>
          <p:cNvPr id="112" name="TextBox 111"/>
          <p:cNvSpPr txBox="1"/>
          <p:nvPr/>
        </p:nvSpPr>
        <p:spPr>
          <a:xfrm>
            <a:off x="800100" y="3838575"/>
            <a:ext cx="1428750" cy="190500"/>
          </a:xfrm>
          <a:prstGeom prst="rect">
            <a:avLst/>
          </a:prstGeom>
          <a:noFill/>
        </p:spPr>
        <p:txBody>
          <a:bodyPr wrap="none" lIns="0" rIns="0" tIns="0" bIns="0" anchor="t">
            <a:spAutoFit/>
          </a:bodyPr>
          <a:lstStyle/>
          <a:p>
            <a:pPr algn="l"/>
            <a:r>
              <a:rPr b="1" sz="1200" i="0" u="none">
                <a:solidFill>
                  <a:srgbClr val="0052CC"/>
                </a:solidFill>
                <a:latin typeface="Inter"/>
              </a:rPr>
              <a:t>DoD Gates</a:t>
            </a:r>
          </a:p>
        </p:txBody>
      </p:sp>
      <p:sp>
        <p:nvSpPr>
          <p:cNvPr id="113" name="TextBox 112"/>
          <p:cNvSpPr txBox="1"/>
          <p:nvPr/>
        </p:nvSpPr>
        <p:spPr>
          <a:xfrm>
            <a:off x="2171700" y="3819525"/>
            <a:ext cx="5881687" cy="228600"/>
          </a:xfrm>
          <a:prstGeom prst="rect">
            <a:avLst/>
          </a:prstGeom>
          <a:noFill/>
        </p:spPr>
        <p:txBody>
          <a:bodyPr wrap="none" lIns="0" rIns="0" tIns="0" bIns="0" anchor="t">
            <a:spAutoFit/>
          </a:bodyPr>
          <a:lstStyle/>
          <a:p>
            <a:pPr algn="l"/>
            <a:r>
              <a:rPr b="1" sz="1500" i="0" u="none">
                <a:solidFill>
                  <a:srgbClr val="172B4D"/>
                </a:solidFill>
                <a:latin typeface="Inter"/>
              </a:rPr>
              <a:t>Continuous testing embedded in Definition of Done.</a:t>
            </a:r>
          </a:p>
        </p:txBody>
      </p:sp>
      <p:sp>
        <p:nvSpPr>
          <p:cNvPr id="114" name="TextBox 113"/>
          <p:cNvSpPr txBox="1"/>
          <p:nvPr/>
        </p:nvSpPr>
        <p:spPr>
          <a:xfrm>
            <a:off x="800100" y="4600575"/>
            <a:ext cx="1428750" cy="190500"/>
          </a:xfrm>
          <a:prstGeom prst="rect">
            <a:avLst/>
          </a:prstGeom>
          <a:noFill/>
        </p:spPr>
        <p:txBody>
          <a:bodyPr wrap="none" lIns="0" rIns="0" tIns="0" bIns="0" anchor="t">
            <a:spAutoFit/>
          </a:bodyPr>
          <a:lstStyle/>
          <a:p>
            <a:pPr algn="l"/>
            <a:r>
              <a:rPr b="1" sz="1200" i="0" u="none">
                <a:solidFill>
                  <a:srgbClr val="0052CC"/>
                </a:solidFill>
                <a:latin typeface="Inter"/>
              </a:rPr>
              <a:t>Increments</a:t>
            </a:r>
          </a:p>
        </p:txBody>
      </p:sp>
      <p:sp>
        <p:nvSpPr>
          <p:cNvPr id="115" name="TextBox 114"/>
          <p:cNvSpPr txBox="1"/>
          <p:nvPr/>
        </p:nvSpPr>
        <p:spPr>
          <a:xfrm>
            <a:off x="2171700" y="4581525"/>
            <a:ext cx="5262562" cy="228600"/>
          </a:xfrm>
          <a:prstGeom prst="rect">
            <a:avLst/>
          </a:prstGeom>
          <a:noFill/>
        </p:spPr>
        <p:txBody>
          <a:bodyPr wrap="none" lIns="0" rIns="0" tIns="0" bIns="0" anchor="t">
            <a:spAutoFit/>
          </a:bodyPr>
          <a:lstStyle/>
          <a:p>
            <a:pPr algn="l"/>
            <a:r>
              <a:rPr b="1" sz="1500" i="0" u="none">
                <a:solidFill>
                  <a:srgbClr val="172B4D"/>
                </a:solidFill>
                <a:latin typeface="Inter"/>
              </a:rPr>
              <a:t>Small code increments via Stories + Subtasks.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5000" y="2119312"/>
            <a:ext cx="1905000" cy="495300"/>
          </a:xfrm>
          <a:prstGeom prst="roundRect">
            <a:avLst>
              <a:gd name="adj" fmla="val 7692"/>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435000" y="3148012"/>
            <a:ext cx="1905000" cy="495300"/>
          </a:xfrm>
          <a:prstGeom prst="roundRect">
            <a:avLst>
              <a:gd name="adj" fmla="val 7692"/>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35000" y="4176712"/>
            <a:ext cx="1905000" cy="495300"/>
          </a:xfrm>
          <a:prstGeom prst="roundRect">
            <a:avLst>
              <a:gd name="adj" fmla="val 7692"/>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435000" y="5205412"/>
            <a:ext cx="1905000" cy="495300"/>
          </a:xfrm>
          <a:prstGeom prst="roundRect">
            <a:avLst>
              <a:gd name="adj" fmla="val 7692"/>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2301775" y="2767012"/>
            <a:ext cx="171450" cy="228600"/>
          </a:xfrm>
          <a:prstGeom prst="rect">
            <a:avLst/>
          </a:prstGeom>
        </p:spPr>
      </p:pic>
      <p:pic>
        <p:nvPicPr>
          <p:cNvPr id="12" name="Picture 11" descr="image.png"/>
          <p:cNvPicPr>
            <a:picLocks noChangeAspect="1"/>
          </p:cNvPicPr>
          <p:nvPr/>
        </p:nvPicPr>
        <p:blipFill>
          <a:blip r:embed="rId2"/>
          <a:stretch>
            <a:fillRect/>
          </a:stretch>
        </p:blipFill>
        <p:spPr>
          <a:xfrm>
            <a:off x="2301775" y="3795712"/>
            <a:ext cx="171450" cy="228600"/>
          </a:xfrm>
          <a:prstGeom prst="rect">
            <a:avLst/>
          </a:prstGeom>
        </p:spPr>
      </p:pic>
      <p:pic>
        <p:nvPicPr>
          <p:cNvPr id="13" name="Picture 12" descr="image.png"/>
          <p:cNvPicPr>
            <a:picLocks noChangeAspect="1"/>
          </p:cNvPicPr>
          <p:nvPr/>
        </p:nvPicPr>
        <p:blipFill>
          <a:blip r:embed="rId2"/>
          <a:stretch>
            <a:fillRect/>
          </a:stretch>
        </p:blipFill>
        <p:spPr>
          <a:xfrm>
            <a:off x="2301775" y="4824412"/>
            <a:ext cx="171450" cy="228600"/>
          </a:xfrm>
          <a:prstGeom prst="rect">
            <a:avLst/>
          </a:prstGeom>
        </p:spPr>
      </p:pic>
      <p:graphicFrame>
        <p:nvGraphicFramePr>
          <p:cNvPr id="14" name="Table 13"/>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5" name="TextBox 14"/>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Lean Principles</a:t>
            </a:r>
          </a:p>
        </p:txBody>
      </p:sp>
      <p:sp>
        <p:nvSpPr>
          <p:cNvPr id="16" name="TextBox 15"/>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7" name="TextBox 16"/>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8" name="TextBox 17"/>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9" name="TextBox 18"/>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0" name="TextBox 19"/>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1" name="TextBox 20"/>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2" name="TextBox 21"/>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3" name="TextBox 22"/>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4" name="TextBox 23"/>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5" name="TextBox 24"/>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6" name="TextBox 25"/>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7" name="TextBox 26"/>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8" name="TextBox 27"/>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9" name="TextBox 28"/>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0" name="TextBox 29"/>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1" name="TextBox 30"/>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2" name="TextBox 31"/>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3" name="TextBox 32"/>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4" name="TextBox 33"/>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5" name="TextBox 34"/>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6" name="TextBox 35"/>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7" name="TextBox 36"/>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8" name="TextBox 37"/>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9" name="TextBox 38"/>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0" name="TextBox 39"/>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1" name="TextBox 40"/>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2" name="TextBox 41"/>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3" name="TextBox 42"/>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4" name="TextBox 43"/>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5" name="TextBox 44"/>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6" name="TextBox 45"/>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7" name="TextBox 46"/>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8" name="TextBox 47"/>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9" name="TextBox 48"/>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0" name="TextBox 49"/>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1" name="TextBox 50"/>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2" name="TextBox 51"/>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3" name="TextBox 52"/>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4" name="TextBox 53"/>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5" name="TextBox 54"/>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6" name="TextBox 55"/>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7" name="TextBox 56"/>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8" name="TextBox 57"/>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9" name="TextBox 58"/>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0" name="TextBox 59"/>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1" name="TextBox 60"/>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2" name="TextBox 61"/>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3" name="TextBox 62"/>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4" name="TextBox 63"/>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5" name="TextBox 64"/>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6" name="TextBox 65"/>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7" name="TextBox 66"/>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8" name="TextBox 67"/>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9" name="TextBox 68"/>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0" name="TextBox 69"/>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1" name="TextBox 70"/>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2" name="TextBox 71"/>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3" name="TextBox 72"/>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4" name="TextBox 73"/>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5" name="TextBox 74"/>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6" name="TextBox 75"/>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7" name="TextBox 76"/>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8" name="TextBox 77"/>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9" name="TextBox 78"/>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0" name="TextBox 79"/>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1" name="TextBox 80"/>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2" name="TextBox 81"/>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3" name="TextBox 82"/>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4" name="TextBox 83"/>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5" name="TextBox 84"/>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6" name="TextBox 85"/>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7" name="TextBox 86"/>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8" name="TextBox 87"/>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9" name="TextBox 88"/>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0" name="TextBox 89"/>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1" name="TextBox 90"/>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2" name="TextBox 91"/>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3" name="TextBox 92"/>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4" name="TextBox 93"/>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5" name="TextBox 94"/>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6" name="TextBox 95"/>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7" name="TextBox 96"/>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8" name="TextBox 97"/>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9" name="TextBox 98"/>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0" name="TextBox 99"/>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1" name="TextBox 100"/>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2" name="TextBox 101"/>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3" name="TextBox 102"/>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4" name="TextBox 103"/>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5" name="TextBox 104"/>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6" name="TextBox 105"/>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7" name="TextBox 106"/>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8" name="TextBox 107"/>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9" name="TextBox 108"/>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0" name="TextBox 109"/>
          <p:cNvSpPr txBox="1"/>
          <p:nvPr/>
        </p:nvSpPr>
        <p:spPr>
          <a:xfrm>
            <a:off x="1349275" y="2271712"/>
            <a:ext cx="2076450" cy="190500"/>
          </a:xfrm>
          <a:prstGeom prst="rect">
            <a:avLst/>
          </a:prstGeom>
          <a:noFill/>
        </p:spPr>
        <p:txBody>
          <a:bodyPr wrap="square" lIns="0" rIns="0" tIns="0" bIns="0" anchor="t">
            <a:spAutoFit/>
          </a:bodyPr>
          <a:lstStyle/>
          <a:p>
            <a:pPr algn="ctr"/>
            <a:r>
              <a:rPr b="1" sz="1200" i="0" u="none">
                <a:solidFill>
                  <a:srgbClr val="FFFFFF"/>
                </a:solidFill>
                <a:latin typeface="Inter"/>
              </a:rPr>
              <a:t>VALUE</a:t>
            </a:r>
          </a:p>
        </p:txBody>
      </p:sp>
      <p:sp>
        <p:nvSpPr>
          <p:cNvPr id="111" name="TextBox 110"/>
          <p:cNvSpPr txBox="1"/>
          <p:nvPr/>
        </p:nvSpPr>
        <p:spPr>
          <a:xfrm>
            <a:off x="1349275" y="3300412"/>
            <a:ext cx="2076450" cy="190500"/>
          </a:xfrm>
          <a:prstGeom prst="rect">
            <a:avLst/>
          </a:prstGeom>
          <a:noFill/>
        </p:spPr>
        <p:txBody>
          <a:bodyPr wrap="square" lIns="0" rIns="0" tIns="0" bIns="0" anchor="t">
            <a:spAutoFit/>
          </a:bodyPr>
          <a:lstStyle/>
          <a:p>
            <a:pPr algn="ctr"/>
            <a:r>
              <a:rPr b="1" sz="1200" i="0" u="none">
                <a:solidFill>
                  <a:srgbClr val="FFFFFF"/>
                </a:solidFill>
                <a:latin typeface="Inter"/>
              </a:rPr>
              <a:t>FLOW</a:t>
            </a:r>
          </a:p>
        </p:txBody>
      </p:sp>
      <p:sp>
        <p:nvSpPr>
          <p:cNvPr id="112" name="TextBox 111"/>
          <p:cNvSpPr txBox="1"/>
          <p:nvPr/>
        </p:nvSpPr>
        <p:spPr>
          <a:xfrm>
            <a:off x="1349275" y="4329112"/>
            <a:ext cx="2076450" cy="190500"/>
          </a:xfrm>
          <a:prstGeom prst="rect">
            <a:avLst/>
          </a:prstGeom>
          <a:noFill/>
        </p:spPr>
        <p:txBody>
          <a:bodyPr wrap="square" lIns="0" rIns="0" tIns="0" bIns="0" anchor="t">
            <a:spAutoFit/>
          </a:bodyPr>
          <a:lstStyle/>
          <a:p>
            <a:pPr algn="ctr"/>
            <a:r>
              <a:rPr b="1" sz="1200" i="0" u="none">
                <a:solidFill>
                  <a:srgbClr val="FFFFFF"/>
                </a:solidFill>
                <a:latin typeface="Inter"/>
              </a:rPr>
              <a:t>FEEDBACK</a:t>
            </a:r>
          </a:p>
        </p:txBody>
      </p:sp>
      <p:sp>
        <p:nvSpPr>
          <p:cNvPr id="113" name="TextBox 112"/>
          <p:cNvSpPr txBox="1"/>
          <p:nvPr/>
        </p:nvSpPr>
        <p:spPr>
          <a:xfrm>
            <a:off x="1349275" y="5357812"/>
            <a:ext cx="2076450" cy="190500"/>
          </a:xfrm>
          <a:prstGeom prst="rect">
            <a:avLst/>
          </a:prstGeom>
          <a:noFill/>
        </p:spPr>
        <p:txBody>
          <a:bodyPr wrap="square" lIns="0" rIns="0" tIns="0" bIns="0" anchor="t">
            <a:spAutoFit/>
          </a:bodyPr>
          <a:lstStyle/>
          <a:p>
            <a:pPr algn="ctr"/>
            <a:r>
              <a:rPr b="1" sz="1200" i="0" u="none">
                <a:solidFill>
                  <a:srgbClr val="FFFFFF"/>
                </a:solidFill>
                <a:latin typeface="Inter"/>
              </a:rPr>
              <a:t>IMPROVEMENT</a:t>
            </a:r>
          </a:p>
        </p:txBody>
      </p:sp>
      <p:sp>
        <p:nvSpPr>
          <p:cNvPr id="114" name="TextBox 113"/>
          <p:cNvSpPr txBox="1"/>
          <p:nvPr/>
        </p:nvSpPr>
        <p:spPr>
          <a:xfrm>
            <a:off x="4470350" y="3033712"/>
            <a:ext cx="7721649" cy="228600"/>
          </a:xfrm>
          <a:prstGeom prst="rect">
            <a:avLst/>
          </a:prstGeom>
          <a:noFill/>
        </p:spPr>
        <p:txBody>
          <a:bodyPr wrap="none" lIns="0" rIns="0" tIns="0" bIns="0" anchor="t">
            <a:spAutoFit/>
          </a:bodyPr>
          <a:lstStyle/>
          <a:p>
            <a:pPr algn="l"/>
            <a:r>
              <a:rPr b="1" sz="1500" i="0" u="none">
                <a:solidFill>
                  <a:srgbClr val="0052CC"/>
                </a:solidFill>
                <a:latin typeface="Inter"/>
              </a:rPr>
              <a:t>Reduce Waste:</a:t>
            </a:r>
            <a:r>
              <a:rPr b="0" sz="1500" i="0" u="none">
                <a:solidFill>
                  <a:srgbClr val="172B4D"/>
                </a:solidFill>
                <a:latin typeface="Inter"/>
              </a:rPr>
              <a:t> Avoid unnecessary work.</a:t>
            </a:r>
          </a:p>
        </p:txBody>
      </p:sp>
      <p:sp>
        <p:nvSpPr>
          <p:cNvPr id="115" name="TextBox 114"/>
          <p:cNvSpPr txBox="1"/>
          <p:nvPr/>
        </p:nvSpPr>
        <p:spPr>
          <a:xfrm>
            <a:off x="4470350" y="3414712"/>
            <a:ext cx="7721649" cy="228600"/>
          </a:xfrm>
          <a:prstGeom prst="rect">
            <a:avLst/>
          </a:prstGeom>
          <a:noFill/>
        </p:spPr>
        <p:txBody>
          <a:bodyPr wrap="none" lIns="0" rIns="0" tIns="0" bIns="0" anchor="t">
            <a:spAutoFit/>
          </a:bodyPr>
          <a:lstStyle/>
          <a:p>
            <a:pPr algn="l"/>
            <a:r>
              <a:rPr b="1" sz="1500" i="0" u="none">
                <a:solidFill>
                  <a:srgbClr val="0052CC"/>
                </a:solidFill>
                <a:latin typeface="Inter"/>
              </a:rPr>
              <a:t>Make Work Visible:</a:t>
            </a:r>
            <a:r>
              <a:rPr b="0" sz="1500" i="0" u="none">
                <a:solidFill>
                  <a:srgbClr val="172B4D"/>
                </a:solidFill>
                <a:latin typeface="Inter"/>
              </a:rPr>
              <a:t> Expose all states via Jira board.</a:t>
            </a:r>
          </a:p>
        </p:txBody>
      </p:sp>
      <p:sp>
        <p:nvSpPr>
          <p:cNvPr id="116" name="TextBox 115"/>
          <p:cNvSpPr txBox="1"/>
          <p:nvPr/>
        </p:nvSpPr>
        <p:spPr>
          <a:xfrm>
            <a:off x="4470350" y="3795712"/>
            <a:ext cx="7721649" cy="228600"/>
          </a:xfrm>
          <a:prstGeom prst="rect">
            <a:avLst/>
          </a:prstGeom>
          <a:noFill/>
        </p:spPr>
        <p:txBody>
          <a:bodyPr wrap="none" lIns="0" rIns="0" tIns="0" bIns="0" anchor="t">
            <a:spAutoFit/>
          </a:bodyPr>
          <a:lstStyle/>
          <a:p>
            <a:pPr algn="l"/>
            <a:r>
              <a:rPr b="1" sz="1500" i="0" u="none">
                <a:solidFill>
                  <a:srgbClr val="0052CC"/>
                </a:solidFill>
                <a:latin typeface="Inter"/>
              </a:rPr>
              <a:t>Reduce Waiting:</a:t>
            </a:r>
            <a:r>
              <a:rPr b="0" sz="1500" i="0" u="none">
                <a:solidFill>
                  <a:srgbClr val="172B4D"/>
                </a:solidFill>
                <a:latin typeface="Inter"/>
              </a:rPr>
              <a:t> Dependency tracking (Blocks).</a:t>
            </a:r>
          </a:p>
        </p:txBody>
      </p:sp>
      <p:sp>
        <p:nvSpPr>
          <p:cNvPr id="117" name="TextBox 116"/>
          <p:cNvSpPr txBox="1"/>
          <p:nvPr/>
        </p:nvSpPr>
        <p:spPr>
          <a:xfrm>
            <a:off x="4470350" y="4176712"/>
            <a:ext cx="7721649" cy="228600"/>
          </a:xfrm>
          <a:prstGeom prst="rect">
            <a:avLst/>
          </a:prstGeom>
          <a:noFill/>
        </p:spPr>
        <p:txBody>
          <a:bodyPr wrap="none" lIns="0" rIns="0" tIns="0" bIns="0" anchor="t">
            <a:spAutoFit/>
          </a:bodyPr>
          <a:lstStyle/>
          <a:p>
            <a:pPr algn="l"/>
            <a:r>
              <a:rPr b="1" sz="1500" i="0" u="none">
                <a:solidFill>
                  <a:srgbClr val="0052CC"/>
                </a:solidFill>
                <a:latin typeface="Inter"/>
              </a:rPr>
              <a:t>Build Quality In:</a:t>
            </a:r>
            <a:r>
              <a:rPr b="0" sz="1500" i="0" u="none">
                <a:solidFill>
                  <a:srgbClr val="172B4D"/>
                </a:solidFill>
                <a:latin typeface="Inter"/>
              </a:rPr>
              <a:t> Strict DoR / DoD gates.</a:t>
            </a:r>
          </a:p>
        </p:txBody>
      </p:sp>
      <p:sp>
        <p:nvSpPr>
          <p:cNvPr id="118" name="TextBox 117"/>
          <p:cNvSpPr txBox="1"/>
          <p:nvPr/>
        </p:nvSpPr>
        <p:spPr>
          <a:xfrm>
            <a:off x="4470350" y="4557712"/>
            <a:ext cx="7721649" cy="228600"/>
          </a:xfrm>
          <a:prstGeom prst="rect">
            <a:avLst/>
          </a:prstGeom>
          <a:noFill/>
        </p:spPr>
        <p:txBody>
          <a:bodyPr wrap="none" lIns="0" rIns="0" tIns="0" bIns="0" anchor="t">
            <a:spAutoFit/>
          </a:bodyPr>
          <a:lstStyle/>
          <a:p>
            <a:pPr algn="l"/>
            <a:r>
              <a:rPr b="1" sz="1500" i="0" u="none">
                <a:solidFill>
                  <a:srgbClr val="0052CC"/>
                </a:solidFill>
                <a:latin typeface="Inter"/>
              </a:rPr>
              <a:t>Continuous Improvement:</a:t>
            </a:r>
            <a:r>
              <a:rPr b="0" sz="1500" i="0" u="none">
                <a:solidFill>
                  <a:srgbClr val="172B4D"/>
                </a:solidFill>
                <a:latin typeface="Inter"/>
              </a:rPr>
              <a:t> KAN-59 (Retros) and KAN-63 (Metrics).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09600" y="1571625"/>
          <a:ext cx="10972798" cy="4676775"/>
        </p:xfrm>
        <a:graphic>
          <a:graphicData uri="http://schemas.openxmlformats.org/drawingml/2006/table">
            <a:tbl>
              <a:tblPr firstRow="0" bandRow="0">
                <a:lnL>
                  <a:noFill/>
                </a:lnL>
                <a:lnR>
                  <a:noFill/>
                </a:lnR>
                <a:lnT>
                  <a:noFill/>
                </a:lnT>
                <a:lnB>
                  <a:noFill/>
                </a:lnB>
                <a:lnV>
                  <a:noFill/>
                </a:lnV>
                <a:lnH>
                  <a:noFill/>
                </a:lnH>
              </a:tblPr>
              <a:tblGrid>
                <a:gridCol w="1747986"/>
                <a:gridCol w="3509664"/>
                <a:gridCol w="5715148"/>
              </a:tblGrid>
              <a:tr h="779462">
                <a:tc>
                  <a:txBody>
                    <a:bodyPr/>
                    <a:lstStyle/>
                    <a:p>
                      <a:pPr algn="l"/>
                      <a:r>
                        <a:rPr b="1" sz="1350" i="0" u="none">
                          <a:solidFill>
                            <a:srgbClr val="FFFFFF"/>
                          </a:solidFill>
                          <a:latin typeface="Inter"/>
                        </a:rPr>
                        <a:t>Framework</a:t>
                      </a:r>
                    </a:p>
                  </a:txBody>
                  <a:tcPr anchor="ctr" marL="63500" marR="63500" marT="25400" marB="25400">
                    <a:lnL>
                      <a:noFill/>
                    </a:lnL>
                    <a:lnR>
                      <a:noFill/>
                    </a:lnR>
                    <a:lnT>
                      <a:noFill/>
                    </a:lnT>
                    <a:lnB>
                      <a:noFill/>
                    </a:lnB>
                    <a:solidFill>
                      <a:srgbClr val="0052CC"/>
                    </a:solidFill>
                  </a:tcPr>
                </a:tc>
                <a:tc>
                  <a:txBody>
                    <a:bodyPr/>
                    <a:lstStyle/>
                    <a:p>
                      <a:pPr algn="l"/>
                      <a:r>
                        <a:rPr b="1" sz="1350" i="0" u="none">
                          <a:solidFill>
                            <a:srgbClr val="FFFFFF"/>
                          </a:solidFill>
                          <a:latin typeface="Inter"/>
                        </a:rPr>
                        <a:t>Core Focus</a:t>
                      </a:r>
                    </a:p>
                  </a:txBody>
                  <a:tcPr anchor="ctr" marL="63500" marR="63500" marT="25400" marB="25400">
                    <a:lnL>
                      <a:noFill/>
                    </a:lnL>
                    <a:lnR>
                      <a:noFill/>
                    </a:lnR>
                    <a:lnT>
                      <a:noFill/>
                    </a:lnT>
                    <a:lnB>
                      <a:noFill/>
                    </a:lnB>
                    <a:solidFill>
                      <a:srgbClr val="0052CC"/>
                    </a:solidFill>
                  </a:tcPr>
                </a:tc>
                <a:tc>
                  <a:txBody>
                    <a:bodyPr/>
                    <a:lstStyle/>
                    <a:p>
                      <a:pPr algn="l"/>
                      <a:r>
                        <a:rPr b="1" sz="1350" i="0" u="none">
                          <a:solidFill>
                            <a:srgbClr val="FFFFFF"/>
                          </a:solidFill>
                          <a:latin typeface="Inter"/>
                        </a:rPr>
                        <a:t>Alumnex Connect Execution (Jira)</a:t>
                      </a:r>
                    </a:p>
                  </a:txBody>
                  <a:tcPr anchor="ctr" marL="63500" marR="63500" marT="25400" marB="25400">
                    <a:lnL>
                      <a:noFill/>
                    </a:lnL>
                    <a:lnR>
                      <a:noFill/>
                    </a:lnR>
                    <a:lnT>
                      <a:noFill/>
                    </a:lnT>
                    <a:lnB>
                      <a:noFill/>
                    </a:lnB>
                    <a:solidFill>
                      <a:srgbClr val="0052CC"/>
                    </a:solidFill>
                  </a:tcPr>
                </a:tc>
              </a:tr>
              <a:tr h="779462">
                <a:tc>
                  <a:txBody>
                    <a:bodyPr/>
                    <a:lstStyle/>
                    <a:p>
                      <a:pPr algn="l"/>
                      <a:r>
                        <a:rPr b="1" sz="1350" i="0" u="none">
                          <a:solidFill>
                            <a:srgbClr val="172B4D"/>
                          </a:solidFill>
                          <a:latin typeface="Inter"/>
                        </a:rPr>
                        <a:t>Agile</a:t>
                      </a:r>
                    </a:p>
                  </a:txBody>
                  <a:tcPr anchor="ctr" marL="63500" marR="63500" marT="25400" marB="25400">
                    <a:lnL>
                      <a:noFill/>
                    </a:lnL>
                    <a:lnR>
                      <a:noFill/>
                    </a:lnR>
                    <a:lnT>
                      <a:noFill/>
                    </a:lnT>
                    <a:lnB>
                      <a:noFill/>
                    </a:lnB>
                    <a:solidFill>
                      <a:srgbClr val="F4F5F7"/>
                    </a:solidFill>
                  </a:tcPr>
                </a:tc>
                <a:tc>
                  <a:txBody>
                    <a:bodyPr/>
                    <a:lstStyle/>
                    <a:p>
                      <a:pPr algn="l"/>
                      <a:r>
                        <a:rPr b="0" sz="1350" i="0" u="none">
                          <a:solidFill>
                            <a:srgbClr val="172B4D"/>
                          </a:solidFill>
                          <a:latin typeface="Inter"/>
                        </a:rPr>
                        <a:t>Incremental delivery</a:t>
                      </a:r>
                    </a:p>
                  </a:txBody>
                  <a:tcPr anchor="ctr" marL="63500" marR="63500" marT="25400" marB="25400">
                    <a:lnL>
                      <a:noFill/>
                    </a:lnL>
                    <a:lnR>
                      <a:noFill/>
                    </a:lnR>
                    <a:lnT>
                      <a:noFill/>
                    </a:lnT>
                    <a:lnB>
                      <a:noFill/>
                    </a:lnB>
                    <a:solidFill>
                      <a:srgbClr val="F4F5F7"/>
                    </a:solidFill>
                  </a:tcPr>
                </a:tc>
                <a:tc>
                  <a:txBody>
                    <a:bodyPr/>
                    <a:lstStyle/>
                    <a:p>
                      <a:pPr algn="l"/>
                      <a:r>
                        <a:rPr b="0" sz="1350" i="0" u="none">
                          <a:solidFill>
                            <a:srgbClr val="172B4D"/>
                          </a:solidFill>
                          <a:latin typeface="Inter"/>
                        </a:rPr>
                        <a:t>Epic → Story breakdown logic.</a:t>
                      </a:r>
                    </a:p>
                  </a:txBody>
                  <a:tcPr anchor="ctr" marL="63500" marR="63500" marT="25400" marB="25400">
                    <a:lnL>
                      <a:noFill/>
                    </a:lnL>
                    <a:lnR>
                      <a:noFill/>
                    </a:lnR>
                    <a:lnT>
                      <a:noFill/>
                    </a:lnT>
                    <a:lnB>
                      <a:noFill/>
                    </a:lnB>
                    <a:solidFill>
                      <a:srgbClr val="F4F5F7"/>
                    </a:solidFill>
                  </a:tcPr>
                </a:tc>
              </a:tr>
              <a:tr h="779462">
                <a:tc>
                  <a:txBody>
                    <a:bodyPr/>
                    <a:lstStyle/>
                    <a:p>
                      <a:pPr algn="l"/>
                      <a:r>
                        <a:rPr b="1" sz="135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Governance &amp; ceremonies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KAN-55 to KAN-63 documented playbook.</a:t>
                      </a:r>
                    </a:p>
                  </a:txBody>
                  <a:tcPr anchor="ctr" marL="63500" marR="63500" marT="25400" marB="25400">
                    <a:lnL>
                      <a:noFill/>
                    </a:lnL>
                    <a:lnR>
                      <a:noFill/>
                    </a:lnR>
                    <a:lnT>
                      <a:noFill/>
                    </a:lnT>
                    <a:lnB>
                      <a:noFill/>
                    </a:lnB>
                    <a:solidFill>
                      <a:srgbClr val="FFFFFF"/>
                    </a:solidFill>
                  </a:tcPr>
                </a:tc>
              </a:tr>
              <a:tr h="779462">
                <a:tc>
                  <a:txBody>
                    <a:bodyPr/>
                    <a:lstStyle/>
                    <a:p>
                      <a:pPr algn="l"/>
                      <a:r>
                        <a:rPr b="1" sz="1350" i="0" u="none">
                          <a:solidFill>
                            <a:srgbClr val="172B4D"/>
                          </a:solidFill>
                          <a:latin typeface="Inter"/>
                        </a:rPr>
                        <a:t>Kanban</a:t>
                      </a:r>
                    </a:p>
                  </a:txBody>
                  <a:tcPr anchor="ctr" marL="63500" marR="63500" marT="25400" marB="25400">
                    <a:lnL>
                      <a:noFill/>
                    </a:lnL>
                    <a:lnR>
                      <a:noFill/>
                    </a:lnR>
                    <a:lnT>
                      <a:noFill/>
                    </a:lnT>
                    <a:lnB>
                      <a:noFill/>
                    </a:lnB>
                    <a:solidFill>
                      <a:srgbClr val="F4F5F7"/>
                    </a:solidFill>
                  </a:tcPr>
                </a:tc>
                <a:tc>
                  <a:txBody>
                    <a:bodyPr/>
                    <a:lstStyle/>
                    <a:p>
                      <a:pPr algn="l"/>
                      <a:r>
                        <a:rPr b="0" sz="1350" i="0" u="none">
                          <a:solidFill>
                            <a:srgbClr val="172B4D"/>
                          </a:solidFill>
                          <a:latin typeface="Inter"/>
                        </a:rPr>
                        <a:t>Flow visualization</a:t>
                      </a:r>
                    </a:p>
                  </a:txBody>
                  <a:tcPr anchor="ctr" marL="63500" marR="63500" marT="25400" marB="25400">
                    <a:lnL>
                      <a:noFill/>
                    </a:lnL>
                    <a:lnR>
                      <a:noFill/>
                    </a:lnR>
                    <a:lnT>
                      <a:noFill/>
                    </a:lnT>
                    <a:lnB>
                      <a:noFill/>
                    </a:lnB>
                    <a:solidFill>
                      <a:srgbClr val="F4F5F7"/>
                    </a:solidFill>
                  </a:tcPr>
                </a:tc>
                <a:tc>
                  <a:txBody>
                    <a:bodyPr/>
                    <a:lstStyle/>
                    <a:p>
                      <a:pPr algn="l"/>
                      <a:r>
                        <a:rPr b="0" sz="1350" i="0" u="none">
                          <a:solidFill>
                            <a:srgbClr val="172B4D"/>
                          </a:solidFill>
                          <a:latin typeface="Inter"/>
                        </a:rPr>
                        <a:t>Idea → To Do → Progress → Review → Done.</a:t>
                      </a:r>
                    </a:p>
                  </a:txBody>
                  <a:tcPr anchor="ctr" marL="63500" marR="63500" marT="25400" marB="25400">
                    <a:lnL>
                      <a:noFill/>
                    </a:lnL>
                    <a:lnR>
                      <a:noFill/>
                    </a:lnR>
                    <a:lnT>
                      <a:noFill/>
                    </a:lnT>
                    <a:lnB>
                      <a:noFill/>
                    </a:lnB>
                    <a:solidFill>
                      <a:srgbClr val="F4F5F7"/>
                    </a:solidFill>
                  </a:tcPr>
                </a:tc>
              </a:tr>
              <a:tr h="779462">
                <a:tc>
                  <a:txBody>
                    <a:bodyPr/>
                    <a:lstStyle/>
                    <a:p>
                      <a:pPr algn="l"/>
                      <a:r>
                        <a:rPr b="1" sz="135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Engineering quality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72B4D"/>
                          </a:solidFill>
                          <a:latin typeface="Inter"/>
                        </a:rPr>
                        <a:t>Testing, CI/CD, and DoD gates.</a:t>
                      </a:r>
                    </a:p>
                  </a:txBody>
                  <a:tcPr anchor="ctr" marL="63500" marR="63500" marT="25400" marB="25400">
                    <a:lnL>
                      <a:noFill/>
                    </a:lnL>
                    <a:lnR>
                      <a:noFill/>
                    </a:lnR>
                    <a:lnT>
                      <a:noFill/>
                    </a:lnT>
                    <a:lnB>
                      <a:noFill/>
                    </a:lnB>
                    <a:solidFill>
                      <a:srgbClr val="FFFFFF"/>
                    </a:solidFill>
                  </a:tcPr>
                </a:tc>
              </a:tr>
              <a:tr h="779465">
                <a:tc>
                  <a:txBody>
                    <a:bodyPr/>
                    <a:lstStyle/>
                    <a:p>
                      <a:pPr algn="l"/>
                      <a:r>
                        <a:rPr b="1" sz="1350" i="0" u="none">
                          <a:solidFill>
                            <a:srgbClr val="172B4D"/>
                          </a:solidFill>
                          <a:latin typeface="Inter"/>
                        </a:rPr>
                        <a:t>Lean</a:t>
                      </a:r>
                    </a:p>
                  </a:txBody>
                  <a:tcPr anchor="ctr" marL="63500" marR="63500" marT="25400" marB="25400">
                    <a:lnL>
                      <a:noFill/>
                    </a:lnL>
                    <a:lnR>
                      <a:noFill/>
                    </a:lnR>
                    <a:lnT>
                      <a:noFill/>
                    </a:lnT>
                    <a:lnB>
                      <a:noFill/>
                    </a:lnB>
                    <a:solidFill>
                      <a:srgbClr val="F4F5F7"/>
                    </a:solidFill>
                  </a:tcPr>
                </a:tc>
                <a:tc>
                  <a:txBody>
                    <a:bodyPr/>
                    <a:lstStyle/>
                    <a:p>
                      <a:pPr algn="l"/>
                      <a:r>
                        <a:rPr b="0" sz="1350" i="0" u="none">
                          <a:solidFill>
                            <a:srgbClr val="172B4D"/>
                          </a:solidFill>
                          <a:latin typeface="Inter"/>
                        </a:rPr>
                        <a:t>Waste reduction</a:t>
                      </a:r>
                    </a:p>
                  </a:txBody>
                  <a:tcPr anchor="ctr" marL="63500" marR="63500" marT="25400" marB="25400">
                    <a:lnL>
                      <a:noFill/>
                    </a:lnL>
                    <a:lnR>
                      <a:noFill/>
                    </a:lnR>
                    <a:lnT>
                      <a:noFill/>
                    </a:lnT>
                    <a:lnB>
                      <a:noFill/>
                    </a:lnB>
                    <a:solidFill>
                      <a:srgbClr val="F4F5F7"/>
                    </a:solidFill>
                  </a:tcPr>
                </a:tc>
                <a:tc>
                  <a:txBody>
                    <a:bodyPr/>
                    <a:lstStyle/>
                    <a:p>
                      <a:pPr algn="l"/>
                      <a:r>
                        <a:rPr b="0" sz="1350" i="0" u="none">
                          <a:solidFill>
                            <a:srgbClr val="172B4D"/>
                          </a:solidFill>
                          <a:latin typeface="Inter"/>
                        </a:rPr>
                        <a:t>Dependency links &amp; visible blockers.</a:t>
                      </a:r>
                    </a:p>
                  </a:txBody>
                  <a:tcPr anchor="ctr" marL="63500" marR="63500" marT="25400" marB="25400">
                    <a:lnL>
                      <a:noFill/>
                    </a:lnL>
                    <a:lnR>
                      <a:noFill/>
                    </a:lnR>
                    <a:lnT>
                      <a:noFill/>
                    </a:lnT>
                    <a:lnB>
                      <a:noFill/>
                    </a:lnB>
                    <a:solidFill>
                      <a:srgbClr val="F4F5F7"/>
                    </a:solidFill>
                  </a:tcPr>
                </a:tc>
              </a:tr>
            </a:tbl>
          </a:graphicData>
        </a:graphic>
      </p:graphicFrame>
      <p:graphicFrame>
        <p:nvGraphicFramePr>
          <p:cNvPr id="8" name="Table 7"/>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9" name="TextBox 8"/>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Methodology Synthesis</a:t>
            </a:r>
          </a:p>
        </p:txBody>
      </p:sp>
      <p:sp>
        <p:nvSpPr>
          <p:cNvPr id="10" name="TextBox 9"/>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1" name="TextBox 10"/>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2" name="TextBox 11"/>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3" name="TextBox 12"/>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4" name="TextBox 13"/>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5" name="TextBox 14"/>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6" name="TextBox 15"/>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7" name="TextBox 16"/>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18" name="TextBox 17"/>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19" name="TextBox 18"/>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0" name="TextBox 19"/>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1" name="TextBox 20"/>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2" name="TextBox 21"/>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3" name="TextBox 22"/>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4" name="TextBox 23"/>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5" name="TextBox 24"/>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6" name="TextBox 25"/>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7" name="TextBox 26"/>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28" name="TextBox 27"/>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29" name="TextBox 28"/>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0" name="TextBox 29"/>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1" name="TextBox 30"/>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2" name="TextBox 31"/>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3" name="TextBox 32"/>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4" name="TextBox 33"/>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5" name="TextBox 34"/>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6" name="TextBox 35"/>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7" name="TextBox 36"/>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38" name="TextBox 37"/>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39" name="TextBox 38"/>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0" name="TextBox 39"/>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1" name="TextBox 40"/>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2" name="TextBox 41"/>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3" name="TextBox 42"/>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4" name="TextBox 43"/>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5" name="TextBox 44"/>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6" name="TextBox 45"/>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7" name="TextBox 46"/>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48" name="TextBox 47"/>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49" name="TextBox 48"/>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0" name="TextBox 49"/>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1" name="TextBox 50"/>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2" name="TextBox 51"/>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3" name="TextBox 52"/>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4" name="TextBox 53"/>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5" name="TextBox 54"/>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6" name="TextBox 55"/>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7" name="TextBox 56"/>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58" name="TextBox 57"/>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59" name="TextBox 58"/>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0" name="TextBox 59"/>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1" name="TextBox 60"/>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2" name="TextBox 61"/>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3" name="TextBox 62"/>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4" name="TextBox 63"/>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5" name="TextBox 64"/>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6" name="TextBox 65"/>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7" name="TextBox 66"/>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68" name="TextBox 67"/>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69" name="TextBox 68"/>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0" name="TextBox 69"/>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1" name="TextBox 70"/>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2" name="TextBox 71"/>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3" name="TextBox 72"/>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4" name="TextBox 73"/>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5" name="TextBox 74"/>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6" name="TextBox 75"/>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7" name="TextBox 76"/>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78" name="TextBox 77"/>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79" name="TextBox 78"/>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0" name="TextBox 79"/>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1" name="TextBox 80"/>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2" name="TextBox 81"/>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3" name="TextBox 82"/>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4" name="TextBox 83"/>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5" name="TextBox 84"/>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6" name="TextBox 85"/>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7" name="TextBox 86"/>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88" name="TextBox 87"/>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89" name="TextBox 88"/>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0" name="TextBox 89"/>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1" name="TextBox 90"/>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2" name="TextBox 91"/>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3" name="TextBox 92"/>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4" name="TextBox 93"/>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5" name="TextBox 94"/>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6" name="TextBox 95"/>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7" name="TextBox 96"/>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98" name="TextBox 97"/>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99" name="TextBox 98"/>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0" name="TextBox 99"/>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1" name="TextBox 100"/>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2" name="TextBox 101"/>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3" name="TextBox 102"/>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497633"/>
            <a:ext cx="4991100" cy="1009650"/>
          </a:xfrm>
          <a:prstGeom prst="roundRect">
            <a:avLst>
              <a:gd name="adj" fmla="val 7547"/>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91300" y="2497633"/>
            <a:ext cx="4991100" cy="1009650"/>
          </a:xfrm>
          <a:prstGeom prst="roundRect">
            <a:avLst>
              <a:gd name="adj" fmla="val 7547"/>
            </a:avLst>
          </a:prstGeom>
          <a:solidFill>
            <a:srgbClr val="524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5905500" y="3719512"/>
            <a:ext cx="381000" cy="381000"/>
          </a:xfrm>
          <a:prstGeom prst="rect">
            <a:avLst/>
          </a:prstGeom>
        </p:spPr>
      </p:pic>
      <p:graphicFrame>
        <p:nvGraphicFramePr>
          <p:cNvPr id="10" name="Table 9"/>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1" name="TextBox 10"/>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Infrastructure Integration</a:t>
            </a:r>
          </a:p>
        </p:txBody>
      </p:sp>
      <p:sp>
        <p:nvSpPr>
          <p:cNvPr id="12" name="TextBox 11"/>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3" name="TextBox 12"/>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4" name="TextBox 13"/>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5" name="TextBox 14"/>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6" name="TextBox 15"/>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7" name="TextBox 16"/>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8" name="TextBox 17"/>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9" name="TextBox 18"/>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0" name="TextBox 19"/>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1" name="TextBox 20"/>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2" name="TextBox 21"/>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3" name="TextBox 22"/>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4" name="TextBox 23"/>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5" name="TextBox 24"/>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6" name="TextBox 25"/>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7" name="TextBox 26"/>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8" name="TextBox 27"/>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9" name="TextBox 28"/>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0" name="TextBox 29"/>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1" name="TextBox 30"/>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2" name="TextBox 31"/>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3" name="TextBox 32"/>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4" name="TextBox 33"/>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5" name="TextBox 34"/>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6" name="TextBox 35"/>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7" name="TextBox 36"/>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8" name="TextBox 37"/>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9" name="TextBox 38"/>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0" name="TextBox 39"/>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1" name="TextBox 40"/>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2" name="TextBox 41"/>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3" name="TextBox 42"/>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4" name="TextBox 43"/>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5" name="TextBox 44"/>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6" name="TextBox 45"/>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7" name="TextBox 46"/>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8" name="TextBox 47"/>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9" name="TextBox 48"/>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0" name="TextBox 49"/>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1" name="TextBox 50"/>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2" name="TextBox 51"/>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3" name="TextBox 52"/>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4" name="TextBox 53"/>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5" name="TextBox 54"/>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6" name="TextBox 55"/>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7" name="TextBox 56"/>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8" name="TextBox 57"/>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9" name="TextBox 58"/>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0" name="TextBox 59"/>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1" name="TextBox 60"/>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2" name="TextBox 61"/>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3" name="TextBox 62"/>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4" name="TextBox 63"/>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5" name="TextBox 64"/>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6" name="TextBox 65"/>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7" name="TextBox 66"/>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8" name="TextBox 67"/>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9" name="TextBox 68"/>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0" name="TextBox 69"/>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1" name="TextBox 70"/>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2" name="TextBox 71"/>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3" name="TextBox 72"/>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4" name="TextBox 73"/>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5" name="TextBox 74"/>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6" name="TextBox 75"/>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7" name="TextBox 76"/>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8" name="TextBox 77"/>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9" name="TextBox 78"/>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0" name="TextBox 79"/>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1" name="TextBox 80"/>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2" name="TextBox 81"/>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3" name="TextBox 82"/>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4" name="TextBox 83"/>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5" name="TextBox 84"/>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6" name="TextBox 85"/>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7" name="TextBox 86"/>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8" name="TextBox 87"/>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9" name="TextBox 88"/>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0" name="TextBox 89"/>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1" name="TextBox 90"/>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2" name="TextBox 91"/>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3" name="TextBox 92"/>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4" name="TextBox 93"/>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5" name="TextBox 94"/>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6" name="TextBox 95"/>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7" name="TextBox 96"/>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8" name="TextBox 97"/>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9" name="TextBox 98"/>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0" name="TextBox 99"/>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1" name="TextBox 100"/>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2" name="TextBox 101"/>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3" name="TextBox 102"/>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4" name="TextBox 103"/>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5" name="TextBox 104"/>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6" name="TextBox 105"/>
          <p:cNvSpPr txBox="1"/>
          <p:nvPr/>
        </p:nvSpPr>
        <p:spPr>
          <a:xfrm>
            <a:off x="1943100" y="3659683"/>
            <a:ext cx="2905125" cy="200025"/>
          </a:xfrm>
          <a:prstGeom prst="rect">
            <a:avLst/>
          </a:prstGeom>
          <a:noFill/>
        </p:spPr>
        <p:txBody>
          <a:bodyPr wrap="none" lIns="0" rIns="0" tIns="0" bIns="0" anchor="t">
            <a:spAutoFit/>
          </a:bodyPr>
          <a:lstStyle/>
          <a:p>
            <a:pPr algn="l"/>
            <a:r>
              <a:rPr b="1" sz="1350" i="0" u="none">
                <a:solidFill>
                  <a:srgbClr val="5E6C84"/>
                </a:solidFill>
                <a:latin typeface="Inter"/>
              </a:rPr>
              <a:t>"What work is being done?"</a:t>
            </a:r>
          </a:p>
        </p:txBody>
      </p:sp>
      <p:sp>
        <p:nvSpPr>
          <p:cNvPr id="107" name="TextBox 106"/>
          <p:cNvSpPr txBox="1"/>
          <p:nvPr/>
        </p:nvSpPr>
        <p:spPr>
          <a:xfrm>
            <a:off x="7815262" y="3659683"/>
            <a:ext cx="3178968" cy="200025"/>
          </a:xfrm>
          <a:prstGeom prst="rect">
            <a:avLst/>
          </a:prstGeom>
          <a:noFill/>
        </p:spPr>
        <p:txBody>
          <a:bodyPr wrap="none" lIns="0" rIns="0" tIns="0" bIns="0" anchor="t">
            <a:spAutoFit/>
          </a:bodyPr>
          <a:lstStyle/>
          <a:p>
            <a:pPr algn="l"/>
            <a:r>
              <a:rPr b="1" sz="1350" i="0" u="none">
                <a:solidFill>
                  <a:srgbClr val="5E6C84"/>
                </a:solidFill>
                <a:latin typeface="Inter"/>
              </a:rPr>
              <a:t>"How is it managed and why?"</a:t>
            </a:r>
          </a:p>
        </p:txBody>
      </p:sp>
      <p:sp>
        <p:nvSpPr>
          <p:cNvPr id="108" name="TextBox 107"/>
          <p:cNvSpPr txBox="1"/>
          <p:nvPr/>
        </p:nvSpPr>
        <p:spPr>
          <a:xfrm>
            <a:off x="129778" y="2726233"/>
            <a:ext cx="5950743" cy="323850"/>
          </a:xfrm>
          <a:prstGeom prst="rect">
            <a:avLst/>
          </a:prstGeom>
          <a:noFill/>
        </p:spPr>
        <p:txBody>
          <a:bodyPr wrap="none" lIns="0" rIns="0" tIns="0" bIns="0" anchor="t">
            <a:spAutoFit/>
          </a:bodyPr>
          <a:lstStyle/>
          <a:p>
            <a:pPr algn="ctr"/>
            <a:r>
              <a:rPr b="1" sz="2100" i="0" u="none">
                <a:solidFill>
                  <a:srgbClr val="FFFFFF"/>
                </a:solidFill>
                <a:latin typeface="Inter"/>
              </a:rPr>
              <a:t>JIRA</a:t>
            </a:r>
          </a:p>
        </p:txBody>
      </p:sp>
      <p:sp>
        <p:nvSpPr>
          <p:cNvPr id="109" name="TextBox 108"/>
          <p:cNvSpPr txBox="1"/>
          <p:nvPr/>
        </p:nvSpPr>
        <p:spPr>
          <a:xfrm>
            <a:off x="271462" y="3088183"/>
            <a:ext cx="5667375" cy="190500"/>
          </a:xfrm>
          <a:prstGeom prst="rect">
            <a:avLst/>
          </a:prstGeom>
          <a:noFill/>
        </p:spPr>
        <p:txBody>
          <a:bodyPr wrap="none" lIns="0" rIns="0" tIns="0" bIns="0" anchor="t">
            <a:spAutoFit/>
          </a:bodyPr>
          <a:lstStyle/>
          <a:p>
            <a:pPr algn="ctr"/>
            <a:r>
              <a:rPr b="0" sz="1200" i="0" u="none">
                <a:solidFill>
                  <a:srgbClr val="FFFFFF"/>
                </a:solidFill>
                <a:latin typeface="Inter"/>
              </a:rPr>
              <a:t>Executable Work System</a:t>
            </a:r>
          </a:p>
        </p:txBody>
      </p:sp>
      <p:sp>
        <p:nvSpPr>
          <p:cNvPr id="110" name="TextBox 109"/>
          <p:cNvSpPr txBox="1"/>
          <p:nvPr/>
        </p:nvSpPr>
        <p:spPr>
          <a:xfrm>
            <a:off x="1872853" y="4088308"/>
            <a:ext cx="2464593"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Backlog &amp; Status</a:t>
            </a:r>
          </a:p>
        </p:txBody>
      </p:sp>
      <p:sp>
        <p:nvSpPr>
          <p:cNvPr id="111" name="TextBox 110"/>
          <p:cNvSpPr txBox="1"/>
          <p:nvPr/>
        </p:nvSpPr>
        <p:spPr>
          <a:xfrm>
            <a:off x="1872853" y="4396829"/>
            <a:ext cx="2464593"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Epics, Stories, Subtasks</a:t>
            </a:r>
          </a:p>
        </p:txBody>
      </p:sp>
      <p:sp>
        <p:nvSpPr>
          <p:cNvPr id="112" name="TextBox 111"/>
          <p:cNvSpPr txBox="1"/>
          <p:nvPr/>
        </p:nvSpPr>
        <p:spPr>
          <a:xfrm>
            <a:off x="1872853" y="4705350"/>
            <a:ext cx="2464593"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Bugs &amp; Dependencies</a:t>
            </a:r>
          </a:p>
        </p:txBody>
      </p:sp>
      <p:sp>
        <p:nvSpPr>
          <p:cNvPr id="113" name="TextBox 112"/>
          <p:cNvSpPr txBox="1"/>
          <p:nvPr/>
        </p:nvSpPr>
        <p:spPr>
          <a:xfrm>
            <a:off x="1872853" y="5013870"/>
            <a:ext cx="2464593"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Releases &amp; Metrics</a:t>
            </a:r>
          </a:p>
        </p:txBody>
      </p:sp>
      <p:sp>
        <p:nvSpPr>
          <p:cNvPr id="114" name="TextBox 113"/>
          <p:cNvSpPr txBox="1"/>
          <p:nvPr/>
        </p:nvSpPr>
        <p:spPr>
          <a:xfrm>
            <a:off x="6117431" y="2726233"/>
            <a:ext cx="5938837" cy="323850"/>
          </a:xfrm>
          <a:prstGeom prst="rect">
            <a:avLst/>
          </a:prstGeom>
          <a:noFill/>
        </p:spPr>
        <p:txBody>
          <a:bodyPr wrap="none" lIns="0" rIns="0" tIns="0" bIns="0" anchor="t">
            <a:spAutoFit/>
          </a:bodyPr>
          <a:lstStyle/>
          <a:p>
            <a:pPr algn="ctr"/>
            <a:r>
              <a:rPr b="1" sz="2100" i="0" u="none">
                <a:solidFill>
                  <a:srgbClr val="FFFFFF"/>
                </a:solidFill>
                <a:latin typeface="Inter"/>
              </a:rPr>
              <a:t>CONFLUENCE</a:t>
            </a:r>
          </a:p>
        </p:txBody>
      </p:sp>
      <p:sp>
        <p:nvSpPr>
          <p:cNvPr id="115" name="TextBox 114"/>
          <p:cNvSpPr txBox="1"/>
          <p:nvPr/>
        </p:nvSpPr>
        <p:spPr>
          <a:xfrm>
            <a:off x="6253162" y="3088183"/>
            <a:ext cx="5667375" cy="190500"/>
          </a:xfrm>
          <a:prstGeom prst="rect">
            <a:avLst/>
          </a:prstGeom>
          <a:noFill/>
        </p:spPr>
        <p:txBody>
          <a:bodyPr wrap="none" lIns="0" rIns="0" tIns="0" bIns="0" anchor="t">
            <a:spAutoFit/>
          </a:bodyPr>
          <a:lstStyle/>
          <a:p>
            <a:pPr algn="ctr"/>
            <a:r>
              <a:rPr b="0" sz="1200" i="0" u="none">
                <a:solidFill>
                  <a:srgbClr val="FFFFFF"/>
                </a:solidFill>
                <a:latin typeface="Inter"/>
              </a:rPr>
              <a:t>Knowledge &amp; Documentation</a:t>
            </a:r>
          </a:p>
        </p:txBody>
      </p:sp>
      <p:sp>
        <p:nvSpPr>
          <p:cNvPr id="116" name="TextBox 115"/>
          <p:cNvSpPr txBox="1"/>
          <p:nvPr/>
        </p:nvSpPr>
        <p:spPr>
          <a:xfrm>
            <a:off x="8051006" y="4088308"/>
            <a:ext cx="2071687"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Agile Playbook</a:t>
            </a:r>
          </a:p>
        </p:txBody>
      </p:sp>
      <p:sp>
        <p:nvSpPr>
          <p:cNvPr id="117" name="TextBox 116"/>
          <p:cNvSpPr txBox="1"/>
          <p:nvPr/>
        </p:nvSpPr>
        <p:spPr>
          <a:xfrm>
            <a:off x="8051006" y="4396829"/>
            <a:ext cx="2071687"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Process Standards</a:t>
            </a:r>
          </a:p>
        </p:txBody>
      </p:sp>
      <p:sp>
        <p:nvSpPr>
          <p:cNvPr id="118" name="TextBox 117"/>
          <p:cNvSpPr txBox="1"/>
          <p:nvPr/>
        </p:nvSpPr>
        <p:spPr>
          <a:xfrm>
            <a:off x="8051006" y="4705350"/>
            <a:ext cx="2071687"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Meeting Notes</a:t>
            </a:r>
          </a:p>
        </p:txBody>
      </p:sp>
      <p:sp>
        <p:nvSpPr>
          <p:cNvPr id="119" name="TextBox 118"/>
          <p:cNvSpPr txBox="1"/>
          <p:nvPr/>
        </p:nvSpPr>
        <p:spPr>
          <a:xfrm>
            <a:off x="8051006" y="5013870"/>
            <a:ext cx="2071687" cy="308520"/>
          </a:xfrm>
          <a:prstGeom prst="rect">
            <a:avLst/>
          </a:prstGeom>
          <a:noFill/>
        </p:spPr>
        <p:txBody>
          <a:bodyPr wrap="none" lIns="0" rIns="0" tIns="0" bIns="0" anchor="t">
            <a:spAutoFit/>
          </a:bodyPr>
          <a:lstStyle/>
          <a:p>
            <a:pPr algn="ctr">
              <a:lnSpc>
                <a:spcPts val="2429"/>
              </a:lnSpc>
            </a:pPr>
            <a:r>
              <a:rPr b="0" sz="1350" i="0" u="none">
                <a:solidFill>
                  <a:srgbClr val="172B4D"/>
                </a:solidFill>
                <a:latin typeface="Inter"/>
              </a:rPr>
              <a:t>Decisions &amp; Reports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26449" y="4483596"/>
            <a:ext cx="3555950" cy="8763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26449" y="4483596"/>
            <a:ext cx="38100" cy="876300"/>
          </a:xfrm>
          <a:prstGeom prst="rect">
            <a:avLst/>
          </a:prstGeom>
          <a:solidFill>
            <a:srgbClr val="42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609600" y="1533525"/>
            <a:ext cx="7112049" cy="4747617"/>
          </a:xfrm>
          <a:prstGeom prst="rect">
            <a:avLst/>
          </a:prstGeom>
        </p:spPr>
      </p:pic>
      <p:pic>
        <p:nvPicPr>
          <p:cNvPr id="9" name="Picture 8" descr="image.png"/>
          <p:cNvPicPr>
            <a:picLocks noChangeAspect="1"/>
          </p:cNvPicPr>
          <p:nvPr/>
        </p:nvPicPr>
        <p:blipFill>
          <a:blip r:embed="rId3"/>
          <a:stretch>
            <a:fillRect/>
          </a:stretch>
        </p:blipFill>
        <p:spPr>
          <a:xfrm>
            <a:off x="8026449" y="3212008"/>
            <a:ext cx="190500" cy="180975"/>
          </a:xfrm>
          <a:prstGeom prst="rect">
            <a:avLst/>
          </a:prstGeom>
        </p:spPr>
      </p:pic>
      <p:pic>
        <p:nvPicPr>
          <p:cNvPr id="10" name="Picture 9" descr="image.png"/>
          <p:cNvPicPr>
            <a:picLocks noChangeAspect="1"/>
          </p:cNvPicPr>
          <p:nvPr/>
        </p:nvPicPr>
        <p:blipFill>
          <a:blip r:embed="rId4"/>
          <a:stretch>
            <a:fillRect/>
          </a:stretch>
        </p:blipFill>
        <p:spPr>
          <a:xfrm>
            <a:off x="8026449" y="3564433"/>
            <a:ext cx="171450" cy="180975"/>
          </a:xfrm>
          <a:prstGeom prst="rect">
            <a:avLst/>
          </a:prstGeom>
        </p:spPr>
      </p:pic>
      <p:pic>
        <p:nvPicPr>
          <p:cNvPr id="11" name="Picture 10" descr="image.png"/>
          <p:cNvPicPr>
            <a:picLocks noChangeAspect="1"/>
          </p:cNvPicPr>
          <p:nvPr/>
        </p:nvPicPr>
        <p:blipFill>
          <a:blip r:embed="rId5"/>
          <a:stretch>
            <a:fillRect/>
          </a:stretch>
        </p:blipFill>
        <p:spPr>
          <a:xfrm>
            <a:off x="8026449" y="3916858"/>
            <a:ext cx="152400" cy="180975"/>
          </a:xfrm>
          <a:prstGeom prst="rect">
            <a:avLst/>
          </a:prstGeom>
        </p:spPr>
      </p:pic>
      <p:graphicFrame>
        <p:nvGraphicFramePr>
          <p:cNvPr id="12" name="Table 11"/>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3" name="TextBox 12"/>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Project Analytics &amp; Reports</a:t>
            </a:r>
          </a:p>
        </p:txBody>
      </p:sp>
      <p:sp>
        <p:nvSpPr>
          <p:cNvPr id="14" name="TextBox 13"/>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5" name="TextBox 14"/>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6" name="TextBox 15"/>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7" name="TextBox 16"/>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8" name="TextBox 17"/>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9" name="TextBox 18"/>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0" name="TextBox 19"/>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1" name="TextBox 20"/>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2" name="TextBox 21"/>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3" name="TextBox 22"/>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4" name="TextBox 23"/>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5" name="TextBox 24"/>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6" name="TextBox 25"/>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7" name="TextBox 26"/>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8" name="TextBox 27"/>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9" name="TextBox 28"/>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0" name="TextBox 29"/>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1" name="TextBox 30"/>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2" name="TextBox 31"/>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3" name="TextBox 32"/>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4" name="TextBox 33"/>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5" name="TextBox 34"/>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6" name="TextBox 35"/>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7" name="TextBox 36"/>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8" name="TextBox 37"/>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9" name="TextBox 38"/>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0" name="TextBox 39"/>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1" name="TextBox 40"/>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2" name="TextBox 41"/>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3" name="TextBox 42"/>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4" name="TextBox 43"/>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5" name="TextBox 44"/>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6" name="TextBox 45"/>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7" name="TextBox 46"/>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8" name="TextBox 47"/>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9" name="TextBox 48"/>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0" name="TextBox 49"/>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1" name="TextBox 50"/>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2" name="TextBox 51"/>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3" name="TextBox 52"/>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4" name="TextBox 53"/>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5" name="TextBox 54"/>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6" name="TextBox 55"/>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7" name="TextBox 56"/>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8" name="TextBox 57"/>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9" name="TextBox 58"/>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0" name="TextBox 59"/>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1" name="TextBox 60"/>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2" name="TextBox 61"/>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3" name="TextBox 62"/>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4" name="TextBox 63"/>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5" name="TextBox 64"/>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6" name="TextBox 65"/>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7" name="TextBox 66"/>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8" name="TextBox 67"/>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9" name="TextBox 68"/>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0" name="TextBox 69"/>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1" name="TextBox 70"/>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2" name="TextBox 71"/>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3" name="TextBox 72"/>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4" name="TextBox 73"/>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5" name="TextBox 74"/>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6" name="TextBox 75"/>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7" name="TextBox 76"/>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8" name="TextBox 77"/>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9" name="TextBox 78"/>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0" name="TextBox 79"/>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1" name="TextBox 80"/>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2" name="TextBox 81"/>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3" name="TextBox 82"/>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4" name="TextBox 83"/>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5" name="TextBox 84"/>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6" name="TextBox 85"/>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7" name="TextBox 86"/>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8" name="TextBox 87"/>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9" name="TextBox 88"/>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0" name="TextBox 89"/>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1" name="TextBox 90"/>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2" name="TextBox 91"/>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3" name="TextBox 92"/>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4" name="TextBox 93"/>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5" name="TextBox 94"/>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6" name="TextBox 95"/>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7" name="TextBox 96"/>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8" name="TextBox 97"/>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9" name="TextBox 98"/>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0" name="TextBox 99"/>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1" name="TextBox 100"/>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2" name="TextBox 101"/>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3" name="TextBox 102"/>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4" name="TextBox 103"/>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5" name="TextBox 104"/>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6" name="TextBox 105"/>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7" name="TextBox 106"/>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8" name="TextBox 107"/>
          <p:cNvSpPr txBox="1"/>
          <p:nvPr/>
        </p:nvSpPr>
        <p:spPr>
          <a:xfrm>
            <a:off x="-279406" y="6433542"/>
            <a:ext cx="8890062" cy="161925"/>
          </a:xfrm>
          <a:prstGeom prst="rect">
            <a:avLst/>
          </a:prstGeom>
          <a:noFill/>
        </p:spPr>
        <p:txBody>
          <a:bodyPr wrap="none" lIns="0" rIns="0" tIns="0" bIns="0" anchor="t">
            <a:spAutoFit/>
          </a:bodyPr>
          <a:lstStyle/>
          <a:p>
            <a:pPr algn="ctr"/>
            <a:r>
              <a:rPr b="0" sz="1050" i="1" u="none">
                <a:solidFill>
                  <a:srgbClr val="5E6C84"/>
                </a:solidFill>
                <a:latin typeface="Inter"/>
              </a:rPr>
              <a:t>Figure 12. Jira Reports showing status distribution and item types.</a:t>
            </a:r>
          </a:p>
        </p:txBody>
      </p:sp>
      <p:sp>
        <p:nvSpPr>
          <p:cNvPr id="109" name="TextBox 108"/>
          <p:cNvSpPr txBox="1"/>
          <p:nvPr/>
        </p:nvSpPr>
        <p:spPr>
          <a:xfrm>
            <a:off x="8026449" y="2769096"/>
            <a:ext cx="4165550" cy="276225"/>
          </a:xfrm>
          <a:prstGeom prst="rect">
            <a:avLst/>
          </a:prstGeom>
          <a:noFill/>
        </p:spPr>
        <p:txBody>
          <a:bodyPr wrap="none" lIns="0" rIns="0" tIns="0" bIns="0" anchor="t">
            <a:spAutoFit/>
          </a:bodyPr>
          <a:lstStyle/>
          <a:p>
            <a:pPr algn="l"/>
            <a:r>
              <a:rPr b="1" sz="1800" i="0" u="none">
                <a:solidFill>
                  <a:srgbClr val="172B4D"/>
                </a:solidFill>
                <a:latin typeface="Inter"/>
              </a:rPr>
              <a:t>Metrics enable Inspect &amp; Adapt.</a:t>
            </a:r>
          </a:p>
        </p:txBody>
      </p:sp>
      <p:sp>
        <p:nvSpPr>
          <p:cNvPr id="110" name="TextBox 109"/>
          <p:cNvSpPr txBox="1"/>
          <p:nvPr/>
        </p:nvSpPr>
        <p:spPr>
          <a:xfrm>
            <a:off x="8026449" y="3197721"/>
            <a:ext cx="4165550" cy="200025"/>
          </a:xfrm>
          <a:prstGeom prst="rect">
            <a:avLst/>
          </a:prstGeom>
          <a:noFill/>
        </p:spPr>
        <p:txBody>
          <a:bodyPr wrap="none" lIns="304800" rIns="0" tIns="0" bIns="0" anchor="t">
            <a:spAutoFit/>
          </a:bodyPr>
          <a:lstStyle/>
          <a:p>
            <a:pPr algn="l"/>
            <a:r>
              <a:rPr b="0" sz="1350" i="0" u="none">
                <a:solidFill>
                  <a:srgbClr val="172B4D"/>
                </a:solidFill>
                <a:latin typeface="Inter"/>
              </a:rPr>
              <a:t>Work items by status.</a:t>
            </a:r>
          </a:p>
        </p:txBody>
      </p:sp>
      <p:sp>
        <p:nvSpPr>
          <p:cNvPr id="111" name="TextBox 110"/>
          <p:cNvSpPr txBox="1"/>
          <p:nvPr/>
        </p:nvSpPr>
        <p:spPr>
          <a:xfrm>
            <a:off x="8026449" y="3550146"/>
            <a:ext cx="4165550" cy="200025"/>
          </a:xfrm>
          <a:prstGeom prst="rect">
            <a:avLst/>
          </a:prstGeom>
          <a:noFill/>
        </p:spPr>
        <p:txBody>
          <a:bodyPr wrap="none" lIns="285750" rIns="0" tIns="0" bIns="0" anchor="t">
            <a:spAutoFit/>
          </a:bodyPr>
          <a:lstStyle/>
          <a:p>
            <a:pPr algn="l"/>
            <a:r>
              <a:rPr b="0" sz="1350" i="0" u="none">
                <a:solidFill>
                  <a:srgbClr val="172B4D"/>
                </a:solidFill>
                <a:latin typeface="Inter"/>
              </a:rPr>
              <a:t>Cycle time &amp; Lead time.</a:t>
            </a:r>
          </a:p>
        </p:txBody>
      </p:sp>
      <p:sp>
        <p:nvSpPr>
          <p:cNvPr id="112" name="TextBox 111"/>
          <p:cNvSpPr txBox="1"/>
          <p:nvPr/>
        </p:nvSpPr>
        <p:spPr>
          <a:xfrm>
            <a:off x="8026449" y="3902571"/>
            <a:ext cx="4165550" cy="200025"/>
          </a:xfrm>
          <a:prstGeom prst="rect">
            <a:avLst/>
          </a:prstGeom>
          <a:noFill/>
        </p:spPr>
        <p:txBody>
          <a:bodyPr wrap="none" lIns="266700" rIns="0" tIns="0" bIns="0" anchor="t">
            <a:spAutoFit/>
          </a:bodyPr>
          <a:lstStyle/>
          <a:p>
            <a:pPr algn="l"/>
            <a:r>
              <a:rPr b="0" sz="1350" i="0" u="none">
                <a:solidFill>
                  <a:srgbClr val="172B4D"/>
                </a:solidFill>
                <a:latin typeface="Inter"/>
              </a:rPr>
              <a:t>PRs &amp; Deployments (Dev View).</a:t>
            </a:r>
          </a:p>
        </p:txBody>
      </p:sp>
      <p:sp>
        <p:nvSpPr>
          <p:cNvPr id="113" name="TextBox 112"/>
          <p:cNvSpPr txBox="1"/>
          <p:nvPr/>
        </p:nvSpPr>
        <p:spPr>
          <a:xfrm>
            <a:off x="8216949" y="4635996"/>
            <a:ext cx="3308300" cy="571500"/>
          </a:xfrm>
          <a:prstGeom prst="rect">
            <a:avLst/>
          </a:prstGeom>
          <a:noFill/>
        </p:spPr>
        <p:txBody>
          <a:bodyPr wrap="square" lIns="0" rIns="0" tIns="0" bIns="0" anchor="t">
            <a:spAutoFit/>
          </a:bodyPr>
          <a:lstStyle/>
          <a:p>
            <a:pPr algn="l"/>
            <a:r>
              <a:rPr b="0" sz="1200" i="0" u="none">
                <a:solidFill>
                  <a:srgbClr val="5E6C84"/>
                </a:solidFill>
                <a:latin typeface="Inter"/>
              </a:rPr>
              <a:t>Note: Charts reflect current setup state and integration baseline, avoiding fabricated historical velocity.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609600" y="1533525"/>
            <a:ext cx="7112049" cy="4747617"/>
          </a:xfrm>
          <a:prstGeom prst="rect">
            <a:avLst/>
          </a:prstGeom>
        </p:spPr>
      </p:pic>
      <p:graphicFrame>
        <p:nvGraphicFramePr>
          <p:cNvPr id="7" name="Table 6"/>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8" name="TextBox 7"/>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Timeline &amp; Calendar Planning</a:t>
            </a:r>
          </a:p>
        </p:txBody>
      </p:sp>
      <p:sp>
        <p:nvSpPr>
          <p:cNvPr id="9" name="TextBox 8"/>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0" name="TextBox 9"/>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1" name="TextBox 10"/>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2" name="TextBox 11"/>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3" name="TextBox 12"/>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14" name="TextBox 13"/>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15" name="TextBox 14"/>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16" name="TextBox 15"/>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17" name="TextBox 16"/>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18" name="TextBox 17"/>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19" name="TextBox 18"/>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0" name="TextBox 19"/>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1" name="TextBox 20"/>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2" name="TextBox 21"/>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3" name="TextBox 22"/>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24" name="TextBox 23"/>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25" name="TextBox 24"/>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26" name="TextBox 25"/>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27" name="TextBox 26"/>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28" name="TextBox 27"/>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29" name="TextBox 28"/>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0" name="TextBox 29"/>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1" name="TextBox 30"/>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2" name="TextBox 31"/>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3" name="TextBox 32"/>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34" name="TextBox 33"/>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35" name="TextBox 34"/>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36" name="TextBox 35"/>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37" name="TextBox 36"/>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38" name="TextBox 37"/>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39" name="TextBox 38"/>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0" name="TextBox 39"/>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1" name="TextBox 40"/>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2" name="TextBox 41"/>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3" name="TextBox 42"/>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44" name="TextBox 43"/>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45" name="TextBox 44"/>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46" name="TextBox 45"/>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47" name="TextBox 46"/>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48" name="TextBox 47"/>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49" name="TextBox 48"/>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0" name="TextBox 49"/>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1" name="TextBox 50"/>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2" name="TextBox 51"/>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3" name="TextBox 52"/>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54" name="TextBox 53"/>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55" name="TextBox 54"/>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56" name="TextBox 55"/>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57" name="TextBox 56"/>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58" name="TextBox 57"/>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59" name="TextBox 58"/>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0" name="TextBox 59"/>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1" name="TextBox 60"/>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2" name="TextBox 61"/>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3" name="TextBox 62"/>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64" name="TextBox 63"/>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65" name="TextBox 64"/>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66" name="TextBox 65"/>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67" name="TextBox 66"/>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68" name="TextBox 67"/>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69" name="TextBox 68"/>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0" name="TextBox 69"/>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1" name="TextBox 70"/>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2" name="TextBox 71"/>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3" name="TextBox 72"/>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74" name="TextBox 73"/>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75" name="TextBox 74"/>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76" name="TextBox 75"/>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77" name="TextBox 76"/>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78" name="TextBox 77"/>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79" name="TextBox 78"/>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0" name="TextBox 79"/>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1" name="TextBox 80"/>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2" name="TextBox 81"/>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3" name="TextBox 82"/>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84" name="TextBox 83"/>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85" name="TextBox 84"/>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86" name="TextBox 85"/>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87" name="TextBox 86"/>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88" name="TextBox 87"/>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89" name="TextBox 88"/>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0" name="TextBox 89"/>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1" name="TextBox 90"/>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2" name="TextBox 91"/>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3" name="TextBox 92"/>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94" name="TextBox 93"/>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95" name="TextBox 94"/>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96" name="TextBox 95"/>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97" name="TextBox 96"/>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98" name="TextBox 97"/>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99" name="TextBox 98"/>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0" name="TextBox 99"/>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1" name="TextBox 100"/>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2" name="TextBox 101"/>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3" name="TextBox 102"/>
          <p:cNvSpPr txBox="1"/>
          <p:nvPr/>
        </p:nvSpPr>
        <p:spPr>
          <a:xfrm>
            <a:off x="-279406" y="6433542"/>
            <a:ext cx="8890062" cy="161925"/>
          </a:xfrm>
          <a:prstGeom prst="rect">
            <a:avLst/>
          </a:prstGeom>
          <a:noFill/>
        </p:spPr>
        <p:txBody>
          <a:bodyPr wrap="none" lIns="0" rIns="0" tIns="0" bIns="0" anchor="t">
            <a:spAutoFit/>
          </a:bodyPr>
          <a:lstStyle/>
          <a:p>
            <a:pPr algn="ctr"/>
            <a:r>
              <a:rPr b="0" sz="1050" i="1" u="none">
                <a:solidFill>
                  <a:srgbClr val="5E6C84"/>
                </a:solidFill>
                <a:latin typeface="Inter"/>
              </a:rPr>
              <a:t>Figure 9. Jira Timeline view displaying Epic-level roadmap.</a:t>
            </a:r>
          </a:p>
        </p:txBody>
      </p:sp>
      <p:sp>
        <p:nvSpPr>
          <p:cNvPr id="104" name="TextBox 103"/>
          <p:cNvSpPr txBox="1"/>
          <p:nvPr/>
        </p:nvSpPr>
        <p:spPr>
          <a:xfrm>
            <a:off x="8026449" y="3159621"/>
            <a:ext cx="4165550" cy="276225"/>
          </a:xfrm>
          <a:prstGeom prst="rect">
            <a:avLst/>
          </a:prstGeom>
          <a:noFill/>
        </p:spPr>
        <p:txBody>
          <a:bodyPr wrap="none" lIns="0" rIns="0" tIns="0" bIns="0" anchor="t">
            <a:spAutoFit/>
          </a:bodyPr>
          <a:lstStyle/>
          <a:p>
            <a:pPr algn="l"/>
            <a:r>
              <a:rPr b="1" sz="1800" i="0" u="none">
                <a:solidFill>
                  <a:srgbClr val="0052CC"/>
                </a:solidFill>
                <a:latin typeface="Inter"/>
              </a:rPr>
              <a:t>Timeline View</a:t>
            </a:r>
          </a:p>
        </p:txBody>
      </p:sp>
      <p:sp>
        <p:nvSpPr>
          <p:cNvPr id="105" name="TextBox 104"/>
          <p:cNvSpPr txBox="1"/>
          <p:nvPr/>
        </p:nvSpPr>
        <p:spPr>
          <a:xfrm>
            <a:off x="8026449" y="3512046"/>
            <a:ext cx="3651200" cy="400050"/>
          </a:xfrm>
          <a:prstGeom prst="rect">
            <a:avLst/>
          </a:prstGeom>
          <a:noFill/>
        </p:spPr>
        <p:txBody>
          <a:bodyPr wrap="square" lIns="0" rIns="0" tIns="0" bIns="0" anchor="t">
            <a:spAutoFit/>
          </a:bodyPr>
          <a:lstStyle/>
          <a:p>
            <a:pPr algn="l"/>
            <a:r>
              <a:rPr b="0" sz="1350" i="0" u="none">
                <a:solidFill>
                  <a:srgbClr val="172B4D"/>
                </a:solidFill>
                <a:latin typeface="Inter"/>
              </a:rPr>
              <a:t>Supports roadmap planning, Epic structure, and phase alignment.</a:t>
            </a:r>
          </a:p>
        </p:txBody>
      </p:sp>
      <p:sp>
        <p:nvSpPr>
          <p:cNvPr id="106" name="TextBox 105"/>
          <p:cNvSpPr txBox="1"/>
          <p:nvPr/>
        </p:nvSpPr>
        <p:spPr>
          <a:xfrm>
            <a:off x="8026449" y="4216896"/>
            <a:ext cx="4165550" cy="276225"/>
          </a:xfrm>
          <a:prstGeom prst="rect">
            <a:avLst/>
          </a:prstGeom>
          <a:noFill/>
        </p:spPr>
        <p:txBody>
          <a:bodyPr wrap="none" lIns="0" rIns="0" tIns="0" bIns="0" anchor="t">
            <a:spAutoFit/>
          </a:bodyPr>
          <a:lstStyle/>
          <a:p>
            <a:pPr algn="l"/>
            <a:r>
              <a:rPr b="1" sz="1800" i="0" u="none">
                <a:solidFill>
                  <a:srgbClr val="0052CC"/>
                </a:solidFill>
                <a:latin typeface="Inter"/>
              </a:rPr>
              <a:t>Calendar View</a:t>
            </a:r>
          </a:p>
        </p:txBody>
      </p:sp>
      <p:sp>
        <p:nvSpPr>
          <p:cNvPr id="107" name="TextBox 106"/>
          <p:cNvSpPr txBox="1"/>
          <p:nvPr/>
        </p:nvSpPr>
        <p:spPr>
          <a:xfrm>
            <a:off x="8026449" y="4569321"/>
            <a:ext cx="3651200" cy="400050"/>
          </a:xfrm>
          <a:prstGeom prst="rect">
            <a:avLst/>
          </a:prstGeom>
          <a:noFill/>
        </p:spPr>
        <p:txBody>
          <a:bodyPr wrap="square" lIns="0" rIns="0" tIns="0" bIns="0" anchor="t">
            <a:spAutoFit/>
          </a:bodyPr>
          <a:lstStyle/>
          <a:p>
            <a:pPr algn="l"/>
            <a:r>
              <a:rPr b="0" sz="1350" i="0" u="none">
                <a:solidFill>
                  <a:srgbClr val="172B4D"/>
                </a:solidFill>
                <a:latin typeface="Inter"/>
              </a:rPr>
              <a:t>Date-based scheduling and unscheduled work visibility.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67312" y="3095625"/>
            <a:ext cx="1733550" cy="1628775"/>
          </a:xfrm>
          <a:prstGeom prst="roundRect">
            <a:avLst>
              <a:gd name="adj" fmla="val 4678"/>
            </a:avLst>
          </a:prstGeom>
          <a:noFill/>
          <a:ln w="19050">
            <a:solidFill>
              <a:srgbClr val="0052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95362" y="3452812"/>
            <a:ext cx="1504950" cy="419100"/>
          </a:xfrm>
          <a:prstGeom prst="roundRect">
            <a:avLst>
              <a:gd name="adj" fmla="val 9090"/>
            </a:avLst>
          </a:prstGeom>
          <a:solidFill>
            <a:srgbClr val="EA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2512" y="3948112"/>
            <a:ext cx="1390650" cy="419100"/>
          </a:xfrm>
          <a:prstGeom prst="roundRect">
            <a:avLst>
              <a:gd name="adj" fmla="val 9090"/>
            </a:avLst>
          </a:prstGeom>
          <a:solidFill>
            <a:srgbClr val="E3F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167062" y="3452812"/>
            <a:ext cx="1333500" cy="419100"/>
          </a:xfrm>
          <a:prstGeom prst="roundRect">
            <a:avLst>
              <a:gd name="adj" fmla="val 9090"/>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38462" y="3948112"/>
            <a:ext cx="1790700" cy="419100"/>
          </a:xfrm>
          <a:prstGeom prst="roundRect">
            <a:avLst>
              <a:gd name="adj" fmla="val 9090"/>
            </a:avLst>
          </a:prstGeom>
          <a:solidFill>
            <a:srgbClr val="FFF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91187" y="3533775"/>
            <a:ext cx="685800" cy="31432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00687" y="3886200"/>
            <a:ext cx="1066800" cy="31432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38762" y="4238625"/>
            <a:ext cx="1390650" cy="31432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39012" y="3452812"/>
            <a:ext cx="1724025" cy="419100"/>
          </a:xfrm>
          <a:prstGeom prst="roundRect">
            <a:avLst>
              <a:gd name="adj" fmla="val 9090"/>
            </a:avLst>
          </a:prstGeom>
          <a:solidFill>
            <a:srgbClr val="008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24737" y="3948112"/>
            <a:ext cx="1552575" cy="419100"/>
          </a:xfrm>
          <a:prstGeom prst="roundRect">
            <a:avLst>
              <a:gd name="adj" fmla="val 9090"/>
            </a:avLst>
          </a:prstGeom>
          <a:solidFill>
            <a:srgbClr val="FF9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1187" y="3452812"/>
            <a:ext cx="1695450" cy="419100"/>
          </a:xfrm>
          <a:prstGeom prst="roundRect">
            <a:avLst>
              <a:gd name="adj" fmla="val 9090"/>
            </a:avLst>
          </a:prstGeom>
          <a:solidFill>
            <a:srgbClr val="BF2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5962" y="3948112"/>
            <a:ext cx="1485900" cy="419100"/>
          </a:xfrm>
          <a:prstGeom prst="roundRect">
            <a:avLst>
              <a:gd name="adj" fmla="val 9090"/>
            </a:avLst>
          </a:prstGeom>
          <a:solidFill>
            <a:srgbClr val="4252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2"/>
          <a:stretch>
            <a:fillRect/>
          </a:stretch>
        </p:blipFill>
        <p:spPr>
          <a:xfrm>
            <a:off x="2652712" y="3833812"/>
            <a:ext cx="133350" cy="152400"/>
          </a:xfrm>
          <a:prstGeom prst="rect">
            <a:avLst/>
          </a:prstGeom>
        </p:spPr>
      </p:pic>
      <p:pic>
        <p:nvPicPr>
          <p:cNvPr id="20" name="Picture 19" descr="image.png"/>
          <p:cNvPicPr>
            <a:picLocks noChangeAspect="1"/>
          </p:cNvPicPr>
          <p:nvPr/>
        </p:nvPicPr>
        <p:blipFill>
          <a:blip r:embed="rId2"/>
          <a:stretch>
            <a:fillRect/>
          </a:stretch>
        </p:blipFill>
        <p:spPr>
          <a:xfrm>
            <a:off x="4881562" y="3833812"/>
            <a:ext cx="133350" cy="152400"/>
          </a:xfrm>
          <a:prstGeom prst="rect">
            <a:avLst/>
          </a:prstGeom>
        </p:spPr>
      </p:pic>
      <p:pic>
        <p:nvPicPr>
          <p:cNvPr id="21" name="Picture 20" descr="image.png"/>
          <p:cNvPicPr>
            <a:picLocks noChangeAspect="1"/>
          </p:cNvPicPr>
          <p:nvPr/>
        </p:nvPicPr>
        <p:blipFill>
          <a:blip r:embed="rId2"/>
          <a:stretch>
            <a:fillRect/>
          </a:stretch>
        </p:blipFill>
        <p:spPr>
          <a:xfrm>
            <a:off x="7053262" y="3833812"/>
            <a:ext cx="133350" cy="152400"/>
          </a:xfrm>
          <a:prstGeom prst="rect">
            <a:avLst/>
          </a:prstGeom>
        </p:spPr>
      </p:pic>
      <p:pic>
        <p:nvPicPr>
          <p:cNvPr id="22" name="Picture 21" descr="image.png"/>
          <p:cNvPicPr>
            <a:picLocks noChangeAspect="1"/>
          </p:cNvPicPr>
          <p:nvPr/>
        </p:nvPicPr>
        <p:blipFill>
          <a:blip r:embed="rId2"/>
          <a:stretch>
            <a:fillRect/>
          </a:stretch>
        </p:blipFill>
        <p:spPr>
          <a:xfrm>
            <a:off x="9215437" y="3833812"/>
            <a:ext cx="133350" cy="152400"/>
          </a:xfrm>
          <a:prstGeom prst="rect">
            <a:avLst/>
          </a:prstGeom>
        </p:spPr>
      </p:pic>
      <p:graphicFrame>
        <p:nvGraphicFramePr>
          <p:cNvPr id="23" name="Table 22"/>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24" name="TextBox 23"/>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End-to-End Agile Execution Model</a:t>
            </a:r>
          </a:p>
        </p:txBody>
      </p:sp>
      <p:sp>
        <p:nvSpPr>
          <p:cNvPr id="25" name="TextBox 24"/>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26" name="TextBox 25"/>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27" name="TextBox 26"/>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8" name="TextBox 27"/>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9" name="TextBox 28"/>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30" name="TextBox 29"/>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31" name="TextBox 30"/>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32" name="TextBox 31"/>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33" name="TextBox 32"/>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34" name="TextBox 33"/>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35" name="TextBox 34"/>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36" name="TextBox 35"/>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37" name="TextBox 36"/>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8" name="TextBox 37"/>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9" name="TextBox 38"/>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40" name="TextBox 39"/>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41" name="TextBox 40"/>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42" name="TextBox 41"/>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43" name="TextBox 42"/>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44" name="TextBox 43"/>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45" name="TextBox 44"/>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46" name="TextBox 45"/>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47" name="TextBox 46"/>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8" name="TextBox 47"/>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9" name="TextBox 48"/>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50" name="TextBox 49"/>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51" name="TextBox 50"/>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52" name="TextBox 51"/>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53" name="TextBox 52"/>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54" name="TextBox 53"/>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55" name="TextBox 54"/>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56" name="TextBox 55"/>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57" name="TextBox 56"/>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8" name="TextBox 57"/>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9" name="TextBox 58"/>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60" name="TextBox 59"/>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61" name="TextBox 60"/>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62" name="TextBox 61"/>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63" name="TextBox 62"/>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64" name="TextBox 63"/>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65" name="TextBox 64"/>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66" name="TextBox 65"/>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67" name="TextBox 66"/>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8" name="TextBox 67"/>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9" name="TextBox 68"/>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70" name="TextBox 69"/>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71" name="TextBox 70"/>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72" name="TextBox 71"/>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73" name="TextBox 72"/>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74" name="TextBox 73"/>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75" name="TextBox 74"/>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76" name="TextBox 75"/>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77" name="TextBox 76"/>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8" name="TextBox 77"/>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9" name="TextBox 78"/>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80" name="TextBox 79"/>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81" name="TextBox 80"/>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82" name="TextBox 81"/>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83" name="TextBox 82"/>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84" name="TextBox 83"/>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85" name="TextBox 84"/>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86" name="TextBox 85"/>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87" name="TextBox 86"/>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8" name="TextBox 87"/>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9" name="TextBox 88"/>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90" name="TextBox 89"/>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91" name="TextBox 90"/>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92" name="TextBox 91"/>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93" name="TextBox 92"/>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94" name="TextBox 93"/>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95" name="TextBox 94"/>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96" name="TextBox 95"/>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97" name="TextBox 96"/>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8" name="TextBox 97"/>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9" name="TextBox 98"/>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100" name="TextBox 99"/>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101" name="TextBox 100"/>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102" name="TextBox 101"/>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103" name="TextBox 102"/>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104" name="TextBox 103"/>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105" name="TextBox 104"/>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106" name="TextBox 105"/>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107" name="TextBox 106"/>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8" name="TextBox 107"/>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9" name="TextBox 108"/>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10" name="TextBox 109"/>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11" name="TextBox 110"/>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12" name="TextBox 111"/>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13" name="TextBox 112"/>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14" name="TextBox 113"/>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15" name="TextBox 114"/>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16" name="TextBox 115"/>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17" name="TextBox 116"/>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8" name="TextBox 117"/>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9" name="TextBox 118"/>
          <p:cNvSpPr txBox="1"/>
          <p:nvPr/>
        </p:nvSpPr>
        <p:spPr>
          <a:xfrm>
            <a:off x="1706760" y="2039242"/>
            <a:ext cx="1143000" cy="276225"/>
          </a:xfrm>
          <a:prstGeom prst="rect">
            <a:avLst/>
          </a:prstGeom>
          <a:noFill/>
        </p:spPr>
        <p:txBody>
          <a:bodyPr wrap="none" lIns="0" rIns="0" tIns="0" bIns="0" anchor="t">
            <a:spAutoFit/>
          </a:bodyPr>
          <a:lstStyle/>
          <a:p>
            <a:pPr algn="l"/>
            <a:r>
              <a:rPr b="1" sz="1800" i="0" u="none">
                <a:solidFill>
                  <a:srgbClr val="0F172A"/>
                </a:solidFill>
                <a:latin typeface="Inter"/>
              </a:rPr>
              <a:t>SCRUM</a:t>
            </a:r>
          </a:p>
        </p:txBody>
      </p:sp>
      <p:sp>
        <p:nvSpPr>
          <p:cNvPr id="120" name="TextBox 119"/>
          <p:cNvSpPr txBox="1"/>
          <p:nvPr/>
        </p:nvSpPr>
        <p:spPr>
          <a:xfrm>
            <a:off x="9475589" y="5504557"/>
            <a:ext cx="1295400" cy="276225"/>
          </a:xfrm>
          <a:prstGeom prst="rect">
            <a:avLst/>
          </a:prstGeom>
          <a:noFill/>
        </p:spPr>
        <p:txBody>
          <a:bodyPr wrap="none" lIns="0" rIns="0" tIns="0" bIns="0" anchor="t">
            <a:spAutoFit/>
          </a:bodyPr>
          <a:lstStyle/>
          <a:p>
            <a:pPr algn="l"/>
            <a:r>
              <a:rPr b="1" sz="1800" i="0" u="none">
                <a:solidFill>
                  <a:srgbClr val="0F172A"/>
                </a:solidFill>
                <a:latin typeface="Inter"/>
              </a:rPr>
              <a:t>KANBAN</a:t>
            </a:r>
          </a:p>
        </p:txBody>
      </p:sp>
      <p:sp>
        <p:nvSpPr>
          <p:cNvPr id="121" name="TextBox 120"/>
          <p:cNvSpPr txBox="1"/>
          <p:nvPr/>
        </p:nvSpPr>
        <p:spPr>
          <a:xfrm>
            <a:off x="9866114" y="2039242"/>
            <a:ext cx="904875" cy="276225"/>
          </a:xfrm>
          <a:prstGeom prst="rect">
            <a:avLst/>
          </a:prstGeom>
          <a:noFill/>
        </p:spPr>
        <p:txBody>
          <a:bodyPr wrap="none" lIns="0" rIns="0" tIns="0" bIns="0" anchor="t">
            <a:spAutoFit/>
          </a:bodyPr>
          <a:lstStyle/>
          <a:p>
            <a:pPr algn="l"/>
            <a:r>
              <a:rPr b="1" sz="1800" i="0" u="none">
                <a:solidFill>
                  <a:srgbClr val="0F172A"/>
                </a:solidFill>
                <a:latin typeface="Inter"/>
              </a:rPr>
              <a:t>LEAN</a:t>
            </a:r>
          </a:p>
        </p:txBody>
      </p:sp>
      <p:sp>
        <p:nvSpPr>
          <p:cNvPr id="122" name="TextBox 121"/>
          <p:cNvSpPr txBox="1"/>
          <p:nvPr/>
        </p:nvSpPr>
        <p:spPr>
          <a:xfrm>
            <a:off x="1706760" y="5504557"/>
            <a:ext cx="609600" cy="276225"/>
          </a:xfrm>
          <a:prstGeom prst="rect">
            <a:avLst/>
          </a:prstGeom>
          <a:noFill/>
        </p:spPr>
        <p:txBody>
          <a:bodyPr wrap="none" lIns="0" rIns="0" tIns="0" bIns="0" anchor="t">
            <a:spAutoFit/>
          </a:bodyPr>
          <a:lstStyle/>
          <a:p>
            <a:pPr algn="l"/>
            <a:r>
              <a:rPr b="1" sz="1800" i="0" u="none">
                <a:solidFill>
                  <a:srgbClr val="0F172A"/>
                </a:solidFill>
                <a:latin typeface="Inter"/>
              </a:rPr>
              <a:t>XP</a:t>
            </a:r>
          </a:p>
        </p:txBody>
      </p:sp>
      <p:sp>
        <p:nvSpPr>
          <p:cNvPr id="123" name="TextBox 122"/>
          <p:cNvSpPr txBox="1"/>
          <p:nvPr/>
        </p:nvSpPr>
        <p:spPr>
          <a:xfrm>
            <a:off x="1223962" y="3567112"/>
            <a:ext cx="1143000" cy="190500"/>
          </a:xfrm>
          <a:prstGeom prst="rect">
            <a:avLst/>
          </a:prstGeom>
          <a:noFill/>
        </p:spPr>
        <p:txBody>
          <a:bodyPr wrap="square" lIns="0" rIns="0" tIns="0" bIns="0" anchor="t">
            <a:spAutoFit/>
          </a:bodyPr>
          <a:lstStyle/>
          <a:p>
            <a:pPr algn="l"/>
            <a:r>
              <a:rPr b="1" sz="1200" i="0" u="none">
                <a:solidFill>
                  <a:srgbClr val="172B4D"/>
                </a:solidFill>
                <a:latin typeface="Inter"/>
              </a:rPr>
              <a:t>Vision &amp; Epics</a:t>
            </a:r>
          </a:p>
        </p:txBody>
      </p:sp>
      <p:sp>
        <p:nvSpPr>
          <p:cNvPr id="124" name="TextBox 123"/>
          <p:cNvSpPr txBox="1"/>
          <p:nvPr/>
        </p:nvSpPr>
        <p:spPr>
          <a:xfrm>
            <a:off x="1281112" y="4062412"/>
            <a:ext cx="1028700" cy="190500"/>
          </a:xfrm>
          <a:prstGeom prst="rect">
            <a:avLst/>
          </a:prstGeom>
          <a:noFill/>
        </p:spPr>
        <p:txBody>
          <a:bodyPr wrap="square" lIns="0" rIns="0" tIns="0" bIns="0" anchor="t">
            <a:spAutoFit/>
          </a:bodyPr>
          <a:lstStyle/>
          <a:p>
            <a:pPr algn="l"/>
            <a:r>
              <a:rPr b="1" sz="1200" i="0" u="none">
                <a:solidFill>
                  <a:srgbClr val="172B4D"/>
                </a:solidFill>
                <a:latin typeface="Inter"/>
              </a:rPr>
              <a:t>User Stories</a:t>
            </a:r>
          </a:p>
        </p:txBody>
      </p:sp>
      <p:sp>
        <p:nvSpPr>
          <p:cNvPr id="125" name="TextBox 124"/>
          <p:cNvSpPr txBox="1"/>
          <p:nvPr/>
        </p:nvSpPr>
        <p:spPr>
          <a:xfrm>
            <a:off x="3395662" y="3567112"/>
            <a:ext cx="971550" cy="190500"/>
          </a:xfrm>
          <a:prstGeom prst="rect">
            <a:avLst/>
          </a:prstGeom>
          <a:noFill/>
        </p:spPr>
        <p:txBody>
          <a:bodyPr wrap="square" lIns="0" rIns="0" tIns="0" bIns="0" anchor="t">
            <a:spAutoFit/>
          </a:bodyPr>
          <a:lstStyle/>
          <a:p>
            <a:pPr algn="l"/>
            <a:r>
              <a:rPr b="1" sz="1200" i="0" u="none">
                <a:solidFill>
                  <a:srgbClr val="172B4D"/>
                </a:solidFill>
                <a:latin typeface="Inter"/>
              </a:rPr>
              <a:t>Refinement</a:t>
            </a:r>
          </a:p>
        </p:txBody>
      </p:sp>
      <p:sp>
        <p:nvSpPr>
          <p:cNvPr id="126" name="TextBox 125"/>
          <p:cNvSpPr txBox="1"/>
          <p:nvPr/>
        </p:nvSpPr>
        <p:spPr>
          <a:xfrm>
            <a:off x="3167062" y="4062412"/>
            <a:ext cx="1428750" cy="190500"/>
          </a:xfrm>
          <a:prstGeom prst="rect">
            <a:avLst/>
          </a:prstGeom>
          <a:noFill/>
        </p:spPr>
        <p:txBody>
          <a:bodyPr wrap="square" lIns="0" rIns="0" tIns="0" bIns="0" anchor="t">
            <a:spAutoFit/>
          </a:bodyPr>
          <a:lstStyle/>
          <a:p>
            <a:pPr algn="l"/>
            <a:r>
              <a:rPr b="1" sz="1200" i="0" u="none">
                <a:solidFill>
                  <a:srgbClr val="172B4D"/>
                </a:solidFill>
                <a:latin typeface="Inter"/>
              </a:rPr>
              <a:t>Ready Gate (DoR)</a:t>
            </a:r>
          </a:p>
        </p:txBody>
      </p:sp>
      <p:sp>
        <p:nvSpPr>
          <p:cNvPr id="127" name="TextBox 126"/>
          <p:cNvSpPr txBox="1"/>
          <p:nvPr/>
        </p:nvSpPr>
        <p:spPr>
          <a:xfrm>
            <a:off x="5376862" y="3267075"/>
            <a:ext cx="1643062" cy="190500"/>
          </a:xfrm>
          <a:prstGeom prst="rect">
            <a:avLst/>
          </a:prstGeom>
          <a:noFill/>
        </p:spPr>
        <p:txBody>
          <a:bodyPr wrap="none" lIns="0" rIns="0" tIns="0" bIns="0" anchor="t">
            <a:spAutoFit/>
          </a:bodyPr>
          <a:lstStyle/>
          <a:p>
            <a:pPr algn="l"/>
            <a:r>
              <a:rPr b="1" sz="1200" i="0" u="none">
                <a:solidFill>
                  <a:srgbClr val="0052CC"/>
                </a:solidFill>
                <a:latin typeface="Inter"/>
              </a:rPr>
              <a:t>JIRA WORKFLOW</a:t>
            </a:r>
          </a:p>
        </p:txBody>
      </p:sp>
      <p:sp>
        <p:nvSpPr>
          <p:cNvPr id="128" name="TextBox 127"/>
          <p:cNvSpPr txBox="1"/>
          <p:nvPr/>
        </p:nvSpPr>
        <p:spPr>
          <a:xfrm>
            <a:off x="5843587" y="3609975"/>
            <a:ext cx="476250" cy="161925"/>
          </a:xfrm>
          <a:prstGeom prst="rect">
            <a:avLst/>
          </a:prstGeom>
          <a:noFill/>
        </p:spPr>
        <p:txBody>
          <a:bodyPr wrap="square" lIns="0" rIns="0" tIns="0" bIns="0" anchor="t">
            <a:spAutoFit/>
          </a:bodyPr>
          <a:lstStyle/>
          <a:p>
            <a:pPr algn="l"/>
            <a:r>
              <a:rPr b="1" sz="1050" i="0" u="none">
                <a:solidFill>
                  <a:srgbClr val="172B4D"/>
                </a:solidFill>
                <a:latin typeface="Inter"/>
              </a:rPr>
              <a:t>To Do</a:t>
            </a:r>
          </a:p>
        </p:txBody>
      </p:sp>
      <p:sp>
        <p:nvSpPr>
          <p:cNvPr id="129" name="TextBox 128"/>
          <p:cNvSpPr txBox="1"/>
          <p:nvPr/>
        </p:nvSpPr>
        <p:spPr>
          <a:xfrm>
            <a:off x="5653087" y="3962400"/>
            <a:ext cx="857250" cy="161925"/>
          </a:xfrm>
          <a:prstGeom prst="rect">
            <a:avLst/>
          </a:prstGeom>
          <a:noFill/>
        </p:spPr>
        <p:txBody>
          <a:bodyPr wrap="square" lIns="0" rIns="0" tIns="0" bIns="0" anchor="t">
            <a:spAutoFit/>
          </a:bodyPr>
          <a:lstStyle/>
          <a:p>
            <a:pPr algn="l"/>
            <a:r>
              <a:rPr b="1" sz="1050" i="0" u="none">
                <a:solidFill>
                  <a:srgbClr val="172B4D"/>
                </a:solidFill>
                <a:latin typeface="Inter"/>
              </a:rPr>
              <a:t>In Progress</a:t>
            </a:r>
          </a:p>
        </p:txBody>
      </p:sp>
      <p:sp>
        <p:nvSpPr>
          <p:cNvPr id="130" name="TextBox 129"/>
          <p:cNvSpPr txBox="1"/>
          <p:nvPr/>
        </p:nvSpPr>
        <p:spPr>
          <a:xfrm>
            <a:off x="5491162" y="4314825"/>
            <a:ext cx="1181100" cy="161925"/>
          </a:xfrm>
          <a:prstGeom prst="rect">
            <a:avLst/>
          </a:prstGeom>
          <a:noFill/>
        </p:spPr>
        <p:txBody>
          <a:bodyPr wrap="square" lIns="0" rIns="0" tIns="0" bIns="0" anchor="t">
            <a:spAutoFit/>
          </a:bodyPr>
          <a:lstStyle/>
          <a:p>
            <a:pPr algn="l"/>
            <a:r>
              <a:rPr b="1" sz="1050" i="0" u="none">
                <a:solidFill>
                  <a:srgbClr val="172B4D"/>
                </a:solidFill>
                <a:latin typeface="Inter"/>
              </a:rPr>
              <a:t>Review (Testing)</a:t>
            </a:r>
          </a:p>
        </p:txBody>
      </p:sp>
      <p:sp>
        <p:nvSpPr>
          <p:cNvPr id="131" name="TextBox 130"/>
          <p:cNvSpPr txBox="1"/>
          <p:nvPr/>
        </p:nvSpPr>
        <p:spPr>
          <a:xfrm>
            <a:off x="7567612" y="3567112"/>
            <a:ext cx="1362075" cy="190500"/>
          </a:xfrm>
          <a:prstGeom prst="rect">
            <a:avLst/>
          </a:prstGeom>
          <a:noFill/>
        </p:spPr>
        <p:txBody>
          <a:bodyPr wrap="square" lIns="0" rIns="0" tIns="0" bIns="0" anchor="t">
            <a:spAutoFit/>
          </a:bodyPr>
          <a:lstStyle/>
          <a:p>
            <a:pPr algn="l"/>
            <a:r>
              <a:rPr b="1" sz="1200" i="0" u="none">
                <a:solidFill>
                  <a:srgbClr val="FFFFFF"/>
                </a:solidFill>
                <a:latin typeface="Inter"/>
              </a:rPr>
              <a:t>Done Gate (DoD)</a:t>
            </a:r>
          </a:p>
        </p:txBody>
      </p:sp>
      <p:sp>
        <p:nvSpPr>
          <p:cNvPr id="132" name="TextBox 131"/>
          <p:cNvSpPr txBox="1"/>
          <p:nvPr/>
        </p:nvSpPr>
        <p:spPr>
          <a:xfrm>
            <a:off x="7653337" y="4062412"/>
            <a:ext cx="1190625" cy="190500"/>
          </a:xfrm>
          <a:prstGeom prst="rect">
            <a:avLst/>
          </a:prstGeom>
          <a:noFill/>
        </p:spPr>
        <p:txBody>
          <a:bodyPr wrap="square" lIns="0" rIns="0" tIns="0" bIns="0" anchor="t">
            <a:spAutoFit/>
          </a:bodyPr>
          <a:lstStyle/>
          <a:p>
            <a:pPr algn="l"/>
            <a:r>
              <a:rPr b="1" sz="1200" i="0" u="none">
                <a:solidFill>
                  <a:srgbClr val="F8FAFC"/>
                </a:solidFill>
                <a:latin typeface="Inter"/>
              </a:rPr>
              <a:t>Release Phase</a:t>
            </a:r>
          </a:p>
        </p:txBody>
      </p:sp>
      <p:sp>
        <p:nvSpPr>
          <p:cNvPr id="133" name="TextBox 132"/>
          <p:cNvSpPr txBox="1"/>
          <p:nvPr/>
        </p:nvSpPr>
        <p:spPr>
          <a:xfrm>
            <a:off x="9729787" y="3567112"/>
            <a:ext cx="1333500" cy="190500"/>
          </a:xfrm>
          <a:prstGeom prst="rect">
            <a:avLst/>
          </a:prstGeom>
          <a:noFill/>
        </p:spPr>
        <p:txBody>
          <a:bodyPr wrap="square" lIns="0" rIns="0" tIns="0" bIns="0" anchor="t">
            <a:spAutoFit/>
          </a:bodyPr>
          <a:lstStyle/>
          <a:p>
            <a:pPr algn="l"/>
            <a:r>
              <a:rPr b="1" sz="1200" i="0" u="none">
                <a:solidFill>
                  <a:srgbClr val="FFFFFF"/>
                </a:solidFill>
                <a:latin typeface="Inter"/>
              </a:rPr>
              <a:t>Bugs / Feedback</a:t>
            </a:r>
          </a:p>
        </p:txBody>
      </p:sp>
      <p:sp>
        <p:nvSpPr>
          <p:cNvPr id="134" name="TextBox 133"/>
          <p:cNvSpPr txBox="1"/>
          <p:nvPr/>
        </p:nvSpPr>
        <p:spPr>
          <a:xfrm>
            <a:off x="9834562" y="4062412"/>
            <a:ext cx="1123950" cy="190500"/>
          </a:xfrm>
          <a:prstGeom prst="rect">
            <a:avLst/>
          </a:prstGeom>
          <a:noFill/>
        </p:spPr>
        <p:txBody>
          <a:bodyPr wrap="square" lIns="0" rIns="0" tIns="0" bIns="0" anchor="t">
            <a:spAutoFit/>
          </a:bodyPr>
          <a:lstStyle/>
          <a:p>
            <a:pPr algn="l"/>
            <a:r>
              <a:rPr b="1" sz="1200" i="0" u="none">
                <a:solidFill>
                  <a:srgbClr val="FFFFFF"/>
                </a:solidFill>
                <a:latin typeface="Inter"/>
              </a:rPr>
              <a:t>Next Iteration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304925"/>
            <a:ext cx="609600" cy="38100"/>
          </a:xfrm>
          <a:prstGeom prst="rect">
            <a:avLst/>
          </a:prstGeom>
          <a:solidFill>
            <a:srgbClr val="005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5334000"/>
            <a:ext cx="10972800" cy="914400"/>
          </a:xfrm>
          <a:prstGeom prst="roundRect">
            <a:avLst>
              <a:gd name="adj" fmla="val 8333"/>
            </a:avLst>
          </a:prstGeom>
          <a:solidFill>
            <a:srgbClr val="DE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609600" y="1585912"/>
            <a:ext cx="171450" cy="200025"/>
          </a:xfrm>
          <a:prstGeom prst="rect">
            <a:avLst/>
          </a:prstGeom>
        </p:spPr>
      </p:pic>
      <p:pic>
        <p:nvPicPr>
          <p:cNvPr id="9" name="Picture 8" descr="image.png"/>
          <p:cNvPicPr>
            <a:picLocks noChangeAspect="1"/>
          </p:cNvPicPr>
          <p:nvPr/>
        </p:nvPicPr>
        <p:blipFill>
          <a:blip r:embed="rId2"/>
          <a:stretch>
            <a:fillRect/>
          </a:stretch>
        </p:blipFill>
        <p:spPr>
          <a:xfrm>
            <a:off x="609600" y="1966912"/>
            <a:ext cx="171450" cy="200025"/>
          </a:xfrm>
          <a:prstGeom prst="rect">
            <a:avLst/>
          </a:prstGeom>
        </p:spPr>
      </p:pic>
      <p:pic>
        <p:nvPicPr>
          <p:cNvPr id="10" name="Picture 9" descr="image.png"/>
          <p:cNvPicPr>
            <a:picLocks noChangeAspect="1"/>
          </p:cNvPicPr>
          <p:nvPr/>
        </p:nvPicPr>
        <p:blipFill>
          <a:blip r:embed="rId2"/>
          <a:stretch>
            <a:fillRect/>
          </a:stretch>
        </p:blipFill>
        <p:spPr>
          <a:xfrm>
            <a:off x="609600" y="2347912"/>
            <a:ext cx="171450" cy="200025"/>
          </a:xfrm>
          <a:prstGeom prst="rect">
            <a:avLst/>
          </a:prstGeom>
        </p:spPr>
      </p:pic>
      <p:pic>
        <p:nvPicPr>
          <p:cNvPr id="11" name="Picture 10" descr="image.png"/>
          <p:cNvPicPr>
            <a:picLocks noChangeAspect="1"/>
          </p:cNvPicPr>
          <p:nvPr/>
        </p:nvPicPr>
        <p:blipFill>
          <a:blip r:embed="rId2"/>
          <a:stretch>
            <a:fillRect/>
          </a:stretch>
        </p:blipFill>
        <p:spPr>
          <a:xfrm>
            <a:off x="609600" y="2728912"/>
            <a:ext cx="171450" cy="200025"/>
          </a:xfrm>
          <a:prstGeom prst="rect">
            <a:avLst/>
          </a:prstGeom>
        </p:spPr>
      </p:pic>
      <p:pic>
        <p:nvPicPr>
          <p:cNvPr id="12" name="Picture 11" descr="image.png"/>
          <p:cNvPicPr>
            <a:picLocks noChangeAspect="1"/>
          </p:cNvPicPr>
          <p:nvPr/>
        </p:nvPicPr>
        <p:blipFill>
          <a:blip r:embed="rId2"/>
          <a:stretch>
            <a:fillRect/>
          </a:stretch>
        </p:blipFill>
        <p:spPr>
          <a:xfrm>
            <a:off x="609600" y="3109912"/>
            <a:ext cx="171450" cy="200025"/>
          </a:xfrm>
          <a:prstGeom prst="rect">
            <a:avLst/>
          </a:prstGeom>
        </p:spPr>
      </p:pic>
      <p:pic>
        <p:nvPicPr>
          <p:cNvPr id="13" name="Picture 12" descr="image.png"/>
          <p:cNvPicPr>
            <a:picLocks noChangeAspect="1"/>
          </p:cNvPicPr>
          <p:nvPr/>
        </p:nvPicPr>
        <p:blipFill>
          <a:blip r:embed="rId2"/>
          <a:stretch>
            <a:fillRect/>
          </a:stretch>
        </p:blipFill>
        <p:spPr>
          <a:xfrm>
            <a:off x="609600" y="3490912"/>
            <a:ext cx="171450" cy="200025"/>
          </a:xfrm>
          <a:prstGeom prst="rect">
            <a:avLst/>
          </a:prstGeom>
        </p:spPr>
      </p:pic>
      <p:pic>
        <p:nvPicPr>
          <p:cNvPr id="14" name="Picture 13" descr="image.png"/>
          <p:cNvPicPr>
            <a:picLocks noChangeAspect="1"/>
          </p:cNvPicPr>
          <p:nvPr/>
        </p:nvPicPr>
        <p:blipFill>
          <a:blip r:embed="rId2"/>
          <a:stretch>
            <a:fillRect/>
          </a:stretch>
        </p:blipFill>
        <p:spPr>
          <a:xfrm>
            <a:off x="609600" y="3871912"/>
            <a:ext cx="171450" cy="200025"/>
          </a:xfrm>
          <a:prstGeom prst="rect">
            <a:avLst/>
          </a:prstGeom>
        </p:spPr>
      </p:pic>
      <p:graphicFrame>
        <p:nvGraphicFramePr>
          <p:cNvPr id="15" name="Table 14"/>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6" name="TextBox 15"/>
          <p:cNvSpPr txBox="1"/>
          <p:nvPr/>
        </p:nvSpPr>
        <p:spPr>
          <a:xfrm>
            <a:off x="609600" y="609600"/>
            <a:ext cx="11582400" cy="466725"/>
          </a:xfrm>
          <a:prstGeom prst="rect">
            <a:avLst/>
          </a:prstGeom>
          <a:noFill/>
        </p:spPr>
        <p:txBody>
          <a:bodyPr wrap="none" lIns="0" rIns="0" tIns="0" bIns="0" anchor="t">
            <a:spAutoFit/>
          </a:bodyPr>
          <a:lstStyle/>
          <a:p>
            <a:pPr algn="l"/>
            <a:r>
              <a:rPr b="1" sz="3000" i="0" u="none">
                <a:solidFill>
                  <a:srgbClr val="172B4D"/>
                </a:solidFill>
                <a:latin typeface="Inter"/>
              </a:rPr>
              <a:t>What Alumnex Connect Achieved</a:t>
            </a:r>
          </a:p>
        </p:txBody>
      </p:sp>
      <p:sp>
        <p:nvSpPr>
          <p:cNvPr id="17" name="TextBox 16"/>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8" name="TextBox 17"/>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9" name="TextBox 18"/>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20" name="TextBox 19"/>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21" name="TextBox 20"/>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2" name="TextBox 21"/>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3" name="TextBox 22"/>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4" name="TextBox 23"/>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5" name="TextBox 24"/>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6" name="TextBox 25"/>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7" name="TextBox 26"/>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8" name="TextBox 27"/>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9" name="TextBox 28"/>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30" name="TextBox 29"/>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31" name="TextBox 30"/>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2" name="TextBox 31"/>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3" name="TextBox 32"/>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4" name="TextBox 33"/>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5" name="TextBox 34"/>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6" name="TextBox 35"/>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7" name="TextBox 36"/>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8" name="TextBox 37"/>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9" name="TextBox 38"/>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40" name="TextBox 39"/>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41" name="TextBox 40"/>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2" name="TextBox 41"/>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3" name="TextBox 42"/>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4" name="TextBox 43"/>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5" name="TextBox 44"/>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6" name="TextBox 45"/>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7" name="TextBox 46"/>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8" name="TextBox 47"/>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9" name="TextBox 48"/>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50" name="TextBox 49"/>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51" name="TextBox 50"/>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2" name="TextBox 51"/>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3" name="TextBox 52"/>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4" name="TextBox 53"/>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5" name="TextBox 54"/>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6" name="TextBox 55"/>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7" name="TextBox 56"/>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8" name="TextBox 57"/>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9" name="TextBox 58"/>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60" name="TextBox 59"/>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61" name="TextBox 60"/>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2" name="TextBox 61"/>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3" name="TextBox 62"/>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4" name="TextBox 63"/>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5" name="TextBox 64"/>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6" name="TextBox 65"/>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7" name="TextBox 66"/>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8" name="TextBox 67"/>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9" name="TextBox 68"/>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70" name="TextBox 69"/>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71" name="TextBox 70"/>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2" name="TextBox 71"/>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3" name="TextBox 72"/>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4" name="TextBox 73"/>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5" name="TextBox 74"/>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6" name="TextBox 75"/>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7" name="TextBox 76"/>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8" name="TextBox 77"/>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9" name="TextBox 78"/>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80" name="TextBox 79"/>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81" name="TextBox 80"/>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2" name="TextBox 81"/>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3" name="TextBox 82"/>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4" name="TextBox 83"/>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5" name="TextBox 84"/>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6" name="TextBox 85"/>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7" name="TextBox 86"/>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8" name="TextBox 87"/>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9" name="TextBox 88"/>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90" name="TextBox 89"/>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91" name="TextBox 90"/>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2" name="TextBox 91"/>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3" name="TextBox 92"/>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4" name="TextBox 93"/>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5" name="TextBox 94"/>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6" name="TextBox 95"/>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7" name="TextBox 96"/>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8" name="TextBox 97"/>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9" name="TextBox 98"/>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100" name="TextBox 99"/>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101" name="TextBox 100"/>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2" name="TextBox 101"/>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3" name="TextBox 102"/>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4" name="TextBox 103"/>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5" name="TextBox 104"/>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6" name="TextBox 105"/>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7" name="TextBox 106"/>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8" name="TextBox 107"/>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9" name="TextBox 108"/>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10" name="TextBox 109"/>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11" name="TextBox 110"/>
          <p:cNvSpPr txBox="1"/>
          <p:nvPr/>
        </p:nvSpPr>
        <p:spPr>
          <a:xfrm>
            <a:off x="609600" y="1571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Structured complex product into 10 manageable Epics.</a:t>
            </a:r>
          </a:p>
        </p:txBody>
      </p:sp>
      <p:sp>
        <p:nvSpPr>
          <p:cNvPr id="112" name="TextBox 111"/>
          <p:cNvSpPr txBox="1"/>
          <p:nvPr/>
        </p:nvSpPr>
        <p:spPr>
          <a:xfrm>
            <a:off x="609600" y="1952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Converted functionality into 53 user-centric Stories.</a:t>
            </a:r>
          </a:p>
        </p:txBody>
      </p:sp>
      <p:sp>
        <p:nvSpPr>
          <p:cNvPr id="113" name="TextBox 112"/>
          <p:cNvSpPr txBox="1"/>
          <p:nvPr/>
        </p:nvSpPr>
        <p:spPr>
          <a:xfrm>
            <a:off x="609600" y="2333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Decomposed implementation into 20 executable Subtasks.</a:t>
            </a:r>
          </a:p>
        </p:txBody>
      </p:sp>
      <p:sp>
        <p:nvSpPr>
          <p:cNvPr id="114" name="TextBox 113"/>
          <p:cNvSpPr txBox="1"/>
          <p:nvPr/>
        </p:nvSpPr>
        <p:spPr>
          <a:xfrm>
            <a:off x="609600" y="2714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Tracked 5 defects explicitly within the Agile backlog.</a:t>
            </a:r>
          </a:p>
        </p:txBody>
      </p:sp>
      <p:sp>
        <p:nvSpPr>
          <p:cNvPr id="115" name="TextBox 114"/>
          <p:cNvSpPr txBox="1"/>
          <p:nvPr/>
        </p:nvSpPr>
        <p:spPr>
          <a:xfrm>
            <a:off x="609600" y="3095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Organized delivery into 5 distinct Phase Versions.</a:t>
            </a:r>
          </a:p>
        </p:txBody>
      </p:sp>
      <p:sp>
        <p:nvSpPr>
          <p:cNvPr id="116" name="TextBox 115"/>
          <p:cNvSpPr txBox="1"/>
          <p:nvPr/>
        </p:nvSpPr>
        <p:spPr>
          <a:xfrm>
            <a:off x="609600" y="3476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Visualized Kanban flow through clear board states.</a:t>
            </a:r>
          </a:p>
        </p:txBody>
      </p:sp>
      <p:sp>
        <p:nvSpPr>
          <p:cNvPr id="117" name="TextBox 116"/>
          <p:cNvSpPr txBox="1"/>
          <p:nvPr/>
        </p:nvSpPr>
        <p:spPr>
          <a:xfrm>
            <a:off x="609600" y="3857625"/>
            <a:ext cx="11582400" cy="228600"/>
          </a:xfrm>
          <a:prstGeom prst="rect">
            <a:avLst/>
          </a:prstGeom>
          <a:noFill/>
        </p:spPr>
        <p:txBody>
          <a:bodyPr wrap="none" lIns="285750" rIns="0" tIns="0" bIns="0" anchor="t">
            <a:spAutoFit/>
          </a:bodyPr>
          <a:lstStyle/>
          <a:p>
            <a:pPr algn="l"/>
            <a:r>
              <a:rPr b="0" sz="1500" i="0" u="none">
                <a:solidFill>
                  <a:srgbClr val="172B4D"/>
                </a:solidFill>
                <a:latin typeface="Inter"/>
              </a:rPr>
              <a:t>Documented Scrum governance for future execution.</a:t>
            </a:r>
          </a:p>
        </p:txBody>
      </p:sp>
      <p:sp>
        <p:nvSpPr>
          <p:cNvPr id="118" name="TextBox 117"/>
          <p:cNvSpPr txBox="1"/>
          <p:nvPr/>
        </p:nvSpPr>
        <p:spPr>
          <a:xfrm>
            <a:off x="-238125" y="5562600"/>
            <a:ext cx="12668250" cy="457200"/>
          </a:xfrm>
          <a:prstGeom prst="rect">
            <a:avLst/>
          </a:prstGeom>
          <a:noFill/>
        </p:spPr>
        <p:txBody>
          <a:bodyPr wrap="square" lIns="0" rIns="0" tIns="0" bIns="0" anchor="t">
            <a:spAutoFit/>
          </a:bodyPr>
          <a:lstStyle/>
          <a:p>
            <a:pPr algn="ctr"/>
            <a:r>
              <a:rPr b="1" sz="1500" i="0" u="none">
                <a:solidFill>
                  <a:srgbClr val="0052CC"/>
                </a:solidFill>
                <a:latin typeface="Inter"/>
              </a:rPr>
              <a:t>Alumnex Connect demonstrates how Agile principles transform into an executable software project-management system using Jira and Confluence.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747A6"/>
        </a:solidFill>
        <a:effectLst/>
      </p:bgPr>
    </p:bg>
    <p:spTree>
      <p:nvGrpSpPr>
        <p:cNvPr id="1" name=""/>
        <p:cNvGrpSpPr/>
        <p:nvPr/>
      </p:nvGrpSpPr>
      <p:grpSpPr/>
      <p:sp>
        <p:nvSpPr>
          <p:cNvPr id="2" name="Rounded Rectangle 1"/>
          <p:cNvSpPr/>
          <p:nvPr/>
        </p:nvSpPr>
        <p:spPr>
          <a:xfrm>
            <a:off x="0" y="7239000"/>
            <a:ext cx="12192000" cy="59895878"/>
          </a:xfrm>
          <a:prstGeom prst="roundRect">
            <a:avLst>
              <a:gd name="adj" fmla="val 6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948868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16099035"/>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34254281"/>
            <a:ext cx="10972800" cy="19050"/>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34012" y="1962150"/>
            <a:ext cx="1323975" cy="619125"/>
          </a:xfrm>
          <a:prstGeom prst="roundRect">
            <a:avLst>
              <a:gd name="adj" fmla="val 6153"/>
            </a:avLst>
          </a:prstGeom>
          <a:noFill/>
          <a:ln w="1905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10212" y="3114675"/>
            <a:ext cx="1171575" cy="619125"/>
          </a:xfrm>
          <a:prstGeom prst="roundRect">
            <a:avLst>
              <a:gd name="adj" fmla="val 6153"/>
            </a:avLst>
          </a:prstGeom>
          <a:noFill/>
          <a:ln w="1905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6762" y="4267200"/>
            <a:ext cx="3038475" cy="619125"/>
          </a:xfrm>
          <a:prstGeom prst="roundRect">
            <a:avLst>
              <a:gd name="adj" fmla="val 6153"/>
            </a:avLst>
          </a:prstGeom>
          <a:noFill/>
          <a:ln w="1905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19650" y="5419725"/>
            <a:ext cx="2552700" cy="581025"/>
          </a:xfrm>
          <a:prstGeom prst="roundRect">
            <a:avLst>
              <a:gd name="adj" fmla="val 6557"/>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010275" y="2733675"/>
            <a:ext cx="171450" cy="228600"/>
          </a:xfrm>
          <a:prstGeom prst="rect">
            <a:avLst/>
          </a:prstGeom>
        </p:spPr>
      </p:pic>
      <p:pic>
        <p:nvPicPr>
          <p:cNvPr id="11" name="Picture 10" descr="image.png"/>
          <p:cNvPicPr>
            <a:picLocks noChangeAspect="1"/>
          </p:cNvPicPr>
          <p:nvPr/>
        </p:nvPicPr>
        <p:blipFill>
          <a:blip r:embed="rId2"/>
          <a:stretch>
            <a:fillRect/>
          </a:stretch>
        </p:blipFill>
        <p:spPr>
          <a:xfrm>
            <a:off x="6010275" y="3886200"/>
            <a:ext cx="171450" cy="228600"/>
          </a:xfrm>
          <a:prstGeom prst="rect">
            <a:avLst/>
          </a:prstGeom>
        </p:spPr>
      </p:pic>
      <p:pic>
        <p:nvPicPr>
          <p:cNvPr id="12" name="Picture 11" descr="image.png"/>
          <p:cNvPicPr>
            <a:picLocks noChangeAspect="1"/>
          </p:cNvPicPr>
          <p:nvPr/>
        </p:nvPicPr>
        <p:blipFill>
          <a:blip r:embed="rId2"/>
          <a:stretch>
            <a:fillRect/>
          </a:stretch>
        </p:blipFill>
        <p:spPr>
          <a:xfrm>
            <a:off x="6010275" y="5038725"/>
            <a:ext cx="171450" cy="228600"/>
          </a:xfrm>
          <a:prstGeom prst="rect">
            <a:avLst/>
          </a:prstGeom>
        </p:spPr>
      </p:pic>
      <p:graphicFrame>
        <p:nvGraphicFramePr>
          <p:cNvPr id="13" name="Table 12"/>
          <p:cNvGraphicFramePr>
            <a:graphicFrameLocks noGrp="1"/>
          </p:cNvGraphicFramePr>
          <p:nvPr/>
        </p:nvGraphicFramePr>
        <p:xfrm>
          <a:off x="609600" y="9736335"/>
          <a:ext cx="10963273" cy="5581650"/>
        </p:xfrm>
        <a:graphic>
          <a:graphicData uri="http://schemas.openxmlformats.org/drawingml/2006/table">
            <a:tbl>
              <a:tblPr firstRow="0" bandRow="0">
                <a:lnL>
                  <a:noFill/>
                </a:lnL>
                <a:lnR>
                  <a:noFill/>
                </a:lnR>
                <a:lnT>
                  <a:noFill/>
                </a:lnT>
                <a:lnB>
                  <a:noFill/>
                </a:lnB>
                <a:lnV>
                  <a:noFill/>
                </a:lnV>
                <a:lnH>
                  <a:noFill/>
                </a:lnH>
              </a:tblPr>
              <a:tblGrid>
                <a:gridCol w="2847230"/>
                <a:gridCol w="2807196"/>
                <a:gridCol w="2927002"/>
                <a:gridCol w="2381845"/>
              </a:tblGrid>
              <a:tr h="429357">
                <a:tc>
                  <a:txBody>
                    <a:bodyPr/>
                    <a:lstStyle/>
                    <a:p>
                      <a:pPr algn="l"/>
                      <a:r>
                        <a:rPr b="1" sz="1200" i="0" u="none">
                          <a:solidFill>
                            <a:srgbClr val="172B4D"/>
                          </a:solidFill>
                          <a:latin typeface="Inter"/>
                        </a:rPr>
                        <a:t>Agile Concept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Jira Artifact</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Alumnex Example</a:t>
                      </a:r>
                    </a:p>
                  </a:txBody>
                  <a:tcPr anchor="ctr" marL="63500" marR="63500" marT="25400" marB="25400">
                    <a:lnL>
                      <a:noFill/>
                    </a:lnL>
                    <a:lnR>
                      <a:noFill/>
                    </a:lnR>
                    <a:lnT>
                      <a:noFill/>
                    </a:lnT>
                    <a:lnB>
                      <a:noFill/>
                    </a:lnB>
                    <a:solidFill>
                      <a:srgbClr val="F4F5F7"/>
                    </a:solidFill>
                  </a:tcPr>
                </a:tc>
                <a:tc>
                  <a:txBody>
                    <a:bodyPr/>
                    <a:lstStyle/>
                    <a:p>
                      <a:pPr algn="l"/>
                      <a:r>
                        <a:rPr b="1" sz="1200" i="0" u="none">
                          <a:solidFill>
                            <a:srgbClr val="172B4D"/>
                          </a:solidFill>
                          <a:latin typeface="Inter"/>
                        </a:rPr>
                        <a:t>Methodology Origin</a:t>
                      </a:r>
                    </a:p>
                  </a:txBody>
                  <a:tcPr anchor="ctr" marL="63500" marR="63500" marT="25400" marB="25400">
                    <a:lnL>
                      <a:noFill/>
                    </a:lnL>
                    <a:lnR>
                      <a:noFill/>
                    </a:lnR>
                    <a:lnT>
                      <a:noFill/>
                    </a:lnT>
                    <a:lnB>
                      <a:noFill/>
                    </a:lnB>
                    <a:solidFill>
                      <a:srgbClr val="F4F5F7"/>
                    </a:solidFill>
                  </a:tcPr>
                </a:tc>
              </a:tr>
              <a:tr h="429357">
                <a:tc>
                  <a:txBody>
                    <a:bodyPr/>
                    <a:lstStyle/>
                    <a:p>
                      <a:pPr algn="l"/>
                      <a:r>
                        <a:rPr b="0" sz="1200" i="0" u="none">
                          <a:solidFill>
                            <a:srgbClr val="172B4D"/>
                          </a:solidFill>
                          <a:latin typeface="Inter"/>
                        </a:rPr>
                        <a:t>Product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backlog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Work Visualization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Board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 workflow</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Kanban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Incremental Work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KAN-11, KAN-26, KAN-33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Decomposition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Subtask</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KAN-69, etc.</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Defect Handling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Bug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KAN-64 to KAN-68</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Estimation</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Suggested estimate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256 total points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Planning</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Quality Gate</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DoR / DoD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KAN-60</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 / 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Testing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Automated Testing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KAN-52</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CI/CD</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CI/CD Story</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XP</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Continuous Improvement</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Governance Stories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KAN-59 / KAN-63</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Scrum / Lean</a:t>
                      </a:r>
                    </a:p>
                  </a:txBody>
                  <a:tcPr anchor="ctr" marL="63500" marR="63500" marT="25400" marB="25400">
                    <a:lnL>
                      <a:noFill/>
                    </a:lnL>
                    <a:lnR>
                      <a:noFill/>
                    </a:lnR>
                    <a:lnT>
                      <a:noFill/>
                    </a:lnT>
                    <a:lnB>
                      <a:noFill/>
                    </a:lnB>
                    <a:solidFill>
                      <a:srgbClr val="FFFFFF"/>
                    </a:solidFill>
                  </a:tcPr>
                </a:tc>
              </a:tr>
              <a:tr h="429357">
                <a:tc>
                  <a:txBody>
                    <a:bodyPr/>
                    <a:lstStyle/>
                    <a:p>
                      <a:pPr algn="l"/>
                      <a:r>
                        <a:rPr b="0" sz="1200" i="0" u="none">
                          <a:solidFill>
                            <a:srgbClr val="172B4D"/>
                          </a:solidFill>
                          <a:latin typeface="Inter"/>
                        </a:rPr>
                        <a:t>Release Planning</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Jira Versions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Phase 1–5</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Scrum / Lean</a:t>
                      </a:r>
                    </a:p>
                  </a:txBody>
                  <a:tcPr anchor="ctr" marL="63500" marR="63500" marT="25400" marB="25400">
                    <a:lnL>
                      <a:noFill/>
                    </a:lnL>
                    <a:lnR>
                      <a:noFill/>
                    </a:lnR>
                    <a:lnT>
                      <a:noFill/>
                    </a:lnT>
                    <a:lnB>
                      <a:noFill/>
                    </a:lnB>
                    <a:solidFill>
                      <a:srgbClr val="FFFFFF"/>
                    </a:solidFill>
                  </a:tcPr>
                </a:tc>
              </a:tr>
              <a:tr h="429366">
                <a:tc>
                  <a:txBody>
                    <a:bodyPr/>
                    <a:lstStyle/>
                    <a:p>
                      <a:pPr algn="l"/>
                      <a:r>
                        <a:rPr b="0" sz="1200" i="0" u="none">
                          <a:solidFill>
                            <a:srgbClr val="172B4D"/>
                          </a:solidFill>
                          <a:latin typeface="Inter"/>
                        </a:rPr>
                        <a:t>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Blocks links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8 dependencies</a:t>
                      </a:r>
                    </a:p>
                  </a:txBody>
                  <a:tcPr anchor="ctr" marL="63500" marR="63500" marT="25400" marB="25400">
                    <a:lnL>
                      <a:noFill/>
                    </a:lnL>
                    <a:lnR>
                      <a:noFill/>
                    </a:lnR>
                    <a:lnT>
                      <a:noFill/>
                    </a:lnT>
                    <a:lnB>
                      <a:noFill/>
                    </a:lnB>
                    <a:solidFill>
                      <a:srgbClr val="FFFFFF"/>
                    </a:solidFill>
                  </a:tcPr>
                </a:tc>
                <a:tc>
                  <a:txBody>
                    <a:bodyPr/>
                    <a:lstStyle/>
                    <a:p>
                      <a:pPr algn="l"/>
                      <a:r>
                        <a:rPr b="0" sz="1200" i="0" u="none">
                          <a:solidFill>
                            <a:srgbClr val="172B4D"/>
                          </a:solidFill>
                          <a:latin typeface="Inter"/>
                        </a:rPr>
                        <a:t>Agile / Lean</a:t>
                      </a:r>
                    </a:p>
                  </a:txBody>
                  <a:tcPr anchor="ctr" marL="63500" marR="63500" marT="25400" marB="25400">
                    <a:lnL>
                      <a:noFill/>
                    </a:lnL>
                    <a:lnR>
                      <a:noFill/>
                    </a:lnR>
                    <a:lnT>
                      <a:noFill/>
                    </a:lnT>
                    <a:lnB>
                      <a:noFill/>
                    </a:lnB>
                    <a:solidFill>
                      <a:srgbClr val="FFFFFF"/>
                    </a:solidFill>
                  </a:tcPr>
                </a:tc>
              </a:tr>
            </a:tbl>
          </a:graphicData>
        </a:graphic>
      </p:graphicFrame>
      <p:sp>
        <p:nvSpPr>
          <p:cNvPr id="14" name="TextBox 13"/>
          <p:cNvSpPr txBox="1"/>
          <p:nvPr/>
        </p:nvSpPr>
        <p:spPr>
          <a:xfrm>
            <a:off x="2433637" y="857250"/>
            <a:ext cx="9613701" cy="647700"/>
          </a:xfrm>
          <a:prstGeom prst="rect">
            <a:avLst/>
          </a:prstGeom>
          <a:noFill/>
        </p:spPr>
        <p:txBody>
          <a:bodyPr wrap="none" lIns="0" rIns="0" tIns="0" bIns="0" anchor="t">
            <a:spAutoFit/>
          </a:bodyPr>
          <a:lstStyle/>
          <a:p>
            <a:pPr algn="l"/>
            <a:r>
              <a:rPr b="1" sz="4200" i="0" u="none">
                <a:solidFill>
                  <a:srgbClr val="FFFFFF"/>
                </a:solidFill>
                <a:latin typeface="Inter"/>
              </a:rPr>
              <a:t>QUESTIONS &amp; DISCUSSION</a:t>
            </a:r>
          </a:p>
        </p:txBody>
      </p:sp>
      <p:sp>
        <p:nvSpPr>
          <p:cNvPr id="15" name="TextBox 14"/>
          <p:cNvSpPr txBox="1"/>
          <p:nvPr/>
        </p:nvSpPr>
        <p:spPr>
          <a:xfrm>
            <a:off x="609600" y="7848600"/>
            <a:ext cx="11582400" cy="0"/>
          </a:xfrm>
          <a:prstGeom prst="rect">
            <a:avLst/>
          </a:prstGeom>
          <a:noFill/>
        </p:spPr>
        <p:txBody>
          <a:bodyPr wrap="none" lIns="0" rIns="0" tIns="0" bIns="0" anchor="t">
            <a:spAutoFit/>
          </a:bodyPr>
          <a:lstStyle/>
          <a:p>
            <a:pPr algn="l"/>
            <a:r>
              <a:rPr b="1" sz="2400" i="0" u="none">
                <a:solidFill>
                  <a:srgbClr val="172B4D"/>
                </a:solidFill>
                <a:latin typeface="Inter"/>
              </a:rPr>
              <a:t>Document Appendix</a:t>
            </a:r>
          </a:p>
        </p:txBody>
      </p:sp>
      <p:sp>
        <p:nvSpPr>
          <p:cNvPr id="16" name="TextBox 15"/>
          <p:cNvSpPr txBox="1"/>
          <p:nvPr/>
        </p:nvSpPr>
        <p:spPr>
          <a:xfrm>
            <a:off x="609600" y="8220075"/>
            <a:ext cx="11068050" cy="0"/>
          </a:xfrm>
          <a:prstGeom prst="rect">
            <a:avLst/>
          </a:prstGeom>
          <a:noFill/>
        </p:spPr>
        <p:txBody>
          <a:bodyPr wrap="square" lIns="0" rIns="0" tIns="0" bIns="0" anchor="t">
            <a:spAutoFit/>
          </a:bodyPr>
          <a:lstStyle/>
          <a:p>
            <a:pPr algn="l">
              <a:lnSpc>
                <a:spcPts val="1920"/>
              </a:lnSpc>
            </a:pPr>
            <a:r>
              <a:rPr b="0" sz="1200" i="0" u="none">
                <a:solidFill>
                  <a:srgbClr val="172B4D"/>
                </a:solidFill>
                <a:latin typeface="Inter"/>
              </a:rPr>
              <a:t>This section contains the required slide-by-slide speaker notes, methodology mapping matrix, and Viva Q&amp;A preparation. It is designed to be printed or reviewed by the presenter prior to the viva.</a:t>
            </a:r>
          </a:p>
        </p:txBody>
      </p:sp>
      <p:sp>
        <p:nvSpPr>
          <p:cNvPr id="17" name="TextBox 16"/>
          <p:cNvSpPr txBox="1"/>
          <p:nvPr/>
        </p:nvSpPr>
        <p:spPr>
          <a:xfrm>
            <a:off x="609600" y="9088635"/>
            <a:ext cx="11582400" cy="0"/>
          </a:xfrm>
          <a:prstGeom prst="rect">
            <a:avLst/>
          </a:prstGeom>
          <a:noFill/>
        </p:spPr>
        <p:txBody>
          <a:bodyPr wrap="square" lIns="0" rIns="0" tIns="0" bIns="0" anchor="t">
            <a:spAutoFit/>
          </a:bodyPr>
          <a:lstStyle/>
          <a:p>
            <a:pPr algn="l"/>
            <a:r>
              <a:rPr b="1" sz="2100" i="0" u="none">
                <a:solidFill>
                  <a:srgbClr val="0052CC"/>
                </a:solidFill>
                <a:latin typeface="Inter"/>
              </a:rPr>
              <a:t>1. Methodology Mapping Matrix</a:t>
            </a:r>
          </a:p>
        </p:txBody>
      </p:sp>
      <p:sp>
        <p:nvSpPr>
          <p:cNvPr id="18" name="TextBox 17"/>
          <p:cNvSpPr txBox="1"/>
          <p:nvPr/>
        </p:nvSpPr>
        <p:spPr>
          <a:xfrm>
            <a:off x="609600" y="15698985"/>
            <a:ext cx="11582400" cy="0"/>
          </a:xfrm>
          <a:prstGeom prst="rect">
            <a:avLst/>
          </a:prstGeom>
          <a:noFill/>
        </p:spPr>
        <p:txBody>
          <a:bodyPr wrap="square" lIns="0" rIns="0" tIns="0" bIns="0" anchor="t">
            <a:spAutoFit/>
          </a:bodyPr>
          <a:lstStyle/>
          <a:p>
            <a:pPr algn="l"/>
            <a:r>
              <a:rPr b="1" sz="2100" i="0" u="none">
                <a:solidFill>
                  <a:srgbClr val="0052CC"/>
                </a:solidFill>
                <a:latin typeface="Inter"/>
              </a:rPr>
              <a:t>2. Likely Viva Questions &amp; Answers</a:t>
            </a:r>
          </a:p>
        </p:txBody>
      </p:sp>
      <p:sp>
        <p:nvSpPr>
          <p:cNvPr id="19" name="TextBox 18"/>
          <p:cNvSpPr txBox="1"/>
          <p:nvPr/>
        </p:nvSpPr>
        <p:spPr>
          <a:xfrm>
            <a:off x="609600" y="1634668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 Why did you use Jira?</a:t>
            </a:r>
            <a:r>
              <a:t>
</a:t>
            </a:r>
            <a:r>
              <a:rPr b="0" sz="1200" i="0" u="none">
                <a:solidFill>
                  <a:srgbClr val="172B4D"/>
                </a:solidFill>
                <a:latin typeface="Inter"/>
              </a:rPr>
              <a:t> Jira is the software platform used to operationalize Agile work management. It makes work visible, traceable, and decomposable.</a:t>
            </a:r>
          </a:p>
        </p:txBody>
      </p:sp>
      <p:sp>
        <p:nvSpPr>
          <p:cNvPr id="20" name="TextBox 19"/>
          <p:cNvSpPr txBox="1"/>
          <p:nvPr/>
        </p:nvSpPr>
        <p:spPr>
          <a:xfrm>
            <a:off x="609600" y="1698664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 What is an Epic?</a:t>
            </a:r>
            <a:r>
              <a:t>
</a:t>
            </a:r>
            <a:r>
              <a:rPr b="0" sz="1200" i="0" u="none">
                <a:solidFill>
                  <a:srgbClr val="172B4D"/>
                </a:solidFill>
                <a:latin typeface="Inter"/>
              </a:rPr>
              <a:t> An Epic is a large product capability that groups related User Stories. E.g., "KAN-1 Authentication".</a:t>
            </a:r>
          </a:p>
        </p:txBody>
      </p:sp>
      <p:sp>
        <p:nvSpPr>
          <p:cNvPr id="21" name="TextBox 20"/>
          <p:cNvSpPr txBox="1"/>
          <p:nvPr/>
        </p:nvSpPr>
        <p:spPr>
          <a:xfrm>
            <a:off x="609600" y="1762660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3. What is a User Story?</a:t>
            </a:r>
            <a:r>
              <a:t>
</a:t>
            </a:r>
            <a:r>
              <a:rPr b="0" sz="1200" i="0" u="none">
                <a:solidFill>
                  <a:srgbClr val="172B4D"/>
                </a:solidFill>
                <a:latin typeface="Inter"/>
              </a:rPr>
              <a:t> A feature expressed from the user's perspective focusing on business value (As a... I want to... So that...).</a:t>
            </a:r>
          </a:p>
        </p:txBody>
      </p:sp>
      <p:sp>
        <p:nvSpPr>
          <p:cNvPr id="22" name="TextBox 21"/>
          <p:cNvSpPr txBox="1"/>
          <p:nvPr/>
        </p:nvSpPr>
        <p:spPr>
          <a:xfrm>
            <a:off x="609600" y="1826656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4. Why are acceptance criteria important?</a:t>
            </a:r>
            <a:r>
              <a:t>
</a:t>
            </a:r>
            <a:r>
              <a:rPr b="0" sz="1200" i="0" u="none">
                <a:solidFill>
                  <a:srgbClr val="172B4D"/>
                </a:solidFill>
                <a:latin typeface="Inter"/>
              </a:rPr>
              <a:t> They define the observable conditions that determine whether a Story is actually complete and testable.</a:t>
            </a:r>
          </a:p>
        </p:txBody>
      </p:sp>
      <p:sp>
        <p:nvSpPr>
          <p:cNvPr id="23" name="TextBox 22"/>
          <p:cNvSpPr txBox="1"/>
          <p:nvPr/>
        </p:nvSpPr>
        <p:spPr>
          <a:xfrm>
            <a:off x="609600" y="1890652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5. What is a Subtask?</a:t>
            </a:r>
            <a:r>
              <a:t>
</a:t>
            </a:r>
            <a:r>
              <a:rPr b="0" sz="1200" i="0" u="none">
                <a:solidFill>
                  <a:srgbClr val="172B4D"/>
                </a:solidFill>
                <a:latin typeface="Inter"/>
              </a:rPr>
              <a:t> A breakdown of a User Story into concrete technical implementation activities.</a:t>
            </a:r>
          </a:p>
        </p:txBody>
      </p:sp>
      <p:sp>
        <p:nvSpPr>
          <p:cNvPr id="24" name="TextBox 23"/>
          <p:cNvSpPr txBox="1"/>
          <p:nvPr/>
        </p:nvSpPr>
        <p:spPr>
          <a:xfrm>
            <a:off x="609600" y="1954649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6. What is the difference between Epic and Story?</a:t>
            </a:r>
            <a:r>
              <a:t>
</a:t>
            </a:r>
            <a:r>
              <a:rPr b="0" sz="1200" i="0" u="none">
                <a:solidFill>
                  <a:srgbClr val="172B4D"/>
                </a:solidFill>
                <a:latin typeface="Inter"/>
              </a:rPr>
              <a:t> An Epic is a high-level grouping (e.g., User Management). A Story is a specific deliverable within it (e.g., Registration).</a:t>
            </a:r>
          </a:p>
        </p:txBody>
      </p:sp>
      <p:sp>
        <p:nvSpPr>
          <p:cNvPr id="25" name="TextBox 24"/>
          <p:cNvSpPr txBox="1"/>
          <p:nvPr/>
        </p:nvSpPr>
        <p:spPr>
          <a:xfrm>
            <a:off x="609600" y="2018645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7. What is a Bug in Agile?</a:t>
            </a:r>
            <a:r>
              <a:t>
</a:t>
            </a:r>
            <a:r>
              <a:rPr b="0" sz="1200" i="0" u="none">
                <a:solidFill>
                  <a:srgbClr val="172B4D"/>
                </a:solidFill>
                <a:latin typeface="Inter"/>
              </a:rPr>
              <a:t> A visible defect or quality deviation kept in the backlog, triaged, and fixed rather than hidden.</a:t>
            </a:r>
          </a:p>
        </p:txBody>
      </p:sp>
      <p:sp>
        <p:nvSpPr>
          <p:cNvPr id="26" name="TextBox 25"/>
          <p:cNvSpPr txBox="1"/>
          <p:nvPr/>
        </p:nvSpPr>
        <p:spPr>
          <a:xfrm>
            <a:off x="609600" y="2082641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8. What is Story Point estimation?</a:t>
            </a:r>
            <a:r>
              <a:t>
</a:t>
            </a:r>
            <a:r>
              <a:rPr b="0" sz="1200" i="0" u="none">
                <a:solidFill>
                  <a:srgbClr val="172B4D"/>
                </a:solidFill>
                <a:latin typeface="Inter"/>
              </a:rPr>
              <a:t> A relative measure of effort and complexity used for planning.</a:t>
            </a:r>
          </a:p>
        </p:txBody>
      </p:sp>
      <p:sp>
        <p:nvSpPr>
          <p:cNvPr id="27" name="TextBox 26"/>
          <p:cNvSpPr txBox="1"/>
          <p:nvPr/>
        </p:nvSpPr>
        <p:spPr>
          <a:xfrm>
            <a:off x="609600" y="2146637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9. Why are Story Points not hours?</a:t>
            </a:r>
            <a:r>
              <a:t>
</a:t>
            </a:r>
            <a:r>
              <a:rPr b="0" sz="1200" i="0" u="none">
                <a:solidFill>
                  <a:srgbClr val="172B4D"/>
                </a:solidFill>
                <a:latin typeface="Inter"/>
              </a:rPr>
              <a:t> Because hours vary by developer experience; points represent absolute complexity which remains constant.</a:t>
            </a:r>
          </a:p>
        </p:txBody>
      </p:sp>
      <p:sp>
        <p:nvSpPr>
          <p:cNvPr id="28" name="TextBox 27"/>
          <p:cNvSpPr txBox="1"/>
          <p:nvPr/>
        </p:nvSpPr>
        <p:spPr>
          <a:xfrm>
            <a:off x="609600" y="2210633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10. What is Scrum?</a:t>
            </a:r>
            <a:r>
              <a:t>
</a:t>
            </a:r>
            <a:r>
              <a:rPr b="0" sz="1200" i="0" u="none">
                <a:solidFill>
                  <a:srgbClr val="172B4D"/>
                </a:solidFill>
                <a:latin typeface="Inter"/>
              </a:rPr>
              <a:t> An Agile framework providing governance, ceremonies (Daily Scrum, Planning), and backlog structure.</a:t>
            </a:r>
          </a:p>
        </p:txBody>
      </p:sp>
      <p:sp>
        <p:nvSpPr>
          <p:cNvPr id="29" name="TextBox 28"/>
          <p:cNvSpPr txBox="1"/>
          <p:nvPr/>
        </p:nvSpPr>
        <p:spPr>
          <a:xfrm>
            <a:off x="609600" y="2274629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11. What is Kanban?</a:t>
            </a:r>
            <a:r>
              <a:t>
</a:t>
            </a:r>
            <a:r>
              <a:rPr b="0" sz="1200" i="0" u="none">
                <a:solidFill>
                  <a:srgbClr val="172B4D"/>
                </a:solidFill>
                <a:latin typeface="Inter"/>
              </a:rPr>
              <a:t> An Agile framework focused on continuous visual flow, limiting WIP, and pulling work.</a:t>
            </a:r>
          </a:p>
        </p:txBody>
      </p:sp>
      <p:sp>
        <p:nvSpPr>
          <p:cNvPr id="30" name="TextBox 29"/>
          <p:cNvSpPr txBox="1"/>
          <p:nvPr/>
        </p:nvSpPr>
        <p:spPr>
          <a:xfrm>
            <a:off x="609600" y="2338625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12. What is XP?</a:t>
            </a:r>
            <a:r>
              <a:t>
</a:t>
            </a:r>
            <a:r>
              <a:rPr b="0" sz="1200" i="0" u="none">
                <a:solidFill>
                  <a:srgbClr val="172B4D"/>
                </a:solidFill>
                <a:latin typeface="Inter"/>
              </a:rPr>
              <a:t> Extreme Programming, focused on engineering quality like automated testing and CI/CD.</a:t>
            </a:r>
          </a:p>
        </p:txBody>
      </p:sp>
      <p:sp>
        <p:nvSpPr>
          <p:cNvPr id="31" name="TextBox 30"/>
          <p:cNvSpPr txBox="1"/>
          <p:nvPr/>
        </p:nvSpPr>
        <p:spPr>
          <a:xfrm>
            <a:off x="609600" y="240262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13. What is Lean?</a:t>
            </a:r>
            <a:r>
              <a:t>
</a:t>
            </a:r>
            <a:r>
              <a:rPr b="0" sz="1200" i="0" u="none">
                <a:solidFill>
                  <a:srgbClr val="172B4D"/>
                </a:solidFill>
                <a:latin typeface="Inter"/>
              </a:rPr>
              <a:t> A philosophy focused on reducing waste, managing dependencies, and optimizing flow.</a:t>
            </a:r>
          </a:p>
        </p:txBody>
      </p:sp>
      <p:sp>
        <p:nvSpPr>
          <p:cNvPr id="32" name="TextBox 31"/>
          <p:cNvSpPr txBox="1"/>
          <p:nvPr/>
        </p:nvSpPr>
        <p:spPr>
          <a:xfrm>
            <a:off x="609600" y="2466617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14. How does Jira support Agile?</a:t>
            </a:r>
            <a:r>
              <a:t>
</a:t>
            </a:r>
            <a:r>
              <a:rPr b="0" sz="1200" i="0" u="none">
                <a:solidFill>
                  <a:srgbClr val="172B4D"/>
                </a:solidFill>
                <a:latin typeface="Inter"/>
              </a:rPr>
              <a:t> It provides the executable layer (boards, backlogs, issue hierarchies) to track Agile artifacts.</a:t>
            </a:r>
          </a:p>
        </p:txBody>
      </p:sp>
      <p:sp>
        <p:nvSpPr>
          <p:cNvPr id="33" name="TextBox 32"/>
          <p:cNvSpPr txBox="1"/>
          <p:nvPr/>
        </p:nvSpPr>
        <p:spPr>
          <a:xfrm>
            <a:off x="609600" y="2530613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15. How does the Alumnex Connect board represent Kanban?</a:t>
            </a:r>
            <a:r>
              <a:t>
</a:t>
            </a:r>
            <a:r>
              <a:rPr b="0" sz="1200" i="0" u="none">
                <a:solidFill>
                  <a:srgbClr val="172B4D"/>
                </a:solidFill>
                <a:latin typeface="Inter"/>
              </a:rPr>
              <a:t> Through a continuous flow from Idea → To Do → In Progress → In Review → Done.</a:t>
            </a:r>
          </a:p>
        </p:txBody>
      </p:sp>
      <p:sp>
        <p:nvSpPr>
          <p:cNvPr id="34" name="TextBox 33"/>
          <p:cNvSpPr txBox="1"/>
          <p:nvPr/>
        </p:nvSpPr>
        <p:spPr>
          <a:xfrm>
            <a:off x="609600" y="2594610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16. Where is Scrum applied?</a:t>
            </a:r>
            <a:r>
              <a:t>
</a:t>
            </a:r>
            <a:r>
              <a:rPr b="0" sz="1200" i="0" u="none">
                <a:solidFill>
                  <a:srgbClr val="172B4D"/>
                </a:solidFill>
                <a:latin typeface="Inter"/>
              </a:rPr>
              <a:t> It is documented as the intended governance model via stories KAN-55 through KAN-63.</a:t>
            </a:r>
          </a:p>
        </p:txBody>
      </p:sp>
      <p:sp>
        <p:nvSpPr>
          <p:cNvPr id="35" name="TextBox 34"/>
          <p:cNvSpPr txBox="1"/>
          <p:nvPr/>
        </p:nvSpPr>
        <p:spPr>
          <a:xfrm>
            <a:off x="609600" y="2658606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17. Where is XP applied?</a:t>
            </a:r>
            <a:r>
              <a:t>
</a:t>
            </a:r>
            <a:r>
              <a:rPr b="0" sz="1200" i="0" u="none">
                <a:solidFill>
                  <a:srgbClr val="172B4D"/>
                </a:solidFill>
                <a:latin typeface="Inter"/>
              </a:rPr>
              <a:t> In stories like KAN-52 (Automated Testing) and KAN-53 (CI/CD Pipeline).</a:t>
            </a:r>
          </a:p>
        </p:txBody>
      </p:sp>
      <p:sp>
        <p:nvSpPr>
          <p:cNvPr id="36" name="TextBox 35"/>
          <p:cNvSpPr txBox="1"/>
          <p:nvPr/>
        </p:nvSpPr>
        <p:spPr>
          <a:xfrm>
            <a:off x="609600" y="2722602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18. Where is Lean applied?</a:t>
            </a:r>
            <a:r>
              <a:t>
</a:t>
            </a:r>
            <a:r>
              <a:rPr b="0" sz="1200" i="0" u="none">
                <a:solidFill>
                  <a:srgbClr val="172B4D"/>
                </a:solidFill>
                <a:latin typeface="Inter"/>
              </a:rPr>
              <a:t> Through dependency tracking (Blocks), visual workflows, and continuous improvement metrics.</a:t>
            </a:r>
          </a:p>
        </p:txBody>
      </p:sp>
      <p:sp>
        <p:nvSpPr>
          <p:cNvPr id="37" name="TextBox 36"/>
          <p:cNvSpPr txBox="1"/>
          <p:nvPr/>
        </p:nvSpPr>
        <p:spPr>
          <a:xfrm>
            <a:off x="609600" y="2786598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19. What is Definition of Done?</a:t>
            </a:r>
            <a:r>
              <a:t>
</a:t>
            </a:r>
            <a:r>
              <a:rPr b="0" sz="1200" i="0" u="none">
                <a:solidFill>
                  <a:srgbClr val="172B4D"/>
                </a:solidFill>
                <a:latin typeface="Inter"/>
              </a:rPr>
              <a:t> The quality gate determining when work can leave execution (tested, documented, reviewed).</a:t>
            </a:r>
          </a:p>
        </p:txBody>
      </p:sp>
      <p:sp>
        <p:nvSpPr>
          <p:cNvPr id="38" name="TextBox 37"/>
          <p:cNvSpPr txBox="1"/>
          <p:nvPr/>
        </p:nvSpPr>
        <p:spPr>
          <a:xfrm>
            <a:off x="609600" y="2850594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20. What is Definition of Ready?</a:t>
            </a:r>
            <a:r>
              <a:t>
</a:t>
            </a:r>
            <a:r>
              <a:rPr b="0" sz="1200" i="0" u="none">
                <a:solidFill>
                  <a:srgbClr val="172B4D"/>
                </a:solidFill>
                <a:latin typeface="Inter"/>
              </a:rPr>
              <a:t> The quality gate determining if a story is refined enough to enter execution.</a:t>
            </a:r>
          </a:p>
        </p:txBody>
      </p:sp>
      <p:sp>
        <p:nvSpPr>
          <p:cNvPr id="39" name="TextBox 38"/>
          <p:cNvSpPr txBox="1"/>
          <p:nvPr/>
        </p:nvSpPr>
        <p:spPr>
          <a:xfrm>
            <a:off x="609600" y="2914590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21. What are dependencies?</a:t>
            </a:r>
            <a:r>
              <a:t>
</a:t>
            </a:r>
            <a:r>
              <a:rPr b="0" sz="1200" i="0" u="none">
                <a:solidFill>
                  <a:srgbClr val="172B4D"/>
                </a:solidFill>
                <a:latin typeface="Inter"/>
              </a:rPr>
              <a:t> Sequencing constraints where one story blocks another (e.g., Auth blocks Profile).</a:t>
            </a:r>
          </a:p>
        </p:txBody>
      </p:sp>
      <p:sp>
        <p:nvSpPr>
          <p:cNvPr id="40" name="TextBox 39"/>
          <p:cNvSpPr txBox="1"/>
          <p:nvPr/>
        </p:nvSpPr>
        <p:spPr>
          <a:xfrm>
            <a:off x="609600" y="2978586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22. Why are Jira Versions used?</a:t>
            </a:r>
            <a:r>
              <a:t>
</a:t>
            </a:r>
            <a:r>
              <a:rPr b="0" sz="1200" i="0" u="none">
                <a:solidFill>
                  <a:srgbClr val="172B4D"/>
                </a:solidFill>
                <a:latin typeface="Inter"/>
              </a:rPr>
              <a:t> To group completed work into deliverable release phases (Phase 1-5).</a:t>
            </a:r>
          </a:p>
        </p:txBody>
      </p:sp>
      <p:sp>
        <p:nvSpPr>
          <p:cNvPr id="41" name="TextBox 40"/>
          <p:cNvSpPr txBox="1"/>
          <p:nvPr/>
        </p:nvSpPr>
        <p:spPr>
          <a:xfrm>
            <a:off x="609600" y="3042582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23. What is the role of Confluence?</a:t>
            </a:r>
            <a:r>
              <a:t>
</a:t>
            </a:r>
            <a:r>
              <a:rPr b="0" sz="1200" i="0" u="none">
                <a:solidFill>
                  <a:srgbClr val="172B4D"/>
                </a:solidFill>
                <a:latin typeface="Inter"/>
              </a:rPr>
              <a:t> It serves as the documentation and knowledge layer (playbooks, meeting notes).</a:t>
            </a:r>
          </a:p>
        </p:txBody>
      </p:sp>
      <p:sp>
        <p:nvSpPr>
          <p:cNvPr id="42" name="TextBox 41"/>
          <p:cNvSpPr txBox="1"/>
          <p:nvPr/>
        </p:nvSpPr>
        <p:spPr>
          <a:xfrm>
            <a:off x="609600" y="3106578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24. What is the difference between Jira and Confluence?</a:t>
            </a:r>
            <a:r>
              <a:t>
</a:t>
            </a:r>
            <a:r>
              <a:rPr b="0" sz="1200" i="0" u="none">
                <a:solidFill>
                  <a:srgbClr val="172B4D"/>
                </a:solidFill>
                <a:latin typeface="Inter"/>
              </a:rPr>
              <a:t> Jira tracks execution ("what"); Confluence tracks knowledge/governance ("how/why").</a:t>
            </a:r>
          </a:p>
        </p:txBody>
      </p:sp>
      <p:sp>
        <p:nvSpPr>
          <p:cNvPr id="43" name="TextBox 42"/>
          <p:cNvSpPr txBox="1"/>
          <p:nvPr/>
        </p:nvSpPr>
        <p:spPr>
          <a:xfrm>
            <a:off x="609600" y="3170574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25. Does the current board have actual Scrum Sprints?</a:t>
            </a:r>
            <a:r>
              <a:t>
</a:t>
            </a:r>
            <a:r>
              <a:rPr b="0" sz="1200" i="0" u="none">
                <a:solidFill>
                  <a:srgbClr val="172B4D"/>
                </a:solidFill>
                <a:latin typeface="Inter"/>
              </a:rPr>
              <a:t> No. The KAN project is a team-managed board without native Sprint history. Scrum is our documented operating model.</a:t>
            </a:r>
          </a:p>
        </p:txBody>
      </p:sp>
      <p:sp>
        <p:nvSpPr>
          <p:cNvPr id="44" name="TextBox 43"/>
          <p:cNvSpPr txBox="1"/>
          <p:nvPr/>
        </p:nvSpPr>
        <p:spPr>
          <a:xfrm>
            <a:off x="609600" y="3234570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26. Why does the project not show native Story Points?</a:t>
            </a:r>
            <a:r>
              <a:t>
</a:t>
            </a:r>
            <a:r>
              <a:rPr b="0" sz="1200" i="0" u="none">
                <a:solidFill>
                  <a:srgbClr val="172B4D"/>
                </a:solidFill>
                <a:latin typeface="Inter"/>
              </a:rPr>
              <a:t> The team-managed configuration limits the custom fields, so estimates are documented securely in the descriptions.</a:t>
            </a:r>
          </a:p>
        </p:txBody>
      </p:sp>
      <p:sp>
        <p:nvSpPr>
          <p:cNvPr id="45" name="TextBox 44"/>
          <p:cNvSpPr txBox="1"/>
          <p:nvPr/>
        </p:nvSpPr>
        <p:spPr>
          <a:xfrm>
            <a:off x="609600" y="3298567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27. What do the current status counts represent?</a:t>
            </a:r>
            <a:r>
              <a:t>
</a:t>
            </a:r>
            <a:r>
              <a:rPr b="0" sz="1200" i="0" u="none">
                <a:solidFill>
                  <a:srgbClr val="172B4D"/>
                </a:solidFill>
                <a:latin typeface="Inter"/>
              </a:rPr>
              <a:t> They represent a current project-management snapshot of active visualization, not a historical sprint completion record.</a:t>
            </a:r>
          </a:p>
        </p:txBody>
      </p:sp>
      <p:sp>
        <p:nvSpPr>
          <p:cNvPr id="46" name="TextBox 45"/>
          <p:cNvSpPr txBox="1"/>
          <p:nvPr/>
        </p:nvSpPr>
        <p:spPr>
          <a:xfrm>
            <a:off x="609600" y="33854231"/>
            <a:ext cx="11582400" cy="0"/>
          </a:xfrm>
          <a:prstGeom prst="rect">
            <a:avLst/>
          </a:prstGeom>
          <a:noFill/>
        </p:spPr>
        <p:txBody>
          <a:bodyPr wrap="square" lIns="0" rIns="0" tIns="0" bIns="0" anchor="t">
            <a:spAutoFit/>
          </a:bodyPr>
          <a:lstStyle/>
          <a:p>
            <a:pPr algn="l"/>
            <a:r>
              <a:rPr b="1" sz="2100" i="0" u="none">
                <a:solidFill>
                  <a:srgbClr val="0052CC"/>
                </a:solidFill>
                <a:latin typeface="Inter"/>
              </a:rPr>
              <a:t>3. Slide-by-Slide Speaker Notes</a:t>
            </a:r>
          </a:p>
        </p:txBody>
      </p:sp>
      <p:sp>
        <p:nvSpPr>
          <p:cNvPr id="47" name="TextBox 46"/>
          <p:cNvSpPr txBox="1"/>
          <p:nvPr/>
        </p:nvSpPr>
        <p:spPr>
          <a:xfrm>
            <a:off x="609600" y="3450193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 Title</a:t>
            </a:r>
          </a:p>
        </p:txBody>
      </p:sp>
      <p:sp>
        <p:nvSpPr>
          <p:cNvPr id="48" name="TextBox 47"/>
          <p:cNvSpPr txBox="1"/>
          <p:nvPr/>
        </p:nvSpPr>
        <p:spPr>
          <a:xfrm>
            <a:off x="609600" y="3484483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Welcome to the presentation on Alumnex Connect. Today, I will be demonstrating how Agile principles were transformed into an executable software project-management system using Jira.</a:t>
            </a:r>
          </a:p>
        </p:txBody>
      </p:sp>
      <p:sp>
        <p:nvSpPr>
          <p:cNvPr id="49" name="TextBox 48"/>
          <p:cNvSpPr txBox="1"/>
          <p:nvPr/>
        </p:nvSpPr>
        <p:spPr>
          <a:xfrm>
            <a:off x="609600" y="3556099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 Project Overview</a:t>
            </a:r>
          </a:p>
        </p:txBody>
      </p:sp>
      <p:sp>
        <p:nvSpPr>
          <p:cNvPr id="50" name="TextBox 49"/>
          <p:cNvSpPr txBox="1"/>
          <p:nvPr/>
        </p:nvSpPr>
        <p:spPr>
          <a:xfrm>
            <a:off x="609600" y="3590389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Alumnex Connect is an integrated ecosystem connecting alumni and students. It includes mentorship, DevPulse developer analytics, AI assistance, and mobile access. This complexity required a structured management approach.</a:t>
            </a:r>
          </a:p>
        </p:txBody>
      </p:sp>
      <p:sp>
        <p:nvSpPr>
          <p:cNvPr id="51" name="TextBox 50"/>
          <p:cNvSpPr txBox="1"/>
          <p:nvPr/>
        </p:nvSpPr>
        <p:spPr>
          <a:xfrm>
            <a:off x="609600" y="3662005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 Why Agile?</a:t>
            </a:r>
          </a:p>
        </p:txBody>
      </p:sp>
      <p:sp>
        <p:nvSpPr>
          <p:cNvPr id="52" name="TextBox 51"/>
          <p:cNvSpPr txBox="1"/>
          <p:nvPr/>
        </p:nvSpPr>
        <p:spPr>
          <a:xfrm>
            <a:off x="609600" y="3696295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If asked why this is Agile: Traditional sequential methods hide risks until late testing. Agile was chosen because requirements evolve, and we needed to deliver features incrementally while surfacing dependencies early. Remember: Agile is the overall delivery philosophy.</a:t>
            </a:r>
          </a:p>
        </p:txBody>
      </p:sp>
      <p:sp>
        <p:nvSpPr>
          <p:cNvPr id="53" name="TextBox 52"/>
          <p:cNvSpPr txBox="1"/>
          <p:nvPr/>
        </p:nvSpPr>
        <p:spPr>
          <a:xfrm>
            <a:off x="609600" y="3767911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4: Methodology Landscape</a:t>
            </a:r>
          </a:p>
        </p:txBody>
      </p:sp>
      <p:sp>
        <p:nvSpPr>
          <p:cNvPr id="54" name="TextBox 53"/>
          <p:cNvSpPr txBox="1"/>
          <p:nvPr/>
        </p:nvSpPr>
        <p:spPr>
          <a:xfrm>
            <a:off x="609600" y="3802201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Agile is the umbrella. We used a hybrid approach. Scrum handles governance and planning. Kanban manages the visual board flow. XP drives testing/CI, and Lean focuses on reducing waste. Jira supports all of these.</a:t>
            </a:r>
          </a:p>
        </p:txBody>
      </p:sp>
      <p:sp>
        <p:nvSpPr>
          <p:cNvPr id="55" name="TextBox 54"/>
          <p:cNvSpPr txBox="1"/>
          <p:nvPr/>
        </p:nvSpPr>
        <p:spPr>
          <a:xfrm>
            <a:off x="609600" y="3873817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5: Why Jira?</a:t>
            </a:r>
          </a:p>
        </p:txBody>
      </p:sp>
      <p:sp>
        <p:nvSpPr>
          <p:cNvPr id="56" name="TextBox 55"/>
          <p:cNvSpPr txBox="1"/>
          <p:nvPr/>
        </p:nvSpPr>
        <p:spPr>
          <a:xfrm>
            <a:off x="609600" y="3908107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is a tool, not a methodology. We use a two-layer architecture. Jira is the execution layer tracking what work is done. Confluence is the knowledge layer storing our Agile Playbook and process standards.</a:t>
            </a:r>
          </a:p>
        </p:txBody>
      </p:sp>
      <p:sp>
        <p:nvSpPr>
          <p:cNvPr id="57" name="TextBox 56"/>
          <p:cNvSpPr txBox="1"/>
          <p:nvPr/>
        </p:nvSpPr>
        <p:spPr>
          <a:xfrm>
            <a:off x="609600" y="39797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6: Jira Project Structure</a:t>
            </a:r>
          </a:p>
        </p:txBody>
      </p:sp>
      <p:sp>
        <p:nvSpPr>
          <p:cNvPr id="58" name="TextBox 57"/>
          <p:cNvSpPr txBox="1"/>
          <p:nvPr/>
        </p:nvSpPr>
        <p:spPr>
          <a:xfrm>
            <a:off x="609600" y="40140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our project setup. Project Key: KAN. It’s a team-managed project using a KAN board to manage the backlog, workflow, and reporting.</a:t>
            </a:r>
          </a:p>
        </p:txBody>
      </p:sp>
      <p:sp>
        <p:nvSpPr>
          <p:cNvPr id="59" name="TextBox 58"/>
          <p:cNvSpPr txBox="1"/>
          <p:nvPr/>
        </p:nvSpPr>
        <p:spPr>
          <a:xfrm>
            <a:off x="609600" y="40856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7: Issue Hierarchy</a:t>
            </a:r>
          </a:p>
        </p:txBody>
      </p:sp>
      <p:sp>
        <p:nvSpPr>
          <p:cNvPr id="60" name="TextBox 59"/>
          <p:cNvSpPr txBox="1"/>
          <p:nvPr/>
        </p:nvSpPr>
        <p:spPr>
          <a:xfrm>
            <a:off x="609600" y="41199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shows how we break work down. High-level capabilities are Epics. Epics break down into user-value Stories. Stories break down into technical Subtasks. Bugs run parallel to handle defects.</a:t>
            </a:r>
          </a:p>
        </p:txBody>
      </p:sp>
      <p:sp>
        <p:nvSpPr>
          <p:cNvPr id="61" name="TextBox 60"/>
          <p:cNvSpPr txBox="1"/>
          <p:nvPr/>
        </p:nvSpPr>
        <p:spPr>
          <a:xfrm>
            <a:off x="609600" y="41915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8: Epic Structure</a:t>
            </a:r>
          </a:p>
        </p:txBody>
      </p:sp>
      <p:sp>
        <p:nvSpPr>
          <p:cNvPr id="62" name="TextBox 61"/>
          <p:cNvSpPr txBox="1"/>
          <p:nvPr/>
        </p:nvSpPr>
        <p:spPr>
          <a:xfrm>
            <a:off x="609600" y="42258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structured the entire product into 10 Epics. KAN-1 handles Auth, down to KAN-10 which specifically manages Scrum and Project Governance work items.</a:t>
            </a:r>
          </a:p>
        </p:txBody>
      </p:sp>
      <p:sp>
        <p:nvSpPr>
          <p:cNvPr id="63" name="TextBox 62"/>
          <p:cNvSpPr txBox="1"/>
          <p:nvPr/>
        </p:nvSpPr>
        <p:spPr>
          <a:xfrm>
            <a:off x="609600" y="4297441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9: User Stories</a:t>
            </a:r>
          </a:p>
        </p:txBody>
      </p:sp>
      <p:sp>
        <p:nvSpPr>
          <p:cNvPr id="64" name="TextBox 63"/>
          <p:cNvSpPr txBox="1"/>
          <p:nvPr/>
        </p:nvSpPr>
        <p:spPr>
          <a:xfrm>
            <a:off x="609600" y="43317318"/>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how we write requirements. E.g., KAN-11 Student Registration. "As a... I want to... So that..." It ensures every piece of work focuses on user and business value.</a:t>
            </a:r>
          </a:p>
        </p:txBody>
      </p:sp>
      <p:sp>
        <p:nvSpPr>
          <p:cNvPr id="65" name="TextBox 64"/>
          <p:cNvSpPr txBox="1"/>
          <p:nvPr/>
        </p:nvSpPr>
        <p:spPr>
          <a:xfrm>
            <a:off x="609600" y="4403347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10: Acceptance Criteria</a:t>
            </a:r>
          </a:p>
        </p:txBody>
      </p:sp>
      <p:sp>
        <p:nvSpPr>
          <p:cNvPr id="66" name="TextBox 65"/>
          <p:cNvSpPr txBox="1"/>
          <p:nvPr/>
        </p:nvSpPr>
        <p:spPr>
          <a:xfrm>
            <a:off x="609600" y="4437637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Acceptance criteria define observable success. The screenshot of KAN-14 OTP shows we explicitly document conditions like valid OTPs passing and expired OTPs failing. This informs our Definition of Done.</a:t>
            </a:r>
          </a:p>
        </p:txBody>
      </p:sp>
      <p:sp>
        <p:nvSpPr>
          <p:cNvPr id="67" name="TextBox 66"/>
          <p:cNvSpPr txBox="1"/>
          <p:nvPr/>
        </p:nvSpPr>
        <p:spPr>
          <a:xfrm>
            <a:off x="609600" y="4509254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11: Subtask Decomposition</a:t>
            </a:r>
          </a:p>
        </p:txBody>
      </p:sp>
      <p:sp>
        <p:nvSpPr>
          <p:cNvPr id="68" name="TextBox 67"/>
          <p:cNvSpPr txBox="1"/>
          <p:nvPr/>
        </p:nvSpPr>
        <p:spPr>
          <a:xfrm>
            <a:off x="609600" y="4543544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A story is user value. A subtask is technical work. Here, KAN-11 Registration is broken down into designing the flow (KAN-69), credential handling (KAN-70), and testing (KAN-71).</a:t>
            </a:r>
          </a:p>
        </p:txBody>
      </p:sp>
      <p:sp>
        <p:nvSpPr>
          <p:cNvPr id="69" name="TextBox 68"/>
          <p:cNvSpPr txBox="1"/>
          <p:nvPr/>
        </p:nvSpPr>
        <p:spPr>
          <a:xfrm>
            <a:off x="609600" y="4615160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12: Product Backlog Refinement</a:t>
            </a:r>
          </a:p>
        </p:txBody>
      </p:sp>
      <p:sp>
        <p:nvSpPr>
          <p:cNvPr id="70" name="TextBox 69"/>
          <p:cNvSpPr txBox="1"/>
          <p:nvPr/>
        </p:nvSpPr>
        <p:spPr>
          <a:xfrm>
            <a:off x="609600" y="46494501"/>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Our backlog isn't a dump of ideas. As shown in the screenshot, items are refined through a process: captured, clarified, prioritized, estimated, and made ready for implementation.</a:t>
            </a:r>
          </a:p>
        </p:txBody>
      </p:sp>
      <p:sp>
        <p:nvSpPr>
          <p:cNvPr id="71" name="TextBox 70"/>
          <p:cNvSpPr txBox="1"/>
          <p:nvPr/>
        </p:nvSpPr>
        <p:spPr>
          <a:xfrm>
            <a:off x="609600" y="4721066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13: Board Workflow &amp; States</a:t>
            </a:r>
          </a:p>
        </p:txBody>
      </p:sp>
      <p:sp>
        <p:nvSpPr>
          <p:cNvPr id="72" name="TextBox 71"/>
          <p:cNvSpPr txBox="1"/>
          <p:nvPr/>
        </p:nvSpPr>
        <p:spPr>
          <a:xfrm>
            <a:off x="609600" y="4755356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is our Kanban implementation. Work flows from Idea -&gt; To Do -&gt; In Progress -&gt; In Review -&gt; Done. These are execution states, not time-boxed sprint stages.</a:t>
            </a:r>
          </a:p>
        </p:txBody>
      </p:sp>
      <p:sp>
        <p:nvSpPr>
          <p:cNvPr id="73" name="TextBox 72"/>
          <p:cNvSpPr txBox="1"/>
          <p:nvPr/>
        </p:nvSpPr>
        <p:spPr>
          <a:xfrm>
            <a:off x="609600" y="4826972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14: Current Project Status</a:t>
            </a:r>
          </a:p>
        </p:txBody>
      </p:sp>
      <p:sp>
        <p:nvSpPr>
          <p:cNvPr id="74" name="TextBox 73"/>
          <p:cNvSpPr txBox="1"/>
          <p:nvPr/>
        </p:nvSpPr>
        <p:spPr>
          <a:xfrm>
            <a:off x="609600" y="4861262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have 88 total issues active. 38 are Done. If asked: This is a current project-management snapshot demonstrating active visualization, not a claim of historical sprint completion.</a:t>
            </a:r>
          </a:p>
        </p:txBody>
      </p:sp>
      <p:sp>
        <p:nvSpPr>
          <p:cNvPr id="75" name="TextBox 74"/>
          <p:cNvSpPr txBox="1"/>
          <p:nvPr/>
        </p:nvSpPr>
        <p:spPr>
          <a:xfrm>
            <a:off x="609600" y="4932878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15: Release Management</a:t>
            </a:r>
          </a:p>
        </p:txBody>
      </p:sp>
      <p:sp>
        <p:nvSpPr>
          <p:cNvPr id="76" name="TextBox 75"/>
          <p:cNvSpPr txBox="1"/>
          <p:nvPr/>
        </p:nvSpPr>
        <p:spPr>
          <a:xfrm>
            <a:off x="609600" y="4967168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Jira Versions to group work into 5 delivery phases, from Foundation to Mobile &amp; Reliability. Note the distinction: Versions group releases; Sprints group time-boxed effort.</a:t>
            </a:r>
          </a:p>
        </p:txBody>
      </p:sp>
      <p:sp>
        <p:nvSpPr>
          <p:cNvPr id="77" name="TextBox 76"/>
          <p:cNvSpPr txBox="1"/>
          <p:nvPr/>
        </p:nvSpPr>
        <p:spPr>
          <a:xfrm>
            <a:off x="609600" y="5038784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16: Agile Estimation</a:t>
            </a:r>
          </a:p>
        </p:txBody>
      </p:sp>
      <p:sp>
        <p:nvSpPr>
          <p:cNvPr id="78" name="TextBox 77"/>
          <p:cNvSpPr txBox="1"/>
          <p:nvPr/>
        </p:nvSpPr>
        <p:spPr>
          <a:xfrm>
            <a:off x="609600" y="5073074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baselined 53 stories for 256 points. Because this specific team-managed Jira configuration doesn't natively expose the Story Points field, the estimates are securely documented in the story descriptions.</a:t>
            </a:r>
          </a:p>
        </p:txBody>
      </p:sp>
      <p:sp>
        <p:nvSpPr>
          <p:cNvPr id="79" name="TextBox 78"/>
          <p:cNvSpPr txBox="1"/>
          <p:nvPr/>
        </p:nvSpPr>
        <p:spPr>
          <a:xfrm>
            <a:off x="609600" y="5144690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17: Dependency Management</a:t>
            </a:r>
          </a:p>
        </p:txBody>
      </p:sp>
      <p:sp>
        <p:nvSpPr>
          <p:cNvPr id="80" name="TextBox 79"/>
          <p:cNvSpPr txBox="1"/>
          <p:nvPr/>
        </p:nvSpPr>
        <p:spPr>
          <a:xfrm>
            <a:off x="609600" y="5178980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8 "Blocks" relationships. This applies Lean principles—making waiting and bottlenecks visible so we don't start work we cannot finish.</a:t>
            </a:r>
          </a:p>
        </p:txBody>
      </p:sp>
      <p:sp>
        <p:nvSpPr>
          <p:cNvPr id="81" name="TextBox 80"/>
          <p:cNvSpPr txBox="1"/>
          <p:nvPr/>
        </p:nvSpPr>
        <p:spPr>
          <a:xfrm>
            <a:off x="609600" y="5250596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18: Bug Management</a:t>
            </a:r>
          </a:p>
        </p:txBody>
      </p:sp>
      <p:sp>
        <p:nvSpPr>
          <p:cNvPr id="82" name="TextBox 81"/>
          <p:cNvSpPr txBox="1"/>
          <p:nvPr/>
        </p:nvSpPr>
        <p:spPr>
          <a:xfrm>
            <a:off x="609600" y="5284886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tracked 5 bugs. In Agile, bugs aren't hidden; they are visible backlog items with fix intents and verification steps, pushed through the same workflow as features.</a:t>
            </a:r>
          </a:p>
        </p:txBody>
      </p:sp>
      <p:sp>
        <p:nvSpPr>
          <p:cNvPr id="83" name="TextBox 82"/>
          <p:cNvSpPr txBox="1"/>
          <p:nvPr/>
        </p:nvSpPr>
        <p:spPr>
          <a:xfrm>
            <a:off x="609600" y="5356502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19: Definition of Ready</a:t>
            </a:r>
          </a:p>
        </p:txBody>
      </p:sp>
      <p:sp>
        <p:nvSpPr>
          <p:cNvPr id="84" name="TextBox 83"/>
          <p:cNvSpPr txBox="1"/>
          <p:nvPr/>
        </p:nvSpPr>
        <p:spPr>
          <a:xfrm>
            <a:off x="609600" y="5390792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DoR is a quality gate. It prevents unrefined, untestable stories from entering the "In Progress" execution state, protecting the team from blockers.</a:t>
            </a:r>
          </a:p>
        </p:txBody>
      </p:sp>
      <p:sp>
        <p:nvSpPr>
          <p:cNvPr id="85" name="TextBox 84"/>
          <p:cNvSpPr txBox="1"/>
          <p:nvPr/>
        </p:nvSpPr>
        <p:spPr>
          <a:xfrm>
            <a:off x="609600" y="54380308"/>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20: Definition of Done</a:t>
            </a:r>
          </a:p>
        </p:txBody>
      </p:sp>
      <p:sp>
        <p:nvSpPr>
          <p:cNvPr id="86" name="TextBox 85"/>
          <p:cNvSpPr txBox="1"/>
          <p:nvPr/>
        </p:nvSpPr>
        <p:spPr>
          <a:xfrm>
            <a:off x="609600" y="54723208"/>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DoD protects the quality of completed work. A story isn't "Done" just because code is written—it must be tested, reviewed, and documented.</a:t>
            </a:r>
          </a:p>
        </p:txBody>
      </p:sp>
      <p:sp>
        <p:nvSpPr>
          <p:cNvPr id="87" name="TextBox 86"/>
          <p:cNvSpPr txBox="1"/>
          <p:nvPr/>
        </p:nvSpPr>
        <p:spPr>
          <a:xfrm>
            <a:off x="609600" y="55195589"/>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21: Scrum in Alumnex Connect</a:t>
            </a:r>
          </a:p>
        </p:txBody>
      </p:sp>
      <p:sp>
        <p:nvSpPr>
          <p:cNvPr id="88" name="TextBox 87"/>
          <p:cNvSpPr txBox="1"/>
          <p:nvPr/>
        </p:nvSpPr>
        <p:spPr>
          <a:xfrm>
            <a:off x="609600" y="55538489"/>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Very important: Stories KAN-55 through KAN-63 document our intended Scrum operating model. The current KAN board does not provide native Jira Scrum Sprint execution, so this serves as our governance baseline.</a:t>
            </a:r>
          </a:p>
        </p:txBody>
      </p:sp>
      <p:sp>
        <p:nvSpPr>
          <p:cNvPr id="89" name="TextBox 88"/>
          <p:cNvSpPr txBox="1"/>
          <p:nvPr/>
        </p:nvSpPr>
        <p:spPr>
          <a:xfrm>
            <a:off x="609600" y="5625465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22: Kanban in Alumnex Connect</a:t>
            </a:r>
          </a:p>
        </p:txBody>
      </p:sp>
      <p:sp>
        <p:nvSpPr>
          <p:cNvPr id="90" name="TextBox 89"/>
          <p:cNvSpPr txBox="1"/>
          <p:nvPr/>
        </p:nvSpPr>
        <p:spPr>
          <a:xfrm>
            <a:off x="609600" y="5659755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Kanban is our strongest direct operational fit right now. We visualize work, manage continuous flow across the board columns, and identify bottlenecks in the Review state.</a:t>
            </a:r>
          </a:p>
        </p:txBody>
      </p:sp>
      <p:sp>
        <p:nvSpPr>
          <p:cNvPr id="91" name="TextBox 90"/>
          <p:cNvSpPr txBox="1"/>
          <p:nvPr/>
        </p:nvSpPr>
        <p:spPr>
          <a:xfrm>
            <a:off x="609600" y="57313710"/>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23: XP in Alumnex Connect</a:t>
            </a:r>
          </a:p>
        </p:txBody>
      </p:sp>
      <p:sp>
        <p:nvSpPr>
          <p:cNvPr id="92" name="TextBox 91"/>
          <p:cNvSpPr txBox="1"/>
          <p:nvPr/>
        </p:nvSpPr>
        <p:spPr>
          <a:xfrm>
            <a:off x="609600" y="57656610"/>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don't claim full XP adoption, but XP engineering practices are represented via KAN-52 (Automated Testing) and KAN-53 (CI/CD Pipeline) to ensure quality.</a:t>
            </a:r>
          </a:p>
        </p:txBody>
      </p:sp>
      <p:sp>
        <p:nvSpPr>
          <p:cNvPr id="93" name="TextBox 92"/>
          <p:cNvSpPr txBox="1"/>
          <p:nvPr/>
        </p:nvSpPr>
        <p:spPr>
          <a:xfrm>
            <a:off x="609600" y="58372771"/>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24: Lean in Alumnex Connect</a:t>
            </a:r>
          </a:p>
        </p:txBody>
      </p:sp>
      <p:sp>
        <p:nvSpPr>
          <p:cNvPr id="94" name="TextBox 93"/>
          <p:cNvSpPr txBox="1"/>
          <p:nvPr/>
        </p:nvSpPr>
        <p:spPr>
          <a:xfrm>
            <a:off x="609600" y="58715671"/>
            <a:ext cx="11582400" cy="0"/>
          </a:xfrm>
          <a:prstGeom prst="rect">
            <a:avLst/>
          </a:prstGeom>
          <a:noFill/>
        </p:spPr>
        <p:txBody>
          <a:bodyPr wrap="non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Lean principles are applied by reducing waste (making blockers visible), optimizing flow (the board), and utilizing fast feedback loops.</a:t>
            </a:r>
          </a:p>
        </p:txBody>
      </p:sp>
      <p:sp>
        <p:nvSpPr>
          <p:cNvPr id="95" name="TextBox 94"/>
          <p:cNvSpPr txBox="1"/>
          <p:nvPr/>
        </p:nvSpPr>
        <p:spPr>
          <a:xfrm>
            <a:off x="609600" y="59188052"/>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25: Methodology Comparison</a:t>
            </a:r>
          </a:p>
        </p:txBody>
      </p:sp>
      <p:sp>
        <p:nvSpPr>
          <p:cNvPr id="96" name="TextBox 95"/>
          <p:cNvSpPr txBox="1"/>
          <p:nvPr/>
        </p:nvSpPr>
        <p:spPr>
          <a:xfrm>
            <a:off x="609600" y="59530952"/>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matrix synthesizes everything. Scrum governs planning. Kanban manages flow. XP ensures engineering quality. Lean reduces waste. Jira executes it all.</a:t>
            </a:r>
          </a:p>
        </p:txBody>
      </p:sp>
      <p:sp>
        <p:nvSpPr>
          <p:cNvPr id="97" name="TextBox 96"/>
          <p:cNvSpPr txBox="1"/>
          <p:nvPr/>
        </p:nvSpPr>
        <p:spPr>
          <a:xfrm>
            <a:off x="609600" y="60247113"/>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26: Jira + Confluence</a:t>
            </a:r>
          </a:p>
        </p:txBody>
      </p:sp>
      <p:sp>
        <p:nvSpPr>
          <p:cNvPr id="98" name="TextBox 97"/>
          <p:cNvSpPr txBox="1"/>
          <p:nvPr/>
        </p:nvSpPr>
        <p:spPr>
          <a:xfrm>
            <a:off x="609600" y="60590013"/>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Jira asks "What work is being done?" (Execution). Confluence asks "How is it managed and why?" (Knowledge). They are integrated to form the complete Agile system.</a:t>
            </a:r>
          </a:p>
        </p:txBody>
      </p:sp>
      <p:sp>
        <p:nvSpPr>
          <p:cNvPr id="99" name="TextBox 98"/>
          <p:cNvSpPr txBox="1"/>
          <p:nvPr/>
        </p:nvSpPr>
        <p:spPr>
          <a:xfrm>
            <a:off x="609600" y="61306174"/>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27: Reports &amp; Analytics</a:t>
            </a:r>
          </a:p>
        </p:txBody>
      </p:sp>
      <p:sp>
        <p:nvSpPr>
          <p:cNvPr id="100" name="TextBox 99"/>
          <p:cNvSpPr txBox="1"/>
          <p:nvPr/>
        </p:nvSpPr>
        <p:spPr>
          <a:xfrm>
            <a:off x="609600" y="61649074"/>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The screenshot proves we use metrics to inspect and adapt. If numbers look low, note that the report reflects the current structural setup baseline.</a:t>
            </a:r>
          </a:p>
        </p:txBody>
      </p:sp>
      <p:sp>
        <p:nvSpPr>
          <p:cNvPr id="101" name="TextBox 100"/>
          <p:cNvSpPr txBox="1"/>
          <p:nvPr/>
        </p:nvSpPr>
        <p:spPr>
          <a:xfrm>
            <a:off x="609600" y="62365235"/>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28: Timeline &amp; Calendar</a:t>
            </a:r>
          </a:p>
        </p:txBody>
      </p:sp>
      <p:sp>
        <p:nvSpPr>
          <p:cNvPr id="102" name="TextBox 101"/>
          <p:cNvSpPr txBox="1"/>
          <p:nvPr/>
        </p:nvSpPr>
        <p:spPr>
          <a:xfrm>
            <a:off x="609600" y="62708135"/>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use Timeline for Epic-level roadmap planning and the Calendar for date-based scheduling. These tools support planning but do not automatically create Scrum Sprints.</a:t>
            </a:r>
          </a:p>
        </p:txBody>
      </p:sp>
      <p:sp>
        <p:nvSpPr>
          <p:cNvPr id="103" name="TextBox 102"/>
          <p:cNvSpPr txBox="1"/>
          <p:nvPr/>
        </p:nvSpPr>
        <p:spPr>
          <a:xfrm>
            <a:off x="609600" y="63424296"/>
            <a:ext cx="11582400" cy="0"/>
          </a:xfrm>
          <a:prstGeom prst="rect">
            <a:avLst/>
          </a:prstGeom>
          <a:noFill/>
        </p:spPr>
        <p:txBody>
          <a:bodyPr wrap="none" lIns="0" rIns="0" tIns="0" bIns="0" anchor="t">
            <a:spAutoFit/>
          </a:bodyPr>
          <a:lstStyle/>
          <a:p>
            <a:pPr algn="l"/>
            <a:r>
              <a:rPr b="1" sz="1500" i="0" u="none">
                <a:solidFill>
                  <a:srgbClr val="172B4D"/>
                </a:solidFill>
                <a:latin typeface="Inter"/>
              </a:rPr>
              <a:t>Slide 29: End-to-End Model</a:t>
            </a:r>
          </a:p>
        </p:txBody>
      </p:sp>
      <p:sp>
        <p:nvSpPr>
          <p:cNvPr id="104" name="TextBox 103"/>
          <p:cNvSpPr txBox="1"/>
          <p:nvPr/>
        </p:nvSpPr>
        <p:spPr>
          <a:xfrm>
            <a:off x="609600" y="63767196"/>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This diagram connects everything. From Vision -&gt; Epic -&gt; Story -&gt; Refinement -&gt; Execution workflow -&gt; Done -&gt; Release. Scrum, Kanban, XP, and Lean all contribute to this continuous loop.</a:t>
            </a:r>
          </a:p>
        </p:txBody>
      </p:sp>
      <p:sp>
        <p:nvSpPr>
          <p:cNvPr id="105" name="TextBox 104"/>
          <p:cNvSpPr txBox="1"/>
          <p:nvPr/>
        </p:nvSpPr>
        <p:spPr>
          <a:xfrm>
            <a:off x="609600" y="6448335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30: Conclusion</a:t>
            </a:r>
          </a:p>
        </p:txBody>
      </p:sp>
      <p:sp>
        <p:nvSpPr>
          <p:cNvPr id="106" name="TextBox 105"/>
          <p:cNvSpPr txBox="1"/>
          <p:nvPr/>
        </p:nvSpPr>
        <p:spPr>
          <a:xfrm>
            <a:off x="609600" y="6482625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We successfully structured a complex product into Epics, Stories, and Subtasks. We visualized workflow, tracked dependencies and defects, and established a documented Agile governance model using Jira and Confluence.</a:t>
            </a:r>
          </a:p>
        </p:txBody>
      </p:sp>
      <p:sp>
        <p:nvSpPr>
          <p:cNvPr id="107" name="TextBox 106"/>
          <p:cNvSpPr txBox="1"/>
          <p:nvPr/>
        </p:nvSpPr>
        <p:spPr>
          <a:xfrm>
            <a:off x="609600" y="65542417"/>
            <a:ext cx="11582400" cy="0"/>
          </a:xfrm>
          <a:prstGeom prst="rect">
            <a:avLst/>
          </a:prstGeom>
          <a:noFill/>
        </p:spPr>
        <p:txBody>
          <a:bodyPr wrap="none" lIns="0" rIns="0" tIns="0" bIns="0" anchor="t">
            <a:spAutoFit/>
          </a:bodyPr>
          <a:lstStyle/>
          <a:p>
            <a:pPr algn="l"/>
            <a:r>
              <a:rPr b="1" sz="1500" i="0" u="none">
                <a:solidFill>
                  <a:srgbClr val="172B4D"/>
                </a:solidFill>
                <a:latin typeface="Inter"/>
              </a:rPr>
              <a:t>Slide 31: Q&amp;A</a:t>
            </a:r>
          </a:p>
        </p:txBody>
      </p:sp>
      <p:sp>
        <p:nvSpPr>
          <p:cNvPr id="108" name="TextBox 107"/>
          <p:cNvSpPr txBox="1"/>
          <p:nvPr/>
        </p:nvSpPr>
        <p:spPr>
          <a:xfrm>
            <a:off x="609600" y="65885317"/>
            <a:ext cx="11068050" cy="0"/>
          </a:xfrm>
          <a:prstGeom prst="rect">
            <a:avLst/>
          </a:prstGeom>
          <a:noFill/>
        </p:spPr>
        <p:txBody>
          <a:bodyPr wrap="square" lIns="0" rIns="0" tIns="0" bIns="0" anchor="t">
            <a:spAutoFit/>
          </a:bodyPr>
          <a:lstStyle/>
          <a:p>
            <a:pPr algn="l">
              <a:lnSpc>
                <a:spcPts val="1920"/>
              </a:lnSpc>
            </a:pPr>
            <a:r>
              <a:rPr b="1" sz="1200" i="0" u="none">
                <a:solidFill>
                  <a:srgbClr val="172B4D"/>
                </a:solidFill>
                <a:latin typeface="Inter"/>
              </a:rPr>
              <a:t>Notes:</a:t>
            </a:r>
            <a:r>
              <a:rPr b="0" sz="1200" i="0" u="none">
                <a:solidFill>
                  <a:srgbClr val="172B4D"/>
                </a:solidFill>
                <a:latin typeface="Inter"/>
              </a:rPr>
              <a:t> Leave this slide up during the Viva. Be prepared to differentiate between Jira (the tool) and Agile (the methodology), and confidently state the academic constraints regarding historical Sprints vs documented operating models.</a:t>
            </a:r>
          </a:p>
        </p:txBody>
      </p:sp>
      <p:sp>
        <p:nvSpPr>
          <p:cNvPr id="109" name="TextBox 108"/>
          <p:cNvSpPr txBox="1"/>
          <p:nvPr/>
        </p:nvSpPr>
        <p:spPr>
          <a:xfrm>
            <a:off x="5738812" y="2114550"/>
            <a:ext cx="809625" cy="314325"/>
          </a:xfrm>
          <a:prstGeom prst="rect">
            <a:avLst/>
          </a:prstGeom>
          <a:noFill/>
        </p:spPr>
        <p:txBody>
          <a:bodyPr wrap="square" lIns="0" rIns="0" tIns="0" bIns="0" anchor="t">
            <a:spAutoFit/>
          </a:bodyPr>
          <a:lstStyle/>
          <a:p>
            <a:pPr algn="l"/>
            <a:r>
              <a:rPr b="1" sz="1800" i="0" u="none">
                <a:solidFill>
                  <a:srgbClr val="F8FAFC"/>
                </a:solidFill>
                <a:latin typeface="Inter"/>
              </a:rPr>
              <a:t>AGILE</a:t>
            </a:r>
          </a:p>
        </p:txBody>
      </p:sp>
      <p:sp>
        <p:nvSpPr>
          <p:cNvPr id="110" name="TextBox 109"/>
          <p:cNvSpPr txBox="1"/>
          <p:nvPr/>
        </p:nvSpPr>
        <p:spPr>
          <a:xfrm>
            <a:off x="5815012" y="3267075"/>
            <a:ext cx="657225" cy="314325"/>
          </a:xfrm>
          <a:prstGeom prst="rect">
            <a:avLst/>
          </a:prstGeom>
          <a:noFill/>
        </p:spPr>
        <p:txBody>
          <a:bodyPr wrap="square" lIns="0" rIns="0" tIns="0" bIns="0" anchor="t">
            <a:spAutoFit/>
          </a:bodyPr>
          <a:lstStyle/>
          <a:p>
            <a:pPr algn="l"/>
            <a:r>
              <a:rPr b="1" sz="1800" i="0" u="none">
                <a:solidFill>
                  <a:srgbClr val="F8FAFC"/>
                </a:solidFill>
                <a:latin typeface="Inter"/>
              </a:rPr>
              <a:t>JIRA</a:t>
            </a:r>
          </a:p>
        </p:txBody>
      </p:sp>
      <p:sp>
        <p:nvSpPr>
          <p:cNvPr id="111" name="TextBox 110"/>
          <p:cNvSpPr txBox="1"/>
          <p:nvPr/>
        </p:nvSpPr>
        <p:spPr>
          <a:xfrm>
            <a:off x="4881562" y="4419600"/>
            <a:ext cx="2524125" cy="314325"/>
          </a:xfrm>
          <a:prstGeom prst="rect">
            <a:avLst/>
          </a:prstGeom>
          <a:noFill/>
        </p:spPr>
        <p:txBody>
          <a:bodyPr wrap="square" lIns="0" rIns="0" tIns="0" bIns="0" anchor="t">
            <a:spAutoFit/>
          </a:bodyPr>
          <a:lstStyle/>
          <a:p>
            <a:pPr algn="l"/>
            <a:r>
              <a:rPr b="1" sz="1800" i="0" u="none">
                <a:solidFill>
                  <a:srgbClr val="F8FAFC"/>
                </a:solidFill>
                <a:latin typeface="Inter"/>
              </a:rPr>
              <a:t>ALUMNEX CONNECT</a:t>
            </a:r>
          </a:p>
        </p:txBody>
      </p:sp>
      <p:sp>
        <p:nvSpPr>
          <p:cNvPr id="112" name="TextBox 111"/>
          <p:cNvSpPr txBox="1"/>
          <p:nvPr/>
        </p:nvSpPr>
        <p:spPr>
          <a:xfrm>
            <a:off x="5124450" y="5572125"/>
            <a:ext cx="2038350" cy="276225"/>
          </a:xfrm>
          <a:prstGeom prst="rect">
            <a:avLst/>
          </a:prstGeom>
          <a:noFill/>
        </p:spPr>
        <p:txBody>
          <a:bodyPr wrap="square" lIns="0" rIns="0" tIns="0" bIns="0" anchor="t">
            <a:spAutoFit/>
          </a:bodyPr>
          <a:lstStyle/>
          <a:p>
            <a:pPr algn="l"/>
            <a:r>
              <a:rPr b="1" sz="1800" i="0" u="none">
                <a:solidFill>
                  <a:srgbClr val="F8FAFC"/>
                </a:solidFill>
                <a:latin typeface="Inter"/>
              </a:rPr>
              <a:t>VALUE DELIVERY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